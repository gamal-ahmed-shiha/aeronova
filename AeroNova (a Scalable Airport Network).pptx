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image/svg+xml" Extension="svg"/>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 id="261" r:id="rId11"/>
    <p:sldId id="262" r:id="rId12"/>
    <p:sldId id="263" r:id="rId13"/>
    <p:sldId id="264" r:id="rId14"/>
    <p:sldId id="265" r:id="rId15"/>
  </p:sldIdLst>
  <p:sldSz cx="18288000" cy="10287000"/>
  <p:notesSz cx="6858000" cy="9144000"/>
  <p:embeddedFontLst>
    <p:embeddedFont>
      <p:font typeface="Raleway Heavy" charset="1" panose="00000000000000000000"/>
      <p:regular r:id="rId16"/>
    </p:embeddedFont>
    <p:embeddedFont>
      <p:font typeface="Raleway Bold" charset="1" panose="00000000000000000000"/>
      <p:regular r:id="rId17"/>
    </p:embeddedFont>
    <p:embeddedFont>
      <p:font typeface="Poppins" charset="1" panose="00000500000000000000"/>
      <p:regular r:id="rId18"/>
    </p:embeddedFont>
    <p:embeddedFont>
      <p:font typeface="Raleway Italics" charset="1" panose="00000000000000000000"/>
      <p:regular r:id="rId19"/>
    </p:embeddedFont>
    <p:embeddedFont>
      <p:font typeface="Raleway" charset="1" panose="00000000000000000000"/>
      <p:regular r:id="rId20"/>
    </p:embeddedFont>
    <p:embeddedFont>
      <p:font typeface="Poppins Bold" charset="1" panose="00000800000000000000"/>
      <p:regular r:id="rId21"/>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fonts/font16.fntdata" Type="http://schemas.openxmlformats.org/officeDocument/2006/relationships/font"/><Relationship Id="rId17" Target="fonts/font17.fntdata" Type="http://schemas.openxmlformats.org/officeDocument/2006/relationships/font"/><Relationship Id="rId18" Target="fonts/font18.fntdata" Type="http://schemas.openxmlformats.org/officeDocument/2006/relationships/font"/><Relationship Id="rId19" Target="fonts/font19.fntdata" Type="http://schemas.openxmlformats.org/officeDocument/2006/relationships/font"/><Relationship Id="rId2" Target="presProps.xml" Type="http://schemas.openxmlformats.org/officeDocument/2006/relationships/presProps"/><Relationship Id="rId20" Target="fonts/font20.fntdata" Type="http://schemas.openxmlformats.org/officeDocument/2006/relationships/font"/><Relationship Id="rId21" Target="fonts/font21.fntdata" Type="http://schemas.openxmlformats.org/officeDocument/2006/relationships/font"/><Relationship Id="rId3" Target="viewProps.xml" Type="http://schemas.openxmlformats.org/officeDocument/2006/relationships/viewProps"/><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4.pn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5.jpeg" Type="http://schemas.openxmlformats.org/officeDocument/2006/relationships/image"/><Relationship Id="rId5" Target="../media/image6.png" Type="http://schemas.openxmlformats.org/officeDocument/2006/relationships/image"/><Relationship Id="rId6" Target="../media/image7.sv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8.pn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9.pn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10.jpe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11.jpe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12.jpeg" Type="http://schemas.openxmlformats.org/officeDocument/2006/relationships/image"/></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13.jpeg" Type="http://schemas.openxmlformats.org/officeDocument/2006/relationships/image"/></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bg>
      <p:bgPr>
        <a:solidFill>
          <a:srgbClr val="FAFAFA"/>
        </a:solidFill>
      </p:bgPr>
    </p:bg>
    <p:spTree>
      <p:nvGrpSpPr>
        <p:cNvPr id="1" name=""/>
        <p:cNvGrpSpPr/>
        <p:nvPr/>
      </p:nvGrpSpPr>
      <p:grpSpPr>
        <a:xfrm>
          <a:off x="0" y="0"/>
          <a:ext cx="0" cy="0"/>
          <a:chOff x="0" y="0"/>
          <a:chExt cx="0" cy="0"/>
        </a:xfrm>
      </p:grpSpPr>
      <p:grpSp>
        <p:nvGrpSpPr>
          <p:cNvPr name="Group 2" id="2"/>
          <p:cNvGrpSpPr/>
          <p:nvPr/>
        </p:nvGrpSpPr>
        <p:grpSpPr>
          <a:xfrm rot="0">
            <a:off x="1016848" y="810138"/>
            <a:ext cx="16242452" cy="787029"/>
            <a:chOff x="0" y="0"/>
            <a:chExt cx="4277847" cy="207283"/>
          </a:xfrm>
        </p:grpSpPr>
        <p:sp>
          <p:nvSpPr>
            <p:cNvPr name="Freeform 3" id="3"/>
            <p:cNvSpPr/>
            <p:nvPr/>
          </p:nvSpPr>
          <p:spPr>
            <a:xfrm flipH="false" flipV="false" rot="0">
              <a:off x="0" y="0"/>
              <a:ext cx="4277847" cy="207283"/>
            </a:xfrm>
            <a:custGeom>
              <a:avLst/>
              <a:gdLst/>
              <a:ahLst/>
              <a:cxnLst/>
              <a:rect r="r" b="b" t="t" l="l"/>
              <a:pathLst>
                <a:path h="207283" w="4277847">
                  <a:moveTo>
                    <a:pt x="24309" y="0"/>
                  </a:moveTo>
                  <a:lnTo>
                    <a:pt x="4253538" y="0"/>
                  </a:lnTo>
                  <a:cubicBezTo>
                    <a:pt x="4259986" y="0"/>
                    <a:pt x="4266169" y="2561"/>
                    <a:pt x="4270727" y="7120"/>
                  </a:cubicBezTo>
                  <a:cubicBezTo>
                    <a:pt x="4275286" y="11679"/>
                    <a:pt x="4277847" y="17862"/>
                    <a:pt x="4277847" y="24309"/>
                  </a:cubicBezTo>
                  <a:lnTo>
                    <a:pt x="4277847" y="182974"/>
                  </a:lnTo>
                  <a:cubicBezTo>
                    <a:pt x="4277847" y="196400"/>
                    <a:pt x="4266964" y="207283"/>
                    <a:pt x="4253538" y="207283"/>
                  </a:cubicBezTo>
                  <a:lnTo>
                    <a:pt x="24309" y="207283"/>
                  </a:lnTo>
                  <a:cubicBezTo>
                    <a:pt x="17862" y="207283"/>
                    <a:pt x="11679" y="204722"/>
                    <a:pt x="7120" y="200163"/>
                  </a:cubicBezTo>
                  <a:cubicBezTo>
                    <a:pt x="2561" y="195605"/>
                    <a:pt x="0" y="189422"/>
                    <a:pt x="0" y="182974"/>
                  </a:cubicBezTo>
                  <a:lnTo>
                    <a:pt x="0" y="24309"/>
                  </a:lnTo>
                  <a:cubicBezTo>
                    <a:pt x="0" y="10884"/>
                    <a:pt x="10884" y="0"/>
                    <a:pt x="24309" y="0"/>
                  </a:cubicBezTo>
                  <a:close/>
                </a:path>
              </a:pathLst>
            </a:custGeom>
            <a:solidFill>
              <a:srgbClr val="084DA3"/>
            </a:solidFill>
          </p:spPr>
        </p:sp>
        <p:sp>
          <p:nvSpPr>
            <p:cNvPr name="TextBox 4" id="4"/>
            <p:cNvSpPr txBox="true"/>
            <p:nvPr/>
          </p:nvSpPr>
          <p:spPr>
            <a:xfrm>
              <a:off x="0" y="-47625"/>
              <a:ext cx="4277847" cy="254908"/>
            </a:xfrm>
            <a:prstGeom prst="rect">
              <a:avLst/>
            </a:prstGeom>
          </p:spPr>
          <p:txBody>
            <a:bodyPr anchor="ctr" rtlCol="false" tIns="50800" lIns="50800" bIns="50800" rIns="50800"/>
            <a:lstStyle/>
            <a:p>
              <a:pPr algn="ctr">
                <a:lnSpc>
                  <a:spcPts val="3079"/>
                </a:lnSpc>
              </a:pPr>
            </a:p>
          </p:txBody>
        </p:sp>
      </p:grpSp>
      <p:grpSp>
        <p:nvGrpSpPr>
          <p:cNvPr name="Group 5" id="5"/>
          <p:cNvGrpSpPr/>
          <p:nvPr/>
        </p:nvGrpSpPr>
        <p:grpSpPr>
          <a:xfrm rot="0">
            <a:off x="14453926" y="925677"/>
            <a:ext cx="2673290" cy="555951"/>
            <a:chOff x="0" y="0"/>
            <a:chExt cx="704076" cy="146423"/>
          </a:xfrm>
        </p:grpSpPr>
        <p:sp>
          <p:nvSpPr>
            <p:cNvPr name="Freeform 6" id="6"/>
            <p:cNvSpPr/>
            <p:nvPr/>
          </p:nvSpPr>
          <p:spPr>
            <a:xfrm flipH="false" flipV="false" rot="0">
              <a:off x="0" y="0"/>
              <a:ext cx="704076" cy="146423"/>
            </a:xfrm>
            <a:custGeom>
              <a:avLst/>
              <a:gdLst/>
              <a:ahLst/>
              <a:cxnLst/>
              <a:rect r="r" b="b" t="t" l="l"/>
              <a:pathLst>
                <a:path h="146423" w="704076">
                  <a:moveTo>
                    <a:pt x="73212" y="0"/>
                  </a:moveTo>
                  <a:lnTo>
                    <a:pt x="630865" y="0"/>
                  </a:lnTo>
                  <a:cubicBezTo>
                    <a:pt x="650282" y="0"/>
                    <a:pt x="668903" y="7713"/>
                    <a:pt x="682633" y="21443"/>
                  </a:cubicBezTo>
                  <a:cubicBezTo>
                    <a:pt x="696363" y="35173"/>
                    <a:pt x="704076" y="53795"/>
                    <a:pt x="704076" y="73212"/>
                  </a:cubicBezTo>
                  <a:lnTo>
                    <a:pt x="704076" y="73212"/>
                  </a:lnTo>
                  <a:cubicBezTo>
                    <a:pt x="704076" y="113645"/>
                    <a:pt x="671298" y="146423"/>
                    <a:pt x="630865" y="146423"/>
                  </a:cubicBezTo>
                  <a:lnTo>
                    <a:pt x="73212" y="146423"/>
                  </a:lnTo>
                  <a:cubicBezTo>
                    <a:pt x="32778" y="146423"/>
                    <a:pt x="0" y="113645"/>
                    <a:pt x="0" y="73212"/>
                  </a:cubicBezTo>
                  <a:lnTo>
                    <a:pt x="0" y="73212"/>
                  </a:lnTo>
                  <a:cubicBezTo>
                    <a:pt x="0" y="32778"/>
                    <a:pt x="32778" y="0"/>
                    <a:pt x="73212" y="0"/>
                  </a:cubicBezTo>
                  <a:close/>
                </a:path>
              </a:pathLst>
            </a:custGeom>
            <a:solidFill>
              <a:srgbClr val="FAFAFA"/>
            </a:solidFill>
          </p:spPr>
        </p:sp>
        <p:sp>
          <p:nvSpPr>
            <p:cNvPr name="TextBox 7" id="7"/>
            <p:cNvSpPr txBox="true"/>
            <p:nvPr/>
          </p:nvSpPr>
          <p:spPr>
            <a:xfrm>
              <a:off x="0" y="-47625"/>
              <a:ext cx="704076" cy="194048"/>
            </a:xfrm>
            <a:prstGeom prst="rect">
              <a:avLst/>
            </a:prstGeom>
          </p:spPr>
          <p:txBody>
            <a:bodyPr anchor="ctr" rtlCol="false" tIns="50800" lIns="50800" bIns="50800" rIns="50800"/>
            <a:lstStyle/>
            <a:p>
              <a:pPr algn="ctr">
                <a:lnSpc>
                  <a:spcPts val="3079"/>
                </a:lnSpc>
              </a:pPr>
            </a:p>
          </p:txBody>
        </p:sp>
      </p:grpSp>
      <p:sp>
        <p:nvSpPr>
          <p:cNvPr name="Freeform 8" id="8"/>
          <p:cNvSpPr/>
          <p:nvPr/>
        </p:nvSpPr>
        <p:spPr>
          <a:xfrm flipH="false" flipV="false" rot="0">
            <a:off x="16654546" y="1056159"/>
            <a:ext cx="294987" cy="294987"/>
          </a:xfrm>
          <a:custGeom>
            <a:avLst/>
            <a:gdLst/>
            <a:ahLst/>
            <a:cxnLst/>
            <a:rect r="r" b="b" t="t" l="l"/>
            <a:pathLst>
              <a:path h="294987" w="294987">
                <a:moveTo>
                  <a:pt x="0" y="0"/>
                </a:moveTo>
                <a:lnTo>
                  <a:pt x="294987" y="0"/>
                </a:lnTo>
                <a:lnTo>
                  <a:pt x="294987" y="294987"/>
                </a:lnTo>
                <a:lnTo>
                  <a:pt x="0" y="294987"/>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9" id="9"/>
          <p:cNvSpPr txBox="true"/>
          <p:nvPr/>
        </p:nvSpPr>
        <p:spPr>
          <a:xfrm rot="0">
            <a:off x="5145659" y="6628193"/>
            <a:ext cx="12113641" cy="3144747"/>
          </a:xfrm>
          <a:prstGeom prst="rect">
            <a:avLst/>
          </a:prstGeom>
        </p:spPr>
        <p:txBody>
          <a:bodyPr anchor="t" rtlCol="false" tIns="0" lIns="0" bIns="0" rIns="0">
            <a:spAutoFit/>
          </a:bodyPr>
          <a:lstStyle/>
          <a:p>
            <a:pPr algn="r" marL="0" indent="0" lvl="0">
              <a:lnSpc>
                <a:spcPts val="25642"/>
              </a:lnSpc>
              <a:spcBef>
                <a:spcPct val="0"/>
              </a:spcBef>
            </a:pPr>
            <a:r>
              <a:rPr lang="en-US" b="true" sz="18316" strike="noStrike" u="none">
                <a:solidFill>
                  <a:srgbClr val="084DA3"/>
                </a:solidFill>
                <a:latin typeface="Raleway Heavy"/>
                <a:ea typeface="Raleway Heavy"/>
                <a:cs typeface="Raleway Heavy"/>
                <a:sym typeface="Raleway Heavy"/>
              </a:rPr>
              <a:t>AIRPORT</a:t>
            </a:r>
          </a:p>
        </p:txBody>
      </p:sp>
      <p:grpSp>
        <p:nvGrpSpPr>
          <p:cNvPr name="Group 10" id="10"/>
          <p:cNvGrpSpPr/>
          <p:nvPr/>
        </p:nvGrpSpPr>
        <p:grpSpPr>
          <a:xfrm rot="0">
            <a:off x="1052410" y="8381281"/>
            <a:ext cx="4286624" cy="841765"/>
            <a:chOff x="0" y="0"/>
            <a:chExt cx="1128987" cy="221699"/>
          </a:xfrm>
        </p:grpSpPr>
        <p:sp>
          <p:nvSpPr>
            <p:cNvPr name="Freeform 11" id="11"/>
            <p:cNvSpPr/>
            <p:nvPr/>
          </p:nvSpPr>
          <p:spPr>
            <a:xfrm flipH="false" flipV="false" rot="0">
              <a:off x="0" y="0"/>
              <a:ext cx="1128987" cy="221699"/>
            </a:xfrm>
            <a:custGeom>
              <a:avLst/>
              <a:gdLst/>
              <a:ahLst/>
              <a:cxnLst/>
              <a:rect r="r" b="b" t="t" l="l"/>
              <a:pathLst>
                <a:path h="221699" w="1128987">
                  <a:moveTo>
                    <a:pt x="92109" y="0"/>
                  </a:moveTo>
                  <a:lnTo>
                    <a:pt x="1036878" y="0"/>
                  </a:lnTo>
                  <a:cubicBezTo>
                    <a:pt x="1087749" y="0"/>
                    <a:pt x="1128987" y="41239"/>
                    <a:pt x="1128987" y="92109"/>
                  </a:cubicBezTo>
                  <a:lnTo>
                    <a:pt x="1128987" y="129590"/>
                  </a:lnTo>
                  <a:cubicBezTo>
                    <a:pt x="1128987" y="180461"/>
                    <a:pt x="1087749" y="221699"/>
                    <a:pt x="1036878" y="221699"/>
                  </a:cubicBezTo>
                  <a:lnTo>
                    <a:pt x="92109" y="221699"/>
                  </a:lnTo>
                  <a:cubicBezTo>
                    <a:pt x="41239" y="221699"/>
                    <a:pt x="0" y="180461"/>
                    <a:pt x="0" y="129590"/>
                  </a:cubicBezTo>
                  <a:lnTo>
                    <a:pt x="0" y="92109"/>
                  </a:lnTo>
                  <a:cubicBezTo>
                    <a:pt x="0" y="41239"/>
                    <a:pt x="41239" y="0"/>
                    <a:pt x="92109" y="0"/>
                  </a:cubicBezTo>
                  <a:close/>
                </a:path>
              </a:pathLst>
            </a:custGeom>
            <a:solidFill>
              <a:srgbClr val="084DA3"/>
            </a:solidFill>
          </p:spPr>
        </p:sp>
        <p:sp>
          <p:nvSpPr>
            <p:cNvPr name="TextBox 12" id="12"/>
            <p:cNvSpPr txBox="true"/>
            <p:nvPr/>
          </p:nvSpPr>
          <p:spPr>
            <a:xfrm>
              <a:off x="0" y="-38100"/>
              <a:ext cx="1128987" cy="259799"/>
            </a:xfrm>
            <a:prstGeom prst="rect">
              <a:avLst/>
            </a:prstGeom>
          </p:spPr>
          <p:txBody>
            <a:bodyPr anchor="ctr" rtlCol="false" tIns="50800" lIns="50800" bIns="50800" rIns="50800"/>
            <a:lstStyle/>
            <a:p>
              <a:pPr algn="ctr">
                <a:lnSpc>
                  <a:spcPts val="3499"/>
                </a:lnSpc>
              </a:pPr>
            </a:p>
          </p:txBody>
        </p:sp>
      </p:grpSp>
      <p:sp>
        <p:nvSpPr>
          <p:cNvPr name="TextBox 13" id="13"/>
          <p:cNvSpPr txBox="true"/>
          <p:nvPr/>
        </p:nvSpPr>
        <p:spPr>
          <a:xfrm rot="0">
            <a:off x="349307" y="1762621"/>
            <a:ext cx="17589387" cy="2456366"/>
          </a:xfrm>
          <a:prstGeom prst="rect">
            <a:avLst/>
          </a:prstGeom>
        </p:spPr>
        <p:txBody>
          <a:bodyPr anchor="t" rtlCol="false" tIns="0" lIns="0" bIns="0" rIns="0">
            <a:spAutoFit/>
          </a:bodyPr>
          <a:lstStyle/>
          <a:p>
            <a:pPr algn="ctr">
              <a:lnSpc>
                <a:spcPts val="20009"/>
              </a:lnSpc>
            </a:pPr>
            <a:r>
              <a:rPr lang="en-US" b="true" sz="14292">
                <a:solidFill>
                  <a:srgbClr val="000000"/>
                </a:solidFill>
                <a:latin typeface="Raleway Heavy"/>
                <a:ea typeface="Raleway Heavy"/>
                <a:cs typeface="Raleway Heavy"/>
                <a:sym typeface="Raleway Heavy"/>
              </a:rPr>
              <a:t>WELCOME TO THE</a:t>
            </a:r>
          </a:p>
        </p:txBody>
      </p:sp>
      <p:sp>
        <p:nvSpPr>
          <p:cNvPr name="TextBox 14" id="14"/>
          <p:cNvSpPr txBox="true"/>
          <p:nvPr/>
        </p:nvSpPr>
        <p:spPr>
          <a:xfrm rot="0">
            <a:off x="1028700" y="4788496"/>
            <a:ext cx="4310334" cy="1225551"/>
          </a:xfrm>
          <a:prstGeom prst="rect">
            <a:avLst/>
          </a:prstGeom>
        </p:spPr>
        <p:txBody>
          <a:bodyPr anchor="t" rtlCol="false" tIns="0" lIns="0" bIns="0" rIns="0">
            <a:spAutoFit/>
          </a:bodyPr>
          <a:lstStyle/>
          <a:p>
            <a:pPr algn="l">
              <a:lnSpc>
                <a:spcPts val="4899"/>
              </a:lnSpc>
              <a:spcBef>
                <a:spcPct val="0"/>
              </a:spcBef>
            </a:pPr>
            <a:r>
              <a:rPr lang="en-US" b="true" sz="3499" spc="-146">
                <a:solidFill>
                  <a:srgbClr val="000000"/>
                </a:solidFill>
                <a:latin typeface="Raleway Bold"/>
                <a:ea typeface="Raleway Bold"/>
                <a:cs typeface="Raleway Bold"/>
                <a:sym typeface="Raleway Bold"/>
              </a:rPr>
              <a:t>A</a:t>
            </a:r>
            <a:r>
              <a:rPr lang="en-US" b="true" sz="3499" spc="-146">
                <a:solidFill>
                  <a:srgbClr val="000000"/>
                </a:solidFill>
                <a:latin typeface="Raleway Bold"/>
                <a:ea typeface="Raleway Bold"/>
                <a:cs typeface="Raleway Bold"/>
                <a:sym typeface="Raleway Bold"/>
              </a:rPr>
              <a:t> Gateway To Every Journey</a:t>
            </a:r>
          </a:p>
        </p:txBody>
      </p:sp>
      <p:sp>
        <p:nvSpPr>
          <p:cNvPr name="TextBox 15" id="15"/>
          <p:cNvSpPr txBox="true"/>
          <p:nvPr/>
        </p:nvSpPr>
        <p:spPr>
          <a:xfrm rot="0">
            <a:off x="1028700" y="6312137"/>
            <a:ext cx="5766792" cy="1425575"/>
          </a:xfrm>
          <a:prstGeom prst="rect">
            <a:avLst/>
          </a:prstGeom>
        </p:spPr>
        <p:txBody>
          <a:bodyPr anchor="t" rtlCol="false" tIns="0" lIns="0" bIns="0" rIns="0">
            <a:spAutoFit/>
          </a:bodyPr>
          <a:lstStyle/>
          <a:p>
            <a:pPr algn="l">
              <a:lnSpc>
                <a:spcPts val="2800"/>
              </a:lnSpc>
            </a:pPr>
            <a:r>
              <a:rPr lang="en-US" sz="2000" spc="-84">
                <a:solidFill>
                  <a:srgbClr val="000000"/>
                </a:solidFill>
                <a:latin typeface="Poppins"/>
                <a:ea typeface="Poppins"/>
                <a:cs typeface="Poppins"/>
                <a:sym typeface="Poppins"/>
              </a:rPr>
              <a:t>An air</a:t>
            </a:r>
            <a:r>
              <a:rPr lang="en-US" sz="2000" spc="-84">
                <a:solidFill>
                  <a:srgbClr val="000000"/>
                </a:solidFill>
                <a:latin typeface="Poppins"/>
                <a:ea typeface="Poppins"/>
                <a:cs typeface="Poppins"/>
                <a:sym typeface="Poppins"/>
              </a:rPr>
              <a:t>port connects travelers with destinations through organized services, convenient facilities, clear information, and a smooth journey from arrival to departure.</a:t>
            </a:r>
          </a:p>
        </p:txBody>
      </p:sp>
      <p:sp>
        <p:nvSpPr>
          <p:cNvPr name="TextBox 16" id="16"/>
          <p:cNvSpPr txBox="true"/>
          <p:nvPr/>
        </p:nvSpPr>
        <p:spPr>
          <a:xfrm rot="0">
            <a:off x="14789222" y="1012200"/>
            <a:ext cx="1674231" cy="358775"/>
          </a:xfrm>
          <a:prstGeom prst="rect">
            <a:avLst/>
          </a:prstGeom>
        </p:spPr>
        <p:txBody>
          <a:bodyPr anchor="t" rtlCol="false" tIns="0" lIns="0" bIns="0" rIns="0">
            <a:spAutoFit/>
          </a:bodyPr>
          <a:lstStyle/>
          <a:p>
            <a:pPr algn="l">
              <a:lnSpc>
                <a:spcPts val="2800"/>
              </a:lnSpc>
              <a:spcBef>
                <a:spcPct val="0"/>
              </a:spcBef>
            </a:pPr>
            <a:r>
              <a:rPr lang="en-US" sz="2000" i="true">
                <a:solidFill>
                  <a:srgbClr val="000000"/>
                </a:solidFill>
                <a:latin typeface="Raleway Italics"/>
                <a:ea typeface="Raleway Italics"/>
                <a:cs typeface="Raleway Italics"/>
                <a:sym typeface="Raleway Italics"/>
              </a:rPr>
              <a:t>Search. . .</a:t>
            </a:r>
          </a:p>
        </p:txBody>
      </p:sp>
      <p:sp>
        <p:nvSpPr>
          <p:cNvPr name="TextBox 17" id="17"/>
          <p:cNvSpPr txBox="true"/>
          <p:nvPr/>
        </p:nvSpPr>
        <p:spPr>
          <a:xfrm rot="0">
            <a:off x="5821584" y="988705"/>
            <a:ext cx="1472568" cy="382270"/>
          </a:xfrm>
          <a:prstGeom prst="rect">
            <a:avLst/>
          </a:prstGeom>
        </p:spPr>
        <p:txBody>
          <a:bodyPr anchor="t" rtlCol="false" tIns="0" lIns="0" bIns="0" rIns="0">
            <a:spAutoFit/>
          </a:bodyPr>
          <a:lstStyle/>
          <a:p>
            <a:pPr algn="ctr">
              <a:lnSpc>
                <a:spcPts val="3079"/>
              </a:lnSpc>
              <a:spcBef>
                <a:spcPct val="0"/>
              </a:spcBef>
            </a:pPr>
            <a:r>
              <a:rPr lang="en-US" b="true" sz="2199">
                <a:solidFill>
                  <a:srgbClr val="FAFAFA"/>
                </a:solidFill>
                <a:latin typeface="Raleway Bold"/>
                <a:ea typeface="Raleway Bold"/>
                <a:cs typeface="Raleway Bold"/>
                <a:sym typeface="Raleway Bold"/>
              </a:rPr>
              <a:t>Home</a:t>
            </a:r>
          </a:p>
        </p:txBody>
      </p:sp>
      <p:sp>
        <p:nvSpPr>
          <p:cNvPr name="TextBox 18" id="18"/>
          <p:cNvSpPr txBox="true"/>
          <p:nvPr/>
        </p:nvSpPr>
        <p:spPr>
          <a:xfrm rot="0">
            <a:off x="1370543" y="895845"/>
            <a:ext cx="3069916" cy="504826"/>
          </a:xfrm>
          <a:prstGeom prst="rect">
            <a:avLst/>
          </a:prstGeom>
        </p:spPr>
        <p:txBody>
          <a:bodyPr anchor="t" rtlCol="false" tIns="0" lIns="0" bIns="0" rIns="0">
            <a:spAutoFit/>
          </a:bodyPr>
          <a:lstStyle/>
          <a:p>
            <a:pPr algn="l">
              <a:lnSpc>
                <a:spcPts val="4199"/>
              </a:lnSpc>
              <a:spcBef>
                <a:spcPct val="0"/>
              </a:spcBef>
            </a:pPr>
            <a:r>
              <a:rPr lang="en-US" b="true" sz="2999">
                <a:solidFill>
                  <a:srgbClr val="FAFAFA"/>
                </a:solidFill>
                <a:latin typeface="Raleway Bold"/>
                <a:ea typeface="Raleway Bold"/>
                <a:cs typeface="Raleway Bold"/>
                <a:sym typeface="Raleway Bold"/>
              </a:rPr>
              <a:t>AeroNova</a:t>
            </a:r>
          </a:p>
        </p:txBody>
      </p:sp>
      <p:sp>
        <p:nvSpPr>
          <p:cNvPr name="TextBox 19" id="19"/>
          <p:cNvSpPr txBox="true"/>
          <p:nvPr/>
        </p:nvSpPr>
        <p:spPr>
          <a:xfrm rot="0">
            <a:off x="7602942" y="988705"/>
            <a:ext cx="1771891" cy="382270"/>
          </a:xfrm>
          <a:prstGeom prst="rect">
            <a:avLst/>
          </a:prstGeom>
        </p:spPr>
        <p:txBody>
          <a:bodyPr anchor="t" rtlCol="false" tIns="0" lIns="0" bIns="0" rIns="0">
            <a:spAutoFit/>
          </a:bodyPr>
          <a:lstStyle/>
          <a:p>
            <a:pPr algn="ctr">
              <a:lnSpc>
                <a:spcPts val="3079"/>
              </a:lnSpc>
              <a:spcBef>
                <a:spcPct val="0"/>
              </a:spcBef>
            </a:pPr>
            <a:r>
              <a:rPr lang="en-US" sz="2199">
                <a:solidFill>
                  <a:srgbClr val="FAFAFA"/>
                </a:solidFill>
                <a:latin typeface="Raleway"/>
                <a:ea typeface="Raleway"/>
                <a:cs typeface="Raleway"/>
                <a:sym typeface="Raleway"/>
              </a:rPr>
              <a:t>About Us</a:t>
            </a:r>
          </a:p>
        </p:txBody>
      </p:sp>
      <p:sp>
        <p:nvSpPr>
          <p:cNvPr name="TextBox 20" id="20"/>
          <p:cNvSpPr txBox="true"/>
          <p:nvPr/>
        </p:nvSpPr>
        <p:spPr>
          <a:xfrm rot="0">
            <a:off x="11400952" y="988705"/>
            <a:ext cx="1674231" cy="382270"/>
          </a:xfrm>
          <a:prstGeom prst="rect">
            <a:avLst/>
          </a:prstGeom>
        </p:spPr>
        <p:txBody>
          <a:bodyPr anchor="t" rtlCol="false" tIns="0" lIns="0" bIns="0" rIns="0">
            <a:spAutoFit/>
          </a:bodyPr>
          <a:lstStyle/>
          <a:p>
            <a:pPr algn="ctr">
              <a:lnSpc>
                <a:spcPts val="3079"/>
              </a:lnSpc>
              <a:spcBef>
                <a:spcPct val="0"/>
              </a:spcBef>
            </a:pPr>
            <a:r>
              <a:rPr lang="en-US" sz="2199">
                <a:solidFill>
                  <a:srgbClr val="FAFAFA"/>
                </a:solidFill>
                <a:latin typeface="Raleway"/>
                <a:ea typeface="Raleway"/>
                <a:cs typeface="Raleway"/>
                <a:sym typeface="Raleway"/>
              </a:rPr>
              <a:t>Contact</a:t>
            </a:r>
          </a:p>
        </p:txBody>
      </p:sp>
      <p:sp>
        <p:nvSpPr>
          <p:cNvPr name="TextBox 21" id="21"/>
          <p:cNvSpPr txBox="true"/>
          <p:nvPr/>
        </p:nvSpPr>
        <p:spPr>
          <a:xfrm rot="0">
            <a:off x="9683624" y="988705"/>
            <a:ext cx="1408538" cy="382270"/>
          </a:xfrm>
          <a:prstGeom prst="rect">
            <a:avLst/>
          </a:prstGeom>
        </p:spPr>
        <p:txBody>
          <a:bodyPr anchor="t" rtlCol="false" tIns="0" lIns="0" bIns="0" rIns="0">
            <a:spAutoFit/>
          </a:bodyPr>
          <a:lstStyle/>
          <a:p>
            <a:pPr algn="ctr">
              <a:lnSpc>
                <a:spcPts val="3079"/>
              </a:lnSpc>
              <a:spcBef>
                <a:spcPct val="0"/>
              </a:spcBef>
            </a:pPr>
            <a:r>
              <a:rPr lang="en-US" sz="2199">
                <a:solidFill>
                  <a:srgbClr val="FAFAFA"/>
                </a:solidFill>
                <a:latin typeface="Raleway"/>
                <a:ea typeface="Raleway"/>
                <a:cs typeface="Raleway"/>
                <a:sym typeface="Raleway"/>
              </a:rPr>
              <a:t>Service</a:t>
            </a:r>
          </a:p>
        </p:txBody>
      </p:sp>
      <p:sp>
        <p:nvSpPr>
          <p:cNvPr name="Freeform 22" id="22"/>
          <p:cNvSpPr/>
          <p:nvPr/>
        </p:nvSpPr>
        <p:spPr>
          <a:xfrm flipH="false" flipV="false" rot="0">
            <a:off x="7294152" y="3133679"/>
            <a:ext cx="16230600" cy="7060311"/>
          </a:xfrm>
          <a:custGeom>
            <a:avLst/>
            <a:gdLst/>
            <a:ahLst/>
            <a:cxnLst/>
            <a:rect r="r" b="b" t="t" l="l"/>
            <a:pathLst>
              <a:path h="7060311" w="16230600">
                <a:moveTo>
                  <a:pt x="0" y="0"/>
                </a:moveTo>
                <a:lnTo>
                  <a:pt x="16230600" y="0"/>
                </a:lnTo>
                <a:lnTo>
                  <a:pt x="16230600" y="7060311"/>
                </a:lnTo>
                <a:lnTo>
                  <a:pt x="0" y="7060311"/>
                </a:lnTo>
                <a:lnTo>
                  <a:pt x="0" y="0"/>
                </a:lnTo>
                <a:close/>
              </a:path>
            </a:pathLst>
          </a:custGeom>
          <a:blipFill>
            <a:blip r:embed="rId4"/>
            <a:stretch>
              <a:fillRect l="0" t="0" r="0" b="0"/>
            </a:stretch>
          </a:blipFill>
        </p:spPr>
      </p:sp>
      <p:sp>
        <p:nvSpPr>
          <p:cNvPr name="TextBox 23" id="23"/>
          <p:cNvSpPr txBox="true"/>
          <p:nvPr/>
        </p:nvSpPr>
        <p:spPr>
          <a:xfrm rot="0">
            <a:off x="1245786" y="8557688"/>
            <a:ext cx="3899873" cy="431800"/>
          </a:xfrm>
          <a:prstGeom prst="rect">
            <a:avLst/>
          </a:prstGeom>
        </p:spPr>
        <p:txBody>
          <a:bodyPr anchor="t" rtlCol="false" tIns="0" lIns="0" bIns="0" rIns="0">
            <a:spAutoFit/>
          </a:bodyPr>
          <a:lstStyle/>
          <a:p>
            <a:pPr algn="ctr">
              <a:lnSpc>
                <a:spcPts val="3499"/>
              </a:lnSpc>
              <a:spcBef>
                <a:spcPct val="0"/>
              </a:spcBef>
            </a:pPr>
            <a:r>
              <a:rPr lang="en-US" b="true" sz="2499" spc="-104">
                <a:solidFill>
                  <a:srgbClr val="FAFAFA"/>
                </a:solidFill>
                <a:latin typeface="Raleway Bold"/>
                <a:ea typeface="Raleway Bold"/>
                <a:cs typeface="Raleway Bold"/>
                <a:sym typeface="Raleway Bold"/>
              </a:rPr>
              <a:t>START YOUR JOURNEY</a:t>
            </a:r>
          </a:p>
        </p:txBody>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bg>
      <p:bgPr>
        <a:solidFill>
          <a:srgbClr val="FAFAFA"/>
        </a:solidFill>
      </p:bgPr>
    </p:bg>
    <p:spTree>
      <p:nvGrpSpPr>
        <p:cNvPr id="1" name=""/>
        <p:cNvGrpSpPr/>
        <p:nvPr/>
      </p:nvGrpSpPr>
      <p:grpSpPr>
        <a:xfrm>
          <a:off x="0" y="0"/>
          <a:ext cx="0" cy="0"/>
          <a:chOff x="0" y="0"/>
          <a:chExt cx="0" cy="0"/>
        </a:xfrm>
      </p:grpSpPr>
      <p:grpSp>
        <p:nvGrpSpPr>
          <p:cNvPr name="Group 2" id="2"/>
          <p:cNvGrpSpPr/>
          <p:nvPr/>
        </p:nvGrpSpPr>
        <p:grpSpPr>
          <a:xfrm rot="0">
            <a:off x="1016848" y="810138"/>
            <a:ext cx="16242452" cy="787029"/>
            <a:chOff x="0" y="0"/>
            <a:chExt cx="4277847" cy="207283"/>
          </a:xfrm>
        </p:grpSpPr>
        <p:sp>
          <p:nvSpPr>
            <p:cNvPr name="Freeform 3" id="3"/>
            <p:cNvSpPr/>
            <p:nvPr/>
          </p:nvSpPr>
          <p:spPr>
            <a:xfrm flipH="false" flipV="false" rot="0">
              <a:off x="0" y="0"/>
              <a:ext cx="4277847" cy="207283"/>
            </a:xfrm>
            <a:custGeom>
              <a:avLst/>
              <a:gdLst/>
              <a:ahLst/>
              <a:cxnLst/>
              <a:rect r="r" b="b" t="t" l="l"/>
              <a:pathLst>
                <a:path h="207283" w="4277847">
                  <a:moveTo>
                    <a:pt x="24309" y="0"/>
                  </a:moveTo>
                  <a:lnTo>
                    <a:pt x="4253538" y="0"/>
                  </a:lnTo>
                  <a:cubicBezTo>
                    <a:pt x="4259986" y="0"/>
                    <a:pt x="4266169" y="2561"/>
                    <a:pt x="4270727" y="7120"/>
                  </a:cubicBezTo>
                  <a:cubicBezTo>
                    <a:pt x="4275286" y="11679"/>
                    <a:pt x="4277847" y="17862"/>
                    <a:pt x="4277847" y="24309"/>
                  </a:cubicBezTo>
                  <a:lnTo>
                    <a:pt x="4277847" y="182974"/>
                  </a:lnTo>
                  <a:cubicBezTo>
                    <a:pt x="4277847" y="196400"/>
                    <a:pt x="4266964" y="207283"/>
                    <a:pt x="4253538" y="207283"/>
                  </a:cubicBezTo>
                  <a:lnTo>
                    <a:pt x="24309" y="207283"/>
                  </a:lnTo>
                  <a:cubicBezTo>
                    <a:pt x="17862" y="207283"/>
                    <a:pt x="11679" y="204722"/>
                    <a:pt x="7120" y="200163"/>
                  </a:cubicBezTo>
                  <a:cubicBezTo>
                    <a:pt x="2561" y="195605"/>
                    <a:pt x="0" y="189422"/>
                    <a:pt x="0" y="182974"/>
                  </a:cubicBezTo>
                  <a:lnTo>
                    <a:pt x="0" y="24309"/>
                  </a:lnTo>
                  <a:cubicBezTo>
                    <a:pt x="0" y="10884"/>
                    <a:pt x="10884" y="0"/>
                    <a:pt x="24309" y="0"/>
                  </a:cubicBezTo>
                  <a:close/>
                </a:path>
              </a:pathLst>
            </a:custGeom>
            <a:solidFill>
              <a:srgbClr val="084DA3"/>
            </a:solidFill>
          </p:spPr>
        </p:sp>
        <p:sp>
          <p:nvSpPr>
            <p:cNvPr name="TextBox 4" id="4"/>
            <p:cNvSpPr txBox="true"/>
            <p:nvPr/>
          </p:nvSpPr>
          <p:spPr>
            <a:xfrm>
              <a:off x="0" y="-47625"/>
              <a:ext cx="4277847" cy="254908"/>
            </a:xfrm>
            <a:prstGeom prst="rect">
              <a:avLst/>
            </a:prstGeom>
          </p:spPr>
          <p:txBody>
            <a:bodyPr anchor="ctr" rtlCol="false" tIns="50800" lIns="50800" bIns="50800" rIns="50800"/>
            <a:lstStyle/>
            <a:p>
              <a:pPr algn="ctr">
                <a:lnSpc>
                  <a:spcPts val="3079"/>
                </a:lnSpc>
              </a:pPr>
            </a:p>
          </p:txBody>
        </p:sp>
      </p:grpSp>
      <p:grpSp>
        <p:nvGrpSpPr>
          <p:cNvPr name="Group 5" id="5"/>
          <p:cNvGrpSpPr/>
          <p:nvPr/>
        </p:nvGrpSpPr>
        <p:grpSpPr>
          <a:xfrm rot="0">
            <a:off x="14453926" y="925677"/>
            <a:ext cx="2673290" cy="555951"/>
            <a:chOff x="0" y="0"/>
            <a:chExt cx="704076" cy="146423"/>
          </a:xfrm>
        </p:grpSpPr>
        <p:sp>
          <p:nvSpPr>
            <p:cNvPr name="Freeform 6" id="6"/>
            <p:cNvSpPr/>
            <p:nvPr/>
          </p:nvSpPr>
          <p:spPr>
            <a:xfrm flipH="false" flipV="false" rot="0">
              <a:off x="0" y="0"/>
              <a:ext cx="704076" cy="146423"/>
            </a:xfrm>
            <a:custGeom>
              <a:avLst/>
              <a:gdLst/>
              <a:ahLst/>
              <a:cxnLst/>
              <a:rect r="r" b="b" t="t" l="l"/>
              <a:pathLst>
                <a:path h="146423" w="704076">
                  <a:moveTo>
                    <a:pt x="73212" y="0"/>
                  </a:moveTo>
                  <a:lnTo>
                    <a:pt x="630865" y="0"/>
                  </a:lnTo>
                  <a:cubicBezTo>
                    <a:pt x="650282" y="0"/>
                    <a:pt x="668903" y="7713"/>
                    <a:pt x="682633" y="21443"/>
                  </a:cubicBezTo>
                  <a:cubicBezTo>
                    <a:pt x="696363" y="35173"/>
                    <a:pt x="704076" y="53795"/>
                    <a:pt x="704076" y="73212"/>
                  </a:cubicBezTo>
                  <a:lnTo>
                    <a:pt x="704076" y="73212"/>
                  </a:lnTo>
                  <a:cubicBezTo>
                    <a:pt x="704076" y="113645"/>
                    <a:pt x="671298" y="146423"/>
                    <a:pt x="630865" y="146423"/>
                  </a:cubicBezTo>
                  <a:lnTo>
                    <a:pt x="73212" y="146423"/>
                  </a:lnTo>
                  <a:cubicBezTo>
                    <a:pt x="32778" y="146423"/>
                    <a:pt x="0" y="113645"/>
                    <a:pt x="0" y="73212"/>
                  </a:cubicBezTo>
                  <a:lnTo>
                    <a:pt x="0" y="73212"/>
                  </a:lnTo>
                  <a:cubicBezTo>
                    <a:pt x="0" y="32778"/>
                    <a:pt x="32778" y="0"/>
                    <a:pt x="73212" y="0"/>
                  </a:cubicBezTo>
                  <a:close/>
                </a:path>
              </a:pathLst>
            </a:custGeom>
            <a:solidFill>
              <a:srgbClr val="FAFAFA"/>
            </a:solidFill>
          </p:spPr>
        </p:sp>
        <p:sp>
          <p:nvSpPr>
            <p:cNvPr name="TextBox 7" id="7"/>
            <p:cNvSpPr txBox="true"/>
            <p:nvPr/>
          </p:nvSpPr>
          <p:spPr>
            <a:xfrm>
              <a:off x="0" y="-47625"/>
              <a:ext cx="704076" cy="194048"/>
            </a:xfrm>
            <a:prstGeom prst="rect">
              <a:avLst/>
            </a:prstGeom>
          </p:spPr>
          <p:txBody>
            <a:bodyPr anchor="ctr" rtlCol="false" tIns="50800" lIns="50800" bIns="50800" rIns="50800"/>
            <a:lstStyle/>
            <a:p>
              <a:pPr algn="ctr">
                <a:lnSpc>
                  <a:spcPts val="3079"/>
                </a:lnSpc>
              </a:pPr>
            </a:p>
          </p:txBody>
        </p:sp>
      </p:grpSp>
      <p:sp>
        <p:nvSpPr>
          <p:cNvPr name="Freeform 8" id="8"/>
          <p:cNvSpPr/>
          <p:nvPr/>
        </p:nvSpPr>
        <p:spPr>
          <a:xfrm flipH="false" flipV="false" rot="0">
            <a:off x="16654546" y="1056159"/>
            <a:ext cx="294987" cy="294987"/>
          </a:xfrm>
          <a:custGeom>
            <a:avLst/>
            <a:gdLst/>
            <a:ahLst/>
            <a:cxnLst/>
            <a:rect r="r" b="b" t="t" l="l"/>
            <a:pathLst>
              <a:path h="294987" w="294987">
                <a:moveTo>
                  <a:pt x="0" y="0"/>
                </a:moveTo>
                <a:lnTo>
                  <a:pt x="294987" y="0"/>
                </a:lnTo>
                <a:lnTo>
                  <a:pt x="294987" y="294987"/>
                </a:lnTo>
                <a:lnTo>
                  <a:pt x="0" y="294987"/>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9" id="9"/>
          <p:cNvSpPr/>
          <p:nvPr/>
        </p:nvSpPr>
        <p:spPr>
          <a:xfrm flipH="false" flipV="false" rot="0">
            <a:off x="1155545" y="3108137"/>
            <a:ext cx="15793988" cy="6698343"/>
          </a:xfrm>
          <a:custGeom>
            <a:avLst/>
            <a:gdLst/>
            <a:ahLst/>
            <a:cxnLst/>
            <a:rect r="r" b="b" t="t" l="l"/>
            <a:pathLst>
              <a:path h="6698343" w="15793988">
                <a:moveTo>
                  <a:pt x="0" y="0"/>
                </a:moveTo>
                <a:lnTo>
                  <a:pt x="15793988" y="0"/>
                </a:lnTo>
                <a:lnTo>
                  <a:pt x="15793988" y="6698343"/>
                </a:lnTo>
                <a:lnTo>
                  <a:pt x="0" y="6698343"/>
                </a:lnTo>
                <a:lnTo>
                  <a:pt x="0" y="0"/>
                </a:lnTo>
                <a:close/>
              </a:path>
            </a:pathLst>
          </a:custGeom>
          <a:blipFill>
            <a:blip r:embed="rId4"/>
            <a:stretch>
              <a:fillRect l="0" t="0" r="0" b="0"/>
            </a:stretch>
          </a:blipFill>
        </p:spPr>
      </p:sp>
      <p:sp>
        <p:nvSpPr>
          <p:cNvPr name="TextBox 10" id="10"/>
          <p:cNvSpPr txBox="true"/>
          <p:nvPr/>
        </p:nvSpPr>
        <p:spPr>
          <a:xfrm rot="0">
            <a:off x="14789222" y="1012200"/>
            <a:ext cx="1674231" cy="358775"/>
          </a:xfrm>
          <a:prstGeom prst="rect">
            <a:avLst/>
          </a:prstGeom>
        </p:spPr>
        <p:txBody>
          <a:bodyPr anchor="t" rtlCol="false" tIns="0" lIns="0" bIns="0" rIns="0">
            <a:spAutoFit/>
          </a:bodyPr>
          <a:lstStyle/>
          <a:p>
            <a:pPr algn="l">
              <a:lnSpc>
                <a:spcPts val="2800"/>
              </a:lnSpc>
              <a:spcBef>
                <a:spcPct val="0"/>
              </a:spcBef>
            </a:pPr>
            <a:r>
              <a:rPr lang="en-US" sz="2000" i="true">
                <a:solidFill>
                  <a:srgbClr val="000000"/>
                </a:solidFill>
                <a:latin typeface="Raleway Italics"/>
                <a:ea typeface="Raleway Italics"/>
                <a:cs typeface="Raleway Italics"/>
                <a:sym typeface="Raleway Italics"/>
              </a:rPr>
              <a:t>Search. . .</a:t>
            </a:r>
          </a:p>
        </p:txBody>
      </p:sp>
      <p:sp>
        <p:nvSpPr>
          <p:cNvPr name="TextBox 11" id="11"/>
          <p:cNvSpPr txBox="true"/>
          <p:nvPr/>
        </p:nvSpPr>
        <p:spPr>
          <a:xfrm rot="0">
            <a:off x="5821584" y="988705"/>
            <a:ext cx="1472568" cy="382270"/>
          </a:xfrm>
          <a:prstGeom prst="rect">
            <a:avLst/>
          </a:prstGeom>
        </p:spPr>
        <p:txBody>
          <a:bodyPr anchor="t" rtlCol="false" tIns="0" lIns="0" bIns="0" rIns="0">
            <a:spAutoFit/>
          </a:bodyPr>
          <a:lstStyle/>
          <a:p>
            <a:pPr algn="ctr">
              <a:lnSpc>
                <a:spcPts val="3079"/>
              </a:lnSpc>
              <a:spcBef>
                <a:spcPct val="0"/>
              </a:spcBef>
            </a:pPr>
            <a:r>
              <a:rPr lang="en-US" sz="2199">
                <a:solidFill>
                  <a:srgbClr val="FAFAFA"/>
                </a:solidFill>
                <a:latin typeface="Raleway"/>
                <a:ea typeface="Raleway"/>
                <a:cs typeface="Raleway"/>
                <a:sym typeface="Raleway"/>
              </a:rPr>
              <a:t>Home</a:t>
            </a:r>
          </a:p>
        </p:txBody>
      </p:sp>
      <p:sp>
        <p:nvSpPr>
          <p:cNvPr name="TextBox 12" id="12"/>
          <p:cNvSpPr txBox="true"/>
          <p:nvPr/>
        </p:nvSpPr>
        <p:spPr>
          <a:xfrm rot="0">
            <a:off x="1370543" y="922665"/>
            <a:ext cx="3069916" cy="504826"/>
          </a:xfrm>
          <a:prstGeom prst="rect">
            <a:avLst/>
          </a:prstGeom>
        </p:spPr>
        <p:txBody>
          <a:bodyPr anchor="t" rtlCol="false" tIns="0" lIns="0" bIns="0" rIns="0">
            <a:spAutoFit/>
          </a:bodyPr>
          <a:lstStyle/>
          <a:p>
            <a:pPr algn="l">
              <a:lnSpc>
                <a:spcPts val="4199"/>
              </a:lnSpc>
              <a:spcBef>
                <a:spcPct val="0"/>
              </a:spcBef>
            </a:pPr>
            <a:r>
              <a:rPr lang="en-US" b="true" sz="2999">
                <a:solidFill>
                  <a:srgbClr val="FAFAFA"/>
                </a:solidFill>
                <a:latin typeface="Raleway Bold"/>
                <a:ea typeface="Raleway Bold"/>
                <a:cs typeface="Raleway Bold"/>
                <a:sym typeface="Raleway Bold"/>
              </a:rPr>
              <a:t>AeroNova</a:t>
            </a:r>
          </a:p>
        </p:txBody>
      </p:sp>
      <p:sp>
        <p:nvSpPr>
          <p:cNvPr name="TextBox 13" id="13"/>
          <p:cNvSpPr txBox="true"/>
          <p:nvPr/>
        </p:nvSpPr>
        <p:spPr>
          <a:xfrm rot="0">
            <a:off x="7602942" y="988705"/>
            <a:ext cx="1771891" cy="382270"/>
          </a:xfrm>
          <a:prstGeom prst="rect">
            <a:avLst/>
          </a:prstGeom>
        </p:spPr>
        <p:txBody>
          <a:bodyPr anchor="t" rtlCol="false" tIns="0" lIns="0" bIns="0" rIns="0">
            <a:spAutoFit/>
          </a:bodyPr>
          <a:lstStyle/>
          <a:p>
            <a:pPr algn="ctr">
              <a:lnSpc>
                <a:spcPts val="3079"/>
              </a:lnSpc>
              <a:spcBef>
                <a:spcPct val="0"/>
              </a:spcBef>
            </a:pPr>
            <a:r>
              <a:rPr lang="en-US" b="true" sz="2199">
                <a:solidFill>
                  <a:srgbClr val="FAFAFA"/>
                </a:solidFill>
                <a:latin typeface="Raleway Bold"/>
                <a:ea typeface="Raleway Bold"/>
                <a:cs typeface="Raleway Bold"/>
                <a:sym typeface="Raleway Bold"/>
              </a:rPr>
              <a:t>About Us</a:t>
            </a:r>
          </a:p>
        </p:txBody>
      </p:sp>
      <p:sp>
        <p:nvSpPr>
          <p:cNvPr name="TextBox 14" id="14"/>
          <p:cNvSpPr txBox="true"/>
          <p:nvPr/>
        </p:nvSpPr>
        <p:spPr>
          <a:xfrm rot="0">
            <a:off x="11400952" y="988705"/>
            <a:ext cx="1674231" cy="382270"/>
          </a:xfrm>
          <a:prstGeom prst="rect">
            <a:avLst/>
          </a:prstGeom>
        </p:spPr>
        <p:txBody>
          <a:bodyPr anchor="t" rtlCol="false" tIns="0" lIns="0" bIns="0" rIns="0">
            <a:spAutoFit/>
          </a:bodyPr>
          <a:lstStyle/>
          <a:p>
            <a:pPr algn="ctr">
              <a:lnSpc>
                <a:spcPts val="3079"/>
              </a:lnSpc>
              <a:spcBef>
                <a:spcPct val="0"/>
              </a:spcBef>
            </a:pPr>
            <a:r>
              <a:rPr lang="en-US" sz="2199">
                <a:solidFill>
                  <a:srgbClr val="FAFAFA"/>
                </a:solidFill>
                <a:latin typeface="Raleway"/>
                <a:ea typeface="Raleway"/>
                <a:cs typeface="Raleway"/>
                <a:sym typeface="Raleway"/>
              </a:rPr>
              <a:t>Contact</a:t>
            </a:r>
          </a:p>
        </p:txBody>
      </p:sp>
      <p:sp>
        <p:nvSpPr>
          <p:cNvPr name="TextBox 15" id="15"/>
          <p:cNvSpPr txBox="true"/>
          <p:nvPr/>
        </p:nvSpPr>
        <p:spPr>
          <a:xfrm rot="0">
            <a:off x="9683624" y="988705"/>
            <a:ext cx="1408538" cy="382270"/>
          </a:xfrm>
          <a:prstGeom prst="rect">
            <a:avLst/>
          </a:prstGeom>
        </p:spPr>
        <p:txBody>
          <a:bodyPr anchor="t" rtlCol="false" tIns="0" lIns="0" bIns="0" rIns="0">
            <a:spAutoFit/>
          </a:bodyPr>
          <a:lstStyle/>
          <a:p>
            <a:pPr algn="ctr">
              <a:lnSpc>
                <a:spcPts val="3079"/>
              </a:lnSpc>
              <a:spcBef>
                <a:spcPct val="0"/>
              </a:spcBef>
            </a:pPr>
            <a:r>
              <a:rPr lang="en-US" sz="2199">
                <a:solidFill>
                  <a:srgbClr val="FAFAFA"/>
                </a:solidFill>
                <a:latin typeface="Raleway"/>
                <a:ea typeface="Raleway"/>
                <a:cs typeface="Raleway"/>
                <a:sym typeface="Raleway"/>
              </a:rPr>
              <a:t>Service</a:t>
            </a:r>
          </a:p>
        </p:txBody>
      </p:sp>
      <p:sp>
        <p:nvSpPr>
          <p:cNvPr name="TextBox 16" id="16"/>
          <p:cNvSpPr txBox="true"/>
          <p:nvPr/>
        </p:nvSpPr>
        <p:spPr>
          <a:xfrm rot="0">
            <a:off x="1222213" y="1994839"/>
            <a:ext cx="15831722" cy="1113298"/>
          </a:xfrm>
          <a:prstGeom prst="rect">
            <a:avLst/>
          </a:prstGeom>
        </p:spPr>
        <p:txBody>
          <a:bodyPr anchor="t" rtlCol="false" tIns="0" lIns="0" bIns="0" rIns="0">
            <a:spAutoFit/>
          </a:bodyPr>
          <a:lstStyle/>
          <a:p>
            <a:pPr algn="l">
              <a:lnSpc>
                <a:spcPts val="8450"/>
              </a:lnSpc>
            </a:pPr>
            <a:r>
              <a:rPr lang="en-US" b="true" sz="7972">
                <a:solidFill>
                  <a:srgbClr val="000000"/>
                </a:solidFill>
                <a:latin typeface="Raleway Heavy"/>
                <a:ea typeface="Raleway Heavy"/>
                <a:cs typeface="Raleway Heavy"/>
                <a:sym typeface="Raleway Heavy"/>
              </a:rPr>
              <a:t>AIRPORT NETWORK </a:t>
            </a:r>
            <a:r>
              <a:rPr lang="en-US" b="true" sz="7972">
                <a:solidFill>
                  <a:srgbClr val="004CA6"/>
                </a:solidFill>
                <a:latin typeface="Raleway Heavy"/>
                <a:ea typeface="Raleway Heavy"/>
                <a:cs typeface="Raleway Heavy"/>
                <a:sym typeface="Raleway Heavy"/>
              </a:rPr>
              <a:t>TOPOLOGY</a:t>
            </a:r>
          </a:p>
        </p:txBody>
      </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bg>
      <p:bgPr>
        <a:solidFill>
          <a:srgbClr val="FAFAFA"/>
        </a:solidFill>
      </p:bgPr>
    </p:bg>
    <p:spTree>
      <p:nvGrpSpPr>
        <p:cNvPr id="1" name=""/>
        <p:cNvGrpSpPr/>
        <p:nvPr/>
      </p:nvGrpSpPr>
      <p:grpSpPr>
        <a:xfrm>
          <a:off x="0" y="0"/>
          <a:ext cx="0" cy="0"/>
          <a:chOff x="0" y="0"/>
          <a:chExt cx="0" cy="0"/>
        </a:xfrm>
      </p:grpSpPr>
      <p:grpSp>
        <p:nvGrpSpPr>
          <p:cNvPr name="Group 2" id="2"/>
          <p:cNvGrpSpPr/>
          <p:nvPr/>
        </p:nvGrpSpPr>
        <p:grpSpPr>
          <a:xfrm rot="0">
            <a:off x="1016848" y="810138"/>
            <a:ext cx="16242452" cy="787029"/>
            <a:chOff x="0" y="0"/>
            <a:chExt cx="4277847" cy="207283"/>
          </a:xfrm>
        </p:grpSpPr>
        <p:sp>
          <p:nvSpPr>
            <p:cNvPr name="Freeform 3" id="3"/>
            <p:cNvSpPr/>
            <p:nvPr/>
          </p:nvSpPr>
          <p:spPr>
            <a:xfrm flipH="false" flipV="false" rot="0">
              <a:off x="0" y="0"/>
              <a:ext cx="4277847" cy="207283"/>
            </a:xfrm>
            <a:custGeom>
              <a:avLst/>
              <a:gdLst/>
              <a:ahLst/>
              <a:cxnLst/>
              <a:rect r="r" b="b" t="t" l="l"/>
              <a:pathLst>
                <a:path h="207283" w="4277847">
                  <a:moveTo>
                    <a:pt x="24309" y="0"/>
                  </a:moveTo>
                  <a:lnTo>
                    <a:pt x="4253538" y="0"/>
                  </a:lnTo>
                  <a:cubicBezTo>
                    <a:pt x="4259986" y="0"/>
                    <a:pt x="4266169" y="2561"/>
                    <a:pt x="4270727" y="7120"/>
                  </a:cubicBezTo>
                  <a:cubicBezTo>
                    <a:pt x="4275286" y="11679"/>
                    <a:pt x="4277847" y="17862"/>
                    <a:pt x="4277847" y="24309"/>
                  </a:cubicBezTo>
                  <a:lnTo>
                    <a:pt x="4277847" y="182974"/>
                  </a:lnTo>
                  <a:cubicBezTo>
                    <a:pt x="4277847" y="196400"/>
                    <a:pt x="4266964" y="207283"/>
                    <a:pt x="4253538" y="207283"/>
                  </a:cubicBezTo>
                  <a:lnTo>
                    <a:pt x="24309" y="207283"/>
                  </a:lnTo>
                  <a:cubicBezTo>
                    <a:pt x="17862" y="207283"/>
                    <a:pt x="11679" y="204722"/>
                    <a:pt x="7120" y="200163"/>
                  </a:cubicBezTo>
                  <a:cubicBezTo>
                    <a:pt x="2561" y="195605"/>
                    <a:pt x="0" y="189422"/>
                    <a:pt x="0" y="182974"/>
                  </a:cubicBezTo>
                  <a:lnTo>
                    <a:pt x="0" y="24309"/>
                  </a:lnTo>
                  <a:cubicBezTo>
                    <a:pt x="0" y="10884"/>
                    <a:pt x="10884" y="0"/>
                    <a:pt x="24309" y="0"/>
                  </a:cubicBezTo>
                  <a:close/>
                </a:path>
              </a:pathLst>
            </a:custGeom>
            <a:solidFill>
              <a:srgbClr val="084DA3"/>
            </a:solidFill>
          </p:spPr>
        </p:sp>
        <p:sp>
          <p:nvSpPr>
            <p:cNvPr name="TextBox 4" id="4"/>
            <p:cNvSpPr txBox="true"/>
            <p:nvPr/>
          </p:nvSpPr>
          <p:spPr>
            <a:xfrm>
              <a:off x="0" y="-47625"/>
              <a:ext cx="4277847" cy="254908"/>
            </a:xfrm>
            <a:prstGeom prst="rect">
              <a:avLst/>
            </a:prstGeom>
          </p:spPr>
          <p:txBody>
            <a:bodyPr anchor="ctr" rtlCol="false" tIns="50800" lIns="50800" bIns="50800" rIns="50800"/>
            <a:lstStyle/>
            <a:p>
              <a:pPr algn="ctr">
                <a:lnSpc>
                  <a:spcPts val="3079"/>
                </a:lnSpc>
              </a:pPr>
            </a:p>
          </p:txBody>
        </p:sp>
      </p:grpSp>
      <p:grpSp>
        <p:nvGrpSpPr>
          <p:cNvPr name="Group 5" id="5"/>
          <p:cNvGrpSpPr/>
          <p:nvPr/>
        </p:nvGrpSpPr>
        <p:grpSpPr>
          <a:xfrm rot="0">
            <a:off x="14453926" y="925677"/>
            <a:ext cx="2673290" cy="555951"/>
            <a:chOff x="0" y="0"/>
            <a:chExt cx="704076" cy="146423"/>
          </a:xfrm>
        </p:grpSpPr>
        <p:sp>
          <p:nvSpPr>
            <p:cNvPr name="Freeform 6" id="6"/>
            <p:cNvSpPr/>
            <p:nvPr/>
          </p:nvSpPr>
          <p:spPr>
            <a:xfrm flipH="false" flipV="false" rot="0">
              <a:off x="0" y="0"/>
              <a:ext cx="704076" cy="146423"/>
            </a:xfrm>
            <a:custGeom>
              <a:avLst/>
              <a:gdLst/>
              <a:ahLst/>
              <a:cxnLst/>
              <a:rect r="r" b="b" t="t" l="l"/>
              <a:pathLst>
                <a:path h="146423" w="704076">
                  <a:moveTo>
                    <a:pt x="73212" y="0"/>
                  </a:moveTo>
                  <a:lnTo>
                    <a:pt x="630865" y="0"/>
                  </a:lnTo>
                  <a:cubicBezTo>
                    <a:pt x="650282" y="0"/>
                    <a:pt x="668903" y="7713"/>
                    <a:pt x="682633" y="21443"/>
                  </a:cubicBezTo>
                  <a:cubicBezTo>
                    <a:pt x="696363" y="35173"/>
                    <a:pt x="704076" y="53795"/>
                    <a:pt x="704076" y="73212"/>
                  </a:cubicBezTo>
                  <a:lnTo>
                    <a:pt x="704076" y="73212"/>
                  </a:lnTo>
                  <a:cubicBezTo>
                    <a:pt x="704076" y="113645"/>
                    <a:pt x="671298" y="146423"/>
                    <a:pt x="630865" y="146423"/>
                  </a:cubicBezTo>
                  <a:lnTo>
                    <a:pt x="73212" y="146423"/>
                  </a:lnTo>
                  <a:cubicBezTo>
                    <a:pt x="32778" y="146423"/>
                    <a:pt x="0" y="113645"/>
                    <a:pt x="0" y="73212"/>
                  </a:cubicBezTo>
                  <a:lnTo>
                    <a:pt x="0" y="73212"/>
                  </a:lnTo>
                  <a:cubicBezTo>
                    <a:pt x="0" y="32778"/>
                    <a:pt x="32778" y="0"/>
                    <a:pt x="73212" y="0"/>
                  </a:cubicBezTo>
                  <a:close/>
                </a:path>
              </a:pathLst>
            </a:custGeom>
            <a:solidFill>
              <a:srgbClr val="FAFAFA"/>
            </a:solidFill>
          </p:spPr>
        </p:sp>
        <p:sp>
          <p:nvSpPr>
            <p:cNvPr name="TextBox 7" id="7"/>
            <p:cNvSpPr txBox="true"/>
            <p:nvPr/>
          </p:nvSpPr>
          <p:spPr>
            <a:xfrm>
              <a:off x="0" y="-47625"/>
              <a:ext cx="704076" cy="194048"/>
            </a:xfrm>
            <a:prstGeom prst="rect">
              <a:avLst/>
            </a:prstGeom>
          </p:spPr>
          <p:txBody>
            <a:bodyPr anchor="ctr" rtlCol="false" tIns="50800" lIns="50800" bIns="50800" rIns="50800"/>
            <a:lstStyle/>
            <a:p>
              <a:pPr algn="ctr">
                <a:lnSpc>
                  <a:spcPts val="3079"/>
                </a:lnSpc>
              </a:pPr>
            </a:p>
          </p:txBody>
        </p:sp>
      </p:grpSp>
      <p:sp>
        <p:nvSpPr>
          <p:cNvPr name="Freeform 8" id="8"/>
          <p:cNvSpPr/>
          <p:nvPr/>
        </p:nvSpPr>
        <p:spPr>
          <a:xfrm flipH="false" flipV="false" rot="0">
            <a:off x="16654546" y="1056159"/>
            <a:ext cx="294987" cy="294987"/>
          </a:xfrm>
          <a:custGeom>
            <a:avLst/>
            <a:gdLst/>
            <a:ahLst/>
            <a:cxnLst/>
            <a:rect r="r" b="b" t="t" l="l"/>
            <a:pathLst>
              <a:path h="294987" w="294987">
                <a:moveTo>
                  <a:pt x="0" y="0"/>
                </a:moveTo>
                <a:lnTo>
                  <a:pt x="294987" y="0"/>
                </a:lnTo>
                <a:lnTo>
                  <a:pt x="294987" y="294987"/>
                </a:lnTo>
                <a:lnTo>
                  <a:pt x="0" y="294987"/>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9" id="9"/>
          <p:cNvGrpSpPr/>
          <p:nvPr/>
        </p:nvGrpSpPr>
        <p:grpSpPr>
          <a:xfrm rot="0">
            <a:off x="1016848" y="5143500"/>
            <a:ext cx="8357985" cy="4114800"/>
            <a:chOff x="0" y="0"/>
            <a:chExt cx="2201280" cy="1083733"/>
          </a:xfrm>
        </p:grpSpPr>
        <p:sp>
          <p:nvSpPr>
            <p:cNvPr name="Freeform 10" id="10"/>
            <p:cNvSpPr/>
            <p:nvPr/>
          </p:nvSpPr>
          <p:spPr>
            <a:xfrm flipH="false" flipV="false" rot="0">
              <a:off x="0" y="0"/>
              <a:ext cx="2201280" cy="1083733"/>
            </a:xfrm>
            <a:custGeom>
              <a:avLst/>
              <a:gdLst/>
              <a:ahLst/>
              <a:cxnLst/>
              <a:rect r="r" b="b" t="t" l="l"/>
              <a:pathLst>
                <a:path h="1083733" w="2201280">
                  <a:moveTo>
                    <a:pt x="0" y="0"/>
                  </a:moveTo>
                  <a:lnTo>
                    <a:pt x="2201280" y="0"/>
                  </a:lnTo>
                  <a:lnTo>
                    <a:pt x="2201280" y="1083733"/>
                  </a:lnTo>
                  <a:lnTo>
                    <a:pt x="0" y="1083733"/>
                  </a:lnTo>
                  <a:close/>
                </a:path>
              </a:pathLst>
            </a:custGeom>
            <a:blipFill>
              <a:blip r:embed="rId4"/>
              <a:stretch>
                <a:fillRect l="0" t="-35074" r="0" b="0"/>
              </a:stretch>
            </a:blipFill>
          </p:spPr>
        </p:sp>
      </p:grpSp>
      <p:sp>
        <p:nvSpPr>
          <p:cNvPr name="Freeform 11" id="11"/>
          <p:cNvSpPr/>
          <p:nvPr/>
        </p:nvSpPr>
        <p:spPr>
          <a:xfrm flipH="false" flipV="false" rot="0">
            <a:off x="10239786" y="2669354"/>
            <a:ext cx="551055" cy="258996"/>
          </a:xfrm>
          <a:custGeom>
            <a:avLst/>
            <a:gdLst/>
            <a:ahLst/>
            <a:cxnLst/>
            <a:rect r="r" b="b" t="t" l="l"/>
            <a:pathLst>
              <a:path h="258996" w="551055">
                <a:moveTo>
                  <a:pt x="0" y="0"/>
                </a:moveTo>
                <a:lnTo>
                  <a:pt x="551055" y="0"/>
                </a:lnTo>
                <a:lnTo>
                  <a:pt x="551055" y="258996"/>
                </a:lnTo>
                <a:lnTo>
                  <a:pt x="0" y="258996"/>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12" id="12"/>
          <p:cNvSpPr/>
          <p:nvPr/>
        </p:nvSpPr>
        <p:spPr>
          <a:xfrm flipH="false" flipV="false" rot="0">
            <a:off x="10239786" y="5993172"/>
            <a:ext cx="551055" cy="258996"/>
          </a:xfrm>
          <a:custGeom>
            <a:avLst/>
            <a:gdLst/>
            <a:ahLst/>
            <a:cxnLst/>
            <a:rect r="r" b="b" t="t" l="l"/>
            <a:pathLst>
              <a:path h="258996" w="551055">
                <a:moveTo>
                  <a:pt x="0" y="0"/>
                </a:moveTo>
                <a:lnTo>
                  <a:pt x="551055" y="0"/>
                </a:lnTo>
                <a:lnTo>
                  <a:pt x="551055" y="258996"/>
                </a:lnTo>
                <a:lnTo>
                  <a:pt x="0" y="258996"/>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13" id="13"/>
          <p:cNvSpPr/>
          <p:nvPr/>
        </p:nvSpPr>
        <p:spPr>
          <a:xfrm flipH="false" flipV="false" rot="0">
            <a:off x="10239786" y="4385501"/>
            <a:ext cx="551055" cy="258996"/>
          </a:xfrm>
          <a:custGeom>
            <a:avLst/>
            <a:gdLst/>
            <a:ahLst/>
            <a:cxnLst/>
            <a:rect r="r" b="b" t="t" l="l"/>
            <a:pathLst>
              <a:path h="258996" w="551055">
                <a:moveTo>
                  <a:pt x="0" y="0"/>
                </a:moveTo>
                <a:lnTo>
                  <a:pt x="551055" y="0"/>
                </a:lnTo>
                <a:lnTo>
                  <a:pt x="551055" y="258996"/>
                </a:lnTo>
                <a:lnTo>
                  <a:pt x="0" y="258996"/>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14" id="14"/>
          <p:cNvSpPr/>
          <p:nvPr/>
        </p:nvSpPr>
        <p:spPr>
          <a:xfrm flipH="false" flipV="false" rot="0">
            <a:off x="10239786" y="7980758"/>
            <a:ext cx="551055" cy="258996"/>
          </a:xfrm>
          <a:custGeom>
            <a:avLst/>
            <a:gdLst/>
            <a:ahLst/>
            <a:cxnLst/>
            <a:rect r="r" b="b" t="t" l="l"/>
            <a:pathLst>
              <a:path h="258996" w="551055">
                <a:moveTo>
                  <a:pt x="0" y="0"/>
                </a:moveTo>
                <a:lnTo>
                  <a:pt x="551055" y="0"/>
                </a:lnTo>
                <a:lnTo>
                  <a:pt x="551055" y="258996"/>
                </a:lnTo>
                <a:lnTo>
                  <a:pt x="0" y="258996"/>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TextBox 15" id="15"/>
          <p:cNvSpPr txBox="true"/>
          <p:nvPr/>
        </p:nvSpPr>
        <p:spPr>
          <a:xfrm rot="0">
            <a:off x="14789222" y="1012200"/>
            <a:ext cx="1674231" cy="358775"/>
          </a:xfrm>
          <a:prstGeom prst="rect">
            <a:avLst/>
          </a:prstGeom>
        </p:spPr>
        <p:txBody>
          <a:bodyPr anchor="t" rtlCol="false" tIns="0" lIns="0" bIns="0" rIns="0">
            <a:spAutoFit/>
          </a:bodyPr>
          <a:lstStyle/>
          <a:p>
            <a:pPr algn="l">
              <a:lnSpc>
                <a:spcPts val="2800"/>
              </a:lnSpc>
              <a:spcBef>
                <a:spcPct val="0"/>
              </a:spcBef>
            </a:pPr>
            <a:r>
              <a:rPr lang="en-US" sz="2000" i="true">
                <a:solidFill>
                  <a:srgbClr val="000000"/>
                </a:solidFill>
                <a:latin typeface="Raleway Italics"/>
                <a:ea typeface="Raleway Italics"/>
                <a:cs typeface="Raleway Italics"/>
                <a:sym typeface="Raleway Italics"/>
              </a:rPr>
              <a:t>Search. . .</a:t>
            </a:r>
          </a:p>
        </p:txBody>
      </p:sp>
      <p:sp>
        <p:nvSpPr>
          <p:cNvPr name="TextBox 16" id="16"/>
          <p:cNvSpPr txBox="true"/>
          <p:nvPr/>
        </p:nvSpPr>
        <p:spPr>
          <a:xfrm rot="0">
            <a:off x="5821584" y="988705"/>
            <a:ext cx="1472568" cy="382270"/>
          </a:xfrm>
          <a:prstGeom prst="rect">
            <a:avLst/>
          </a:prstGeom>
        </p:spPr>
        <p:txBody>
          <a:bodyPr anchor="t" rtlCol="false" tIns="0" lIns="0" bIns="0" rIns="0">
            <a:spAutoFit/>
          </a:bodyPr>
          <a:lstStyle/>
          <a:p>
            <a:pPr algn="ctr">
              <a:lnSpc>
                <a:spcPts val="3079"/>
              </a:lnSpc>
              <a:spcBef>
                <a:spcPct val="0"/>
              </a:spcBef>
            </a:pPr>
            <a:r>
              <a:rPr lang="en-US" sz="2199">
                <a:solidFill>
                  <a:srgbClr val="FAFAFA"/>
                </a:solidFill>
                <a:latin typeface="Raleway"/>
                <a:ea typeface="Raleway"/>
                <a:cs typeface="Raleway"/>
                <a:sym typeface="Raleway"/>
              </a:rPr>
              <a:t>Home</a:t>
            </a:r>
          </a:p>
        </p:txBody>
      </p:sp>
      <p:sp>
        <p:nvSpPr>
          <p:cNvPr name="TextBox 17" id="17"/>
          <p:cNvSpPr txBox="true"/>
          <p:nvPr/>
        </p:nvSpPr>
        <p:spPr>
          <a:xfrm rot="0">
            <a:off x="1370543" y="922665"/>
            <a:ext cx="3069916" cy="504826"/>
          </a:xfrm>
          <a:prstGeom prst="rect">
            <a:avLst/>
          </a:prstGeom>
        </p:spPr>
        <p:txBody>
          <a:bodyPr anchor="t" rtlCol="false" tIns="0" lIns="0" bIns="0" rIns="0">
            <a:spAutoFit/>
          </a:bodyPr>
          <a:lstStyle/>
          <a:p>
            <a:pPr algn="l">
              <a:lnSpc>
                <a:spcPts val="4199"/>
              </a:lnSpc>
              <a:spcBef>
                <a:spcPct val="0"/>
              </a:spcBef>
            </a:pPr>
            <a:r>
              <a:rPr lang="en-US" b="true" sz="2999">
                <a:solidFill>
                  <a:srgbClr val="FAFAFA"/>
                </a:solidFill>
                <a:latin typeface="Raleway Bold"/>
                <a:ea typeface="Raleway Bold"/>
                <a:cs typeface="Raleway Bold"/>
                <a:sym typeface="Raleway Bold"/>
              </a:rPr>
              <a:t>AeroNova</a:t>
            </a:r>
          </a:p>
        </p:txBody>
      </p:sp>
      <p:sp>
        <p:nvSpPr>
          <p:cNvPr name="TextBox 18" id="18"/>
          <p:cNvSpPr txBox="true"/>
          <p:nvPr/>
        </p:nvSpPr>
        <p:spPr>
          <a:xfrm rot="0">
            <a:off x="7602942" y="988705"/>
            <a:ext cx="1771891" cy="382270"/>
          </a:xfrm>
          <a:prstGeom prst="rect">
            <a:avLst/>
          </a:prstGeom>
        </p:spPr>
        <p:txBody>
          <a:bodyPr anchor="t" rtlCol="false" tIns="0" lIns="0" bIns="0" rIns="0">
            <a:spAutoFit/>
          </a:bodyPr>
          <a:lstStyle/>
          <a:p>
            <a:pPr algn="ctr">
              <a:lnSpc>
                <a:spcPts val="3079"/>
              </a:lnSpc>
              <a:spcBef>
                <a:spcPct val="0"/>
              </a:spcBef>
            </a:pPr>
            <a:r>
              <a:rPr lang="en-US" b="true" sz="2199">
                <a:solidFill>
                  <a:srgbClr val="FAFAFA"/>
                </a:solidFill>
                <a:latin typeface="Raleway Bold"/>
                <a:ea typeface="Raleway Bold"/>
                <a:cs typeface="Raleway Bold"/>
                <a:sym typeface="Raleway Bold"/>
              </a:rPr>
              <a:t>About Us</a:t>
            </a:r>
          </a:p>
        </p:txBody>
      </p:sp>
      <p:sp>
        <p:nvSpPr>
          <p:cNvPr name="TextBox 19" id="19"/>
          <p:cNvSpPr txBox="true"/>
          <p:nvPr/>
        </p:nvSpPr>
        <p:spPr>
          <a:xfrm rot="0">
            <a:off x="11400952" y="988705"/>
            <a:ext cx="1674231" cy="382270"/>
          </a:xfrm>
          <a:prstGeom prst="rect">
            <a:avLst/>
          </a:prstGeom>
        </p:spPr>
        <p:txBody>
          <a:bodyPr anchor="t" rtlCol="false" tIns="0" lIns="0" bIns="0" rIns="0">
            <a:spAutoFit/>
          </a:bodyPr>
          <a:lstStyle/>
          <a:p>
            <a:pPr algn="ctr">
              <a:lnSpc>
                <a:spcPts val="3079"/>
              </a:lnSpc>
              <a:spcBef>
                <a:spcPct val="0"/>
              </a:spcBef>
            </a:pPr>
            <a:r>
              <a:rPr lang="en-US" sz="2199">
                <a:solidFill>
                  <a:srgbClr val="FAFAFA"/>
                </a:solidFill>
                <a:latin typeface="Raleway"/>
                <a:ea typeface="Raleway"/>
                <a:cs typeface="Raleway"/>
                <a:sym typeface="Raleway"/>
              </a:rPr>
              <a:t>Contact</a:t>
            </a:r>
          </a:p>
        </p:txBody>
      </p:sp>
      <p:sp>
        <p:nvSpPr>
          <p:cNvPr name="TextBox 20" id="20"/>
          <p:cNvSpPr txBox="true"/>
          <p:nvPr/>
        </p:nvSpPr>
        <p:spPr>
          <a:xfrm rot="0">
            <a:off x="9683624" y="988705"/>
            <a:ext cx="1408538" cy="382270"/>
          </a:xfrm>
          <a:prstGeom prst="rect">
            <a:avLst/>
          </a:prstGeom>
        </p:spPr>
        <p:txBody>
          <a:bodyPr anchor="t" rtlCol="false" tIns="0" lIns="0" bIns="0" rIns="0">
            <a:spAutoFit/>
          </a:bodyPr>
          <a:lstStyle/>
          <a:p>
            <a:pPr algn="ctr">
              <a:lnSpc>
                <a:spcPts val="3079"/>
              </a:lnSpc>
              <a:spcBef>
                <a:spcPct val="0"/>
              </a:spcBef>
            </a:pPr>
            <a:r>
              <a:rPr lang="en-US" sz="2199">
                <a:solidFill>
                  <a:srgbClr val="FAFAFA"/>
                </a:solidFill>
                <a:latin typeface="Raleway"/>
                <a:ea typeface="Raleway"/>
                <a:cs typeface="Raleway"/>
                <a:sym typeface="Raleway"/>
              </a:rPr>
              <a:t>Service</a:t>
            </a:r>
          </a:p>
        </p:txBody>
      </p:sp>
      <p:sp>
        <p:nvSpPr>
          <p:cNvPr name="TextBox 21" id="21"/>
          <p:cNvSpPr txBox="true"/>
          <p:nvPr/>
        </p:nvSpPr>
        <p:spPr>
          <a:xfrm rot="0">
            <a:off x="1107647" y="2355099"/>
            <a:ext cx="7809854" cy="1193496"/>
          </a:xfrm>
          <a:prstGeom prst="rect">
            <a:avLst/>
          </a:prstGeom>
        </p:spPr>
        <p:txBody>
          <a:bodyPr anchor="t" rtlCol="false" tIns="0" lIns="0" bIns="0" rIns="0">
            <a:spAutoFit/>
          </a:bodyPr>
          <a:lstStyle/>
          <a:p>
            <a:pPr algn="l">
              <a:lnSpc>
                <a:spcPts val="9144"/>
              </a:lnSpc>
            </a:pPr>
            <a:r>
              <a:rPr lang="en-US" b="true" sz="8627">
                <a:solidFill>
                  <a:srgbClr val="000000"/>
                </a:solidFill>
                <a:latin typeface="Raleway Heavy"/>
                <a:ea typeface="Raleway Heavy"/>
                <a:cs typeface="Raleway Heavy"/>
                <a:sym typeface="Raleway Heavy"/>
              </a:rPr>
              <a:t>INSIDE </a:t>
            </a:r>
            <a:r>
              <a:rPr lang="en-US" b="true" sz="8627">
                <a:solidFill>
                  <a:srgbClr val="000000"/>
                </a:solidFill>
                <a:latin typeface="Raleway Heavy"/>
                <a:ea typeface="Raleway Heavy"/>
                <a:cs typeface="Raleway Heavy"/>
                <a:sym typeface="Raleway Heavy"/>
              </a:rPr>
              <a:t>THE</a:t>
            </a:r>
          </a:p>
        </p:txBody>
      </p:sp>
      <p:sp>
        <p:nvSpPr>
          <p:cNvPr name="TextBox 22" id="22"/>
          <p:cNvSpPr txBox="true"/>
          <p:nvPr/>
        </p:nvSpPr>
        <p:spPr>
          <a:xfrm rot="0">
            <a:off x="11150433" y="2544852"/>
            <a:ext cx="2887519" cy="490855"/>
          </a:xfrm>
          <a:prstGeom prst="rect">
            <a:avLst/>
          </a:prstGeom>
        </p:spPr>
        <p:txBody>
          <a:bodyPr anchor="t" rtlCol="false" tIns="0" lIns="0" bIns="0" rIns="0">
            <a:spAutoFit/>
          </a:bodyPr>
          <a:lstStyle/>
          <a:p>
            <a:pPr algn="l">
              <a:lnSpc>
                <a:spcPts val="3919"/>
              </a:lnSpc>
              <a:spcBef>
                <a:spcPct val="0"/>
              </a:spcBef>
            </a:pPr>
            <a:r>
              <a:rPr lang="en-US" b="true" sz="2799" spc="-117">
                <a:solidFill>
                  <a:srgbClr val="084DA3"/>
                </a:solidFill>
                <a:latin typeface="Raleway Bold"/>
                <a:ea typeface="Raleway Bold"/>
                <a:cs typeface="Raleway Bold"/>
                <a:sym typeface="Raleway Bold"/>
              </a:rPr>
              <a:t>Server’s Room</a:t>
            </a:r>
          </a:p>
        </p:txBody>
      </p:sp>
      <p:sp>
        <p:nvSpPr>
          <p:cNvPr name="TextBox 23" id="23"/>
          <p:cNvSpPr txBox="true"/>
          <p:nvPr/>
        </p:nvSpPr>
        <p:spPr>
          <a:xfrm rot="0">
            <a:off x="11150433" y="4261676"/>
            <a:ext cx="4100069" cy="490855"/>
          </a:xfrm>
          <a:prstGeom prst="rect">
            <a:avLst/>
          </a:prstGeom>
        </p:spPr>
        <p:txBody>
          <a:bodyPr anchor="t" rtlCol="false" tIns="0" lIns="0" bIns="0" rIns="0">
            <a:spAutoFit/>
          </a:bodyPr>
          <a:lstStyle/>
          <a:p>
            <a:pPr algn="l">
              <a:lnSpc>
                <a:spcPts val="3919"/>
              </a:lnSpc>
              <a:spcBef>
                <a:spcPct val="0"/>
              </a:spcBef>
            </a:pPr>
            <a:r>
              <a:rPr lang="en-US" b="true" sz="2799" spc="-117">
                <a:solidFill>
                  <a:srgbClr val="084DA3"/>
                </a:solidFill>
                <a:latin typeface="Raleway Bold"/>
                <a:ea typeface="Raleway Bold"/>
                <a:cs typeface="Raleway Bold"/>
                <a:sym typeface="Raleway Bold"/>
              </a:rPr>
              <a:t>L</a:t>
            </a:r>
            <a:r>
              <a:rPr lang="en-US" b="true" sz="2799" spc="-117">
                <a:solidFill>
                  <a:srgbClr val="084DA3"/>
                </a:solidFill>
                <a:latin typeface="Raleway Bold"/>
                <a:ea typeface="Raleway Bold"/>
                <a:cs typeface="Raleway Bold"/>
                <a:sym typeface="Raleway Bold"/>
              </a:rPr>
              <a:t>eft Side Management</a:t>
            </a:r>
          </a:p>
        </p:txBody>
      </p:sp>
      <p:sp>
        <p:nvSpPr>
          <p:cNvPr name="TextBox 24" id="24"/>
          <p:cNvSpPr txBox="true"/>
          <p:nvPr/>
        </p:nvSpPr>
        <p:spPr>
          <a:xfrm rot="0">
            <a:off x="11150433" y="5869347"/>
            <a:ext cx="3806710" cy="490855"/>
          </a:xfrm>
          <a:prstGeom prst="rect">
            <a:avLst/>
          </a:prstGeom>
        </p:spPr>
        <p:txBody>
          <a:bodyPr anchor="t" rtlCol="false" tIns="0" lIns="0" bIns="0" rIns="0">
            <a:spAutoFit/>
          </a:bodyPr>
          <a:lstStyle/>
          <a:p>
            <a:pPr algn="l">
              <a:lnSpc>
                <a:spcPts val="3919"/>
              </a:lnSpc>
              <a:spcBef>
                <a:spcPct val="0"/>
              </a:spcBef>
            </a:pPr>
            <a:r>
              <a:rPr lang="en-US" b="true" sz="2799" spc="-117">
                <a:solidFill>
                  <a:srgbClr val="084DA3"/>
                </a:solidFill>
                <a:latin typeface="Raleway Bold"/>
                <a:ea typeface="Raleway Bold"/>
                <a:cs typeface="Raleway Bold"/>
                <a:sym typeface="Raleway Bold"/>
              </a:rPr>
              <a:t>Right</a:t>
            </a:r>
            <a:r>
              <a:rPr lang="en-US" b="true" sz="2799" spc="-117">
                <a:solidFill>
                  <a:srgbClr val="084DA3"/>
                </a:solidFill>
                <a:latin typeface="Raleway Bold"/>
                <a:ea typeface="Raleway Bold"/>
                <a:cs typeface="Raleway Bold"/>
                <a:sym typeface="Raleway Bold"/>
              </a:rPr>
              <a:t> Side Management</a:t>
            </a:r>
          </a:p>
        </p:txBody>
      </p:sp>
      <p:sp>
        <p:nvSpPr>
          <p:cNvPr name="TextBox 25" id="25"/>
          <p:cNvSpPr txBox="true"/>
          <p:nvPr/>
        </p:nvSpPr>
        <p:spPr>
          <a:xfrm rot="0">
            <a:off x="11150433" y="7831491"/>
            <a:ext cx="2887519" cy="490855"/>
          </a:xfrm>
          <a:prstGeom prst="rect">
            <a:avLst/>
          </a:prstGeom>
        </p:spPr>
        <p:txBody>
          <a:bodyPr anchor="t" rtlCol="false" tIns="0" lIns="0" bIns="0" rIns="0">
            <a:spAutoFit/>
          </a:bodyPr>
          <a:lstStyle/>
          <a:p>
            <a:pPr algn="l">
              <a:lnSpc>
                <a:spcPts val="3919"/>
              </a:lnSpc>
              <a:spcBef>
                <a:spcPct val="0"/>
              </a:spcBef>
            </a:pPr>
            <a:r>
              <a:rPr lang="en-US" b="true" sz="2799" spc="-117">
                <a:solidFill>
                  <a:srgbClr val="084DA3"/>
                </a:solidFill>
                <a:latin typeface="Raleway Bold"/>
                <a:ea typeface="Raleway Bold"/>
                <a:cs typeface="Raleway Bold"/>
                <a:sym typeface="Raleway Bold"/>
              </a:rPr>
              <a:t>VL</a:t>
            </a:r>
            <a:r>
              <a:rPr lang="en-US" b="true" sz="2799" spc="-117">
                <a:solidFill>
                  <a:srgbClr val="084DA3"/>
                </a:solidFill>
                <a:latin typeface="Raleway Bold"/>
                <a:ea typeface="Raleway Bold"/>
                <a:cs typeface="Raleway Bold"/>
                <a:sym typeface="Raleway Bold"/>
              </a:rPr>
              <a:t>AN Halls</a:t>
            </a:r>
          </a:p>
        </p:txBody>
      </p:sp>
      <p:sp>
        <p:nvSpPr>
          <p:cNvPr name="TextBox 26" id="26"/>
          <p:cNvSpPr txBox="true"/>
          <p:nvPr/>
        </p:nvSpPr>
        <p:spPr>
          <a:xfrm rot="0">
            <a:off x="10239786" y="3274252"/>
            <a:ext cx="6021612" cy="782320"/>
          </a:xfrm>
          <a:prstGeom prst="rect">
            <a:avLst/>
          </a:prstGeom>
        </p:spPr>
        <p:txBody>
          <a:bodyPr anchor="t" rtlCol="false" tIns="0" lIns="0" bIns="0" rIns="0">
            <a:spAutoFit/>
          </a:bodyPr>
          <a:lstStyle/>
          <a:p>
            <a:pPr algn="l">
              <a:lnSpc>
                <a:spcPts val="3080"/>
              </a:lnSpc>
            </a:pPr>
            <a:r>
              <a:rPr lang="en-US" sz="2200" spc="-92">
                <a:solidFill>
                  <a:srgbClr val="000000"/>
                </a:solidFill>
                <a:latin typeface="Poppins"/>
                <a:ea typeface="Poppins"/>
                <a:cs typeface="Poppins"/>
                <a:sym typeface="Poppins"/>
              </a:rPr>
              <a:t>Central</a:t>
            </a:r>
            <a:r>
              <a:rPr lang="en-US" sz="2200" spc="-92">
                <a:solidFill>
                  <a:srgbClr val="000000"/>
                </a:solidFill>
                <a:latin typeface="Poppins"/>
                <a:ea typeface="Poppins"/>
                <a:cs typeface="Poppins"/>
                <a:sym typeface="Poppins"/>
              </a:rPr>
              <a:t>ized infrastructure providing essential network services and hosting the main servers.</a:t>
            </a:r>
          </a:p>
        </p:txBody>
      </p:sp>
      <p:sp>
        <p:nvSpPr>
          <p:cNvPr name="TextBox 27" id="27"/>
          <p:cNvSpPr txBox="true"/>
          <p:nvPr/>
        </p:nvSpPr>
        <p:spPr>
          <a:xfrm rot="0">
            <a:off x="10239786" y="4925102"/>
            <a:ext cx="6709747" cy="782320"/>
          </a:xfrm>
          <a:prstGeom prst="rect">
            <a:avLst/>
          </a:prstGeom>
        </p:spPr>
        <p:txBody>
          <a:bodyPr anchor="t" rtlCol="false" tIns="0" lIns="0" bIns="0" rIns="0">
            <a:spAutoFit/>
          </a:bodyPr>
          <a:lstStyle/>
          <a:p>
            <a:pPr algn="l">
              <a:lnSpc>
                <a:spcPts val="3080"/>
              </a:lnSpc>
            </a:pPr>
            <a:r>
              <a:rPr lang="en-US" sz="2200" spc="-92">
                <a:solidFill>
                  <a:srgbClr val="000000"/>
                </a:solidFill>
                <a:latin typeface="Poppins"/>
                <a:ea typeface="Poppins"/>
                <a:cs typeface="Poppins"/>
                <a:sym typeface="Poppins"/>
              </a:rPr>
              <a:t>P</a:t>
            </a:r>
            <a:r>
              <a:rPr lang="en-US" sz="2200" spc="-92">
                <a:solidFill>
                  <a:srgbClr val="000000"/>
                </a:solidFill>
                <a:latin typeface="Poppins"/>
                <a:ea typeface="Poppins"/>
                <a:cs typeface="Poppins"/>
                <a:sym typeface="Poppins"/>
              </a:rPr>
              <a:t>rovides network connectivity and management for administrative devices on the left side.</a:t>
            </a:r>
          </a:p>
        </p:txBody>
      </p:sp>
      <p:sp>
        <p:nvSpPr>
          <p:cNvPr name="TextBox 28" id="28"/>
          <p:cNvSpPr txBox="true"/>
          <p:nvPr/>
        </p:nvSpPr>
        <p:spPr>
          <a:xfrm rot="0">
            <a:off x="10239786" y="6515771"/>
            <a:ext cx="6021612" cy="1172845"/>
          </a:xfrm>
          <a:prstGeom prst="rect">
            <a:avLst/>
          </a:prstGeom>
        </p:spPr>
        <p:txBody>
          <a:bodyPr anchor="t" rtlCol="false" tIns="0" lIns="0" bIns="0" rIns="0">
            <a:spAutoFit/>
          </a:bodyPr>
          <a:lstStyle/>
          <a:p>
            <a:pPr algn="l">
              <a:lnSpc>
                <a:spcPts val="3080"/>
              </a:lnSpc>
            </a:pPr>
            <a:r>
              <a:rPr lang="en-US" sz="2200" spc="-92">
                <a:solidFill>
                  <a:srgbClr val="000000"/>
                </a:solidFill>
                <a:latin typeface="Poppins"/>
                <a:ea typeface="Poppins"/>
                <a:cs typeface="Poppins"/>
                <a:sym typeface="Poppins"/>
              </a:rPr>
              <a:t>Pr</a:t>
            </a:r>
            <a:r>
              <a:rPr lang="en-US" sz="2200" spc="-92">
                <a:solidFill>
                  <a:srgbClr val="000000"/>
                </a:solidFill>
                <a:latin typeface="Poppins"/>
                <a:ea typeface="Poppins"/>
                <a:cs typeface="Poppins"/>
                <a:sym typeface="Poppins"/>
              </a:rPr>
              <a:t>ovides network connectivity and management for administrative devices on the right side.</a:t>
            </a:r>
          </a:p>
        </p:txBody>
      </p:sp>
      <p:sp>
        <p:nvSpPr>
          <p:cNvPr name="TextBox 29" id="29"/>
          <p:cNvSpPr txBox="true"/>
          <p:nvPr/>
        </p:nvSpPr>
        <p:spPr>
          <a:xfrm rot="0">
            <a:off x="10239786" y="8353671"/>
            <a:ext cx="6709747" cy="1172845"/>
          </a:xfrm>
          <a:prstGeom prst="rect">
            <a:avLst/>
          </a:prstGeom>
        </p:spPr>
        <p:txBody>
          <a:bodyPr anchor="t" rtlCol="false" tIns="0" lIns="0" bIns="0" rIns="0">
            <a:spAutoFit/>
          </a:bodyPr>
          <a:lstStyle/>
          <a:p>
            <a:pPr algn="l">
              <a:lnSpc>
                <a:spcPts val="3080"/>
              </a:lnSpc>
            </a:pPr>
            <a:r>
              <a:rPr lang="en-US" sz="2200" spc="-92">
                <a:solidFill>
                  <a:srgbClr val="000000"/>
                </a:solidFill>
                <a:latin typeface="Poppins"/>
                <a:ea typeface="Poppins"/>
                <a:cs typeface="Poppins"/>
                <a:sym typeface="Poppins"/>
              </a:rPr>
              <a:t>S</a:t>
            </a:r>
            <a:r>
              <a:rPr lang="en-US" sz="2200" spc="-92">
                <a:solidFill>
                  <a:srgbClr val="000000"/>
                </a:solidFill>
                <a:latin typeface="Poppins"/>
                <a:ea typeface="Poppins"/>
                <a:cs typeface="Poppins"/>
                <a:sym typeface="Poppins"/>
              </a:rPr>
              <a:t>egments each airport hall into separate VLANs to improve network organization, isolation, and traffic management.</a:t>
            </a:r>
          </a:p>
        </p:txBody>
      </p:sp>
      <p:sp>
        <p:nvSpPr>
          <p:cNvPr name="TextBox 30" id="30"/>
          <p:cNvSpPr txBox="true"/>
          <p:nvPr/>
        </p:nvSpPr>
        <p:spPr>
          <a:xfrm rot="0">
            <a:off x="1107647" y="3509506"/>
            <a:ext cx="7809854" cy="1193496"/>
          </a:xfrm>
          <a:prstGeom prst="rect">
            <a:avLst/>
          </a:prstGeom>
        </p:spPr>
        <p:txBody>
          <a:bodyPr anchor="t" rtlCol="false" tIns="0" lIns="0" bIns="0" rIns="0">
            <a:spAutoFit/>
          </a:bodyPr>
          <a:lstStyle/>
          <a:p>
            <a:pPr algn="l">
              <a:lnSpc>
                <a:spcPts val="9144"/>
              </a:lnSpc>
            </a:pPr>
            <a:r>
              <a:rPr lang="en-US" b="true" sz="8627">
                <a:solidFill>
                  <a:srgbClr val="084DA3"/>
                </a:solidFill>
                <a:latin typeface="Raleway Heavy"/>
                <a:ea typeface="Raleway Heavy"/>
                <a:cs typeface="Raleway Heavy"/>
                <a:sym typeface="Raleway Heavy"/>
              </a:rPr>
              <a:t>AIRPORT</a:t>
            </a:r>
          </a:p>
        </p:txBody>
      </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bg>
      <p:bgPr>
        <a:solidFill>
          <a:srgbClr val="FAFAFA"/>
        </a:solidFill>
      </p:bgPr>
    </p:bg>
    <p:spTree>
      <p:nvGrpSpPr>
        <p:cNvPr id="1" name=""/>
        <p:cNvGrpSpPr/>
        <p:nvPr/>
      </p:nvGrpSpPr>
      <p:grpSpPr>
        <a:xfrm>
          <a:off x="0" y="0"/>
          <a:ext cx="0" cy="0"/>
          <a:chOff x="0" y="0"/>
          <a:chExt cx="0" cy="0"/>
        </a:xfrm>
      </p:grpSpPr>
      <p:grpSp>
        <p:nvGrpSpPr>
          <p:cNvPr name="Group 2" id="2"/>
          <p:cNvGrpSpPr/>
          <p:nvPr/>
        </p:nvGrpSpPr>
        <p:grpSpPr>
          <a:xfrm rot="0">
            <a:off x="1016848" y="810138"/>
            <a:ext cx="16242452" cy="787029"/>
            <a:chOff x="0" y="0"/>
            <a:chExt cx="4277847" cy="207283"/>
          </a:xfrm>
        </p:grpSpPr>
        <p:sp>
          <p:nvSpPr>
            <p:cNvPr name="Freeform 3" id="3"/>
            <p:cNvSpPr/>
            <p:nvPr/>
          </p:nvSpPr>
          <p:spPr>
            <a:xfrm flipH="false" flipV="false" rot="0">
              <a:off x="0" y="0"/>
              <a:ext cx="4277847" cy="207283"/>
            </a:xfrm>
            <a:custGeom>
              <a:avLst/>
              <a:gdLst/>
              <a:ahLst/>
              <a:cxnLst/>
              <a:rect r="r" b="b" t="t" l="l"/>
              <a:pathLst>
                <a:path h="207283" w="4277847">
                  <a:moveTo>
                    <a:pt x="24309" y="0"/>
                  </a:moveTo>
                  <a:lnTo>
                    <a:pt x="4253538" y="0"/>
                  </a:lnTo>
                  <a:cubicBezTo>
                    <a:pt x="4259986" y="0"/>
                    <a:pt x="4266169" y="2561"/>
                    <a:pt x="4270727" y="7120"/>
                  </a:cubicBezTo>
                  <a:cubicBezTo>
                    <a:pt x="4275286" y="11679"/>
                    <a:pt x="4277847" y="17862"/>
                    <a:pt x="4277847" y="24309"/>
                  </a:cubicBezTo>
                  <a:lnTo>
                    <a:pt x="4277847" y="182974"/>
                  </a:lnTo>
                  <a:cubicBezTo>
                    <a:pt x="4277847" y="196400"/>
                    <a:pt x="4266964" y="207283"/>
                    <a:pt x="4253538" y="207283"/>
                  </a:cubicBezTo>
                  <a:lnTo>
                    <a:pt x="24309" y="207283"/>
                  </a:lnTo>
                  <a:cubicBezTo>
                    <a:pt x="17862" y="207283"/>
                    <a:pt x="11679" y="204722"/>
                    <a:pt x="7120" y="200163"/>
                  </a:cubicBezTo>
                  <a:cubicBezTo>
                    <a:pt x="2561" y="195605"/>
                    <a:pt x="0" y="189422"/>
                    <a:pt x="0" y="182974"/>
                  </a:cubicBezTo>
                  <a:lnTo>
                    <a:pt x="0" y="24309"/>
                  </a:lnTo>
                  <a:cubicBezTo>
                    <a:pt x="0" y="10884"/>
                    <a:pt x="10884" y="0"/>
                    <a:pt x="24309" y="0"/>
                  </a:cubicBezTo>
                  <a:close/>
                </a:path>
              </a:pathLst>
            </a:custGeom>
            <a:solidFill>
              <a:srgbClr val="084DA3"/>
            </a:solidFill>
          </p:spPr>
        </p:sp>
        <p:sp>
          <p:nvSpPr>
            <p:cNvPr name="TextBox 4" id="4"/>
            <p:cNvSpPr txBox="true"/>
            <p:nvPr/>
          </p:nvSpPr>
          <p:spPr>
            <a:xfrm>
              <a:off x="0" y="-47625"/>
              <a:ext cx="4277847" cy="254908"/>
            </a:xfrm>
            <a:prstGeom prst="rect">
              <a:avLst/>
            </a:prstGeom>
          </p:spPr>
          <p:txBody>
            <a:bodyPr anchor="ctr" rtlCol="false" tIns="50800" lIns="50800" bIns="50800" rIns="50800"/>
            <a:lstStyle/>
            <a:p>
              <a:pPr algn="ctr">
                <a:lnSpc>
                  <a:spcPts val="3079"/>
                </a:lnSpc>
              </a:pPr>
            </a:p>
          </p:txBody>
        </p:sp>
      </p:grpSp>
      <p:grpSp>
        <p:nvGrpSpPr>
          <p:cNvPr name="Group 5" id="5"/>
          <p:cNvGrpSpPr/>
          <p:nvPr/>
        </p:nvGrpSpPr>
        <p:grpSpPr>
          <a:xfrm rot="0">
            <a:off x="14453926" y="925677"/>
            <a:ext cx="2673290" cy="555951"/>
            <a:chOff x="0" y="0"/>
            <a:chExt cx="704076" cy="146423"/>
          </a:xfrm>
        </p:grpSpPr>
        <p:sp>
          <p:nvSpPr>
            <p:cNvPr name="Freeform 6" id="6"/>
            <p:cNvSpPr/>
            <p:nvPr/>
          </p:nvSpPr>
          <p:spPr>
            <a:xfrm flipH="false" flipV="false" rot="0">
              <a:off x="0" y="0"/>
              <a:ext cx="704076" cy="146423"/>
            </a:xfrm>
            <a:custGeom>
              <a:avLst/>
              <a:gdLst/>
              <a:ahLst/>
              <a:cxnLst/>
              <a:rect r="r" b="b" t="t" l="l"/>
              <a:pathLst>
                <a:path h="146423" w="704076">
                  <a:moveTo>
                    <a:pt x="73212" y="0"/>
                  </a:moveTo>
                  <a:lnTo>
                    <a:pt x="630865" y="0"/>
                  </a:lnTo>
                  <a:cubicBezTo>
                    <a:pt x="650282" y="0"/>
                    <a:pt x="668903" y="7713"/>
                    <a:pt x="682633" y="21443"/>
                  </a:cubicBezTo>
                  <a:cubicBezTo>
                    <a:pt x="696363" y="35173"/>
                    <a:pt x="704076" y="53795"/>
                    <a:pt x="704076" y="73212"/>
                  </a:cubicBezTo>
                  <a:lnTo>
                    <a:pt x="704076" y="73212"/>
                  </a:lnTo>
                  <a:cubicBezTo>
                    <a:pt x="704076" y="113645"/>
                    <a:pt x="671298" y="146423"/>
                    <a:pt x="630865" y="146423"/>
                  </a:cubicBezTo>
                  <a:lnTo>
                    <a:pt x="73212" y="146423"/>
                  </a:lnTo>
                  <a:cubicBezTo>
                    <a:pt x="32778" y="146423"/>
                    <a:pt x="0" y="113645"/>
                    <a:pt x="0" y="73212"/>
                  </a:cubicBezTo>
                  <a:lnTo>
                    <a:pt x="0" y="73212"/>
                  </a:lnTo>
                  <a:cubicBezTo>
                    <a:pt x="0" y="32778"/>
                    <a:pt x="32778" y="0"/>
                    <a:pt x="73212" y="0"/>
                  </a:cubicBezTo>
                  <a:close/>
                </a:path>
              </a:pathLst>
            </a:custGeom>
            <a:solidFill>
              <a:srgbClr val="FAFAFA"/>
            </a:solidFill>
          </p:spPr>
        </p:sp>
        <p:sp>
          <p:nvSpPr>
            <p:cNvPr name="TextBox 7" id="7"/>
            <p:cNvSpPr txBox="true"/>
            <p:nvPr/>
          </p:nvSpPr>
          <p:spPr>
            <a:xfrm>
              <a:off x="0" y="-47625"/>
              <a:ext cx="704076" cy="194048"/>
            </a:xfrm>
            <a:prstGeom prst="rect">
              <a:avLst/>
            </a:prstGeom>
          </p:spPr>
          <p:txBody>
            <a:bodyPr anchor="ctr" rtlCol="false" tIns="50800" lIns="50800" bIns="50800" rIns="50800"/>
            <a:lstStyle/>
            <a:p>
              <a:pPr algn="ctr">
                <a:lnSpc>
                  <a:spcPts val="3079"/>
                </a:lnSpc>
              </a:pPr>
            </a:p>
          </p:txBody>
        </p:sp>
      </p:grpSp>
      <p:sp>
        <p:nvSpPr>
          <p:cNvPr name="Freeform 8" id="8"/>
          <p:cNvSpPr/>
          <p:nvPr/>
        </p:nvSpPr>
        <p:spPr>
          <a:xfrm flipH="false" flipV="false" rot="0">
            <a:off x="16654546" y="1056159"/>
            <a:ext cx="294987" cy="294987"/>
          </a:xfrm>
          <a:custGeom>
            <a:avLst/>
            <a:gdLst/>
            <a:ahLst/>
            <a:cxnLst/>
            <a:rect r="r" b="b" t="t" l="l"/>
            <a:pathLst>
              <a:path h="294987" w="294987">
                <a:moveTo>
                  <a:pt x="0" y="0"/>
                </a:moveTo>
                <a:lnTo>
                  <a:pt x="294987" y="0"/>
                </a:lnTo>
                <a:lnTo>
                  <a:pt x="294987" y="294987"/>
                </a:lnTo>
                <a:lnTo>
                  <a:pt x="0" y="294987"/>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9" id="9"/>
          <p:cNvSpPr/>
          <p:nvPr/>
        </p:nvSpPr>
        <p:spPr>
          <a:xfrm flipH="false" flipV="false" rot="0">
            <a:off x="1370543" y="3260399"/>
            <a:ext cx="15358775" cy="6540840"/>
          </a:xfrm>
          <a:custGeom>
            <a:avLst/>
            <a:gdLst/>
            <a:ahLst/>
            <a:cxnLst/>
            <a:rect r="r" b="b" t="t" l="l"/>
            <a:pathLst>
              <a:path h="6540840" w="15358775">
                <a:moveTo>
                  <a:pt x="0" y="0"/>
                </a:moveTo>
                <a:lnTo>
                  <a:pt x="15358776" y="0"/>
                </a:lnTo>
                <a:lnTo>
                  <a:pt x="15358776" y="6540840"/>
                </a:lnTo>
                <a:lnTo>
                  <a:pt x="0" y="6540840"/>
                </a:lnTo>
                <a:lnTo>
                  <a:pt x="0" y="0"/>
                </a:lnTo>
                <a:close/>
              </a:path>
            </a:pathLst>
          </a:custGeom>
          <a:blipFill>
            <a:blip r:embed="rId4"/>
            <a:stretch>
              <a:fillRect l="0" t="0" r="0" b="0"/>
            </a:stretch>
          </a:blipFill>
        </p:spPr>
      </p:sp>
      <p:sp>
        <p:nvSpPr>
          <p:cNvPr name="TextBox 10" id="10"/>
          <p:cNvSpPr txBox="true"/>
          <p:nvPr/>
        </p:nvSpPr>
        <p:spPr>
          <a:xfrm rot="0">
            <a:off x="14789222" y="1012200"/>
            <a:ext cx="1674231" cy="358775"/>
          </a:xfrm>
          <a:prstGeom prst="rect">
            <a:avLst/>
          </a:prstGeom>
        </p:spPr>
        <p:txBody>
          <a:bodyPr anchor="t" rtlCol="false" tIns="0" lIns="0" bIns="0" rIns="0">
            <a:spAutoFit/>
          </a:bodyPr>
          <a:lstStyle/>
          <a:p>
            <a:pPr algn="l">
              <a:lnSpc>
                <a:spcPts val="2800"/>
              </a:lnSpc>
              <a:spcBef>
                <a:spcPct val="0"/>
              </a:spcBef>
            </a:pPr>
            <a:r>
              <a:rPr lang="en-US" sz="2000" i="true">
                <a:solidFill>
                  <a:srgbClr val="000000"/>
                </a:solidFill>
                <a:latin typeface="Raleway Italics"/>
                <a:ea typeface="Raleway Italics"/>
                <a:cs typeface="Raleway Italics"/>
                <a:sym typeface="Raleway Italics"/>
              </a:rPr>
              <a:t>Search. . .</a:t>
            </a:r>
          </a:p>
        </p:txBody>
      </p:sp>
      <p:sp>
        <p:nvSpPr>
          <p:cNvPr name="TextBox 11" id="11"/>
          <p:cNvSpPr txBox="true"/>
          <p:nvPr/>
        </p:nvSpPr>
        <p:spPr>
          <a:xfrm rot="0">
            <a:off x="5821584" y="988705"/>
            <a:ext cx="1472568" cy="382270"/>
          </a:xfrm>
          <a:prstGeom prst="rect">
            <a:avLst/>
          </a:prstGeom>
        </p:spPr>
        <p:txBody>
          <a:bodyPr anchor="t" rtlCol="false" tIns="0" lIns="0" bIns="0" rIns="0">
            <a:spAutoFit/>
          </a:bodyPr>
          <a:lstStyle/>
          <a:p>
            <a:pPr algn="ctr">
              <a:lnSpc>
                <a:spcPts val="3079"/>
              </a:lnSpc>
              <a:spcBef>
                <a:spcPct val="0"/>
              </a:spcBef>
            </a:pPr>
            <a:r>
              <a:rPr lang="en-US" sz="2199">
                <a:solidFill>
                  <a:srgbClr val="FAFAFA"/>
                </a:solidFill>
                <a:latin typeface="Raleway"/>
                <a:ea typeface="Raleway"/>
                <a:cs typeface="Raleway"/>
                <a:sym typeface="Raleway"/>
              </a:rPr>
              <a:t>Home</a:t>
            </a:r>
          </a:p>
        </p:txBody>
      </p:sp>
      <p:sp>
        <p:nvSpPr>
          <p:cNvPr name="TextBox 12" id="12"/>
          <p:cNvSpPr txBox="true"/>
          <p:nvPr/>
        </p:nvSpPr>
        <p:spPr>
          <a:xfrm rot="0">
            <a:off x="1370543" y="922665"/>
            <a:ext cx="3069916" cy="504826"/>
          </a:xfrm>
          <a:prstGeom prst="rect">
            <a:avLst/>
          </a:prstGeom>
        </p:spPr>
        <p:txBody>
          <a:bodyPr anchor="t" rtlCol="false" tIns="0" lIns="0" bIns="0" rIns="0">
            <a:spAutoFit/>
          </a:bodyPr>
          <a:lstStyle/>
          <a:p>
            <a:pPr algn="l">
              <a:lnSpc>
                <a:spcPts val="4199"/>
              </a:lnSpc>
              <a:spcBef>
                <a:spcPct val="0"/>
              </a:spcBef>
            </a:pPr>
            <a:r>
              <a:rPr lang="en-US" b="true" sz="2999">
                <a:solidFill>
                  <a:srgbClr val="FAFAFA"/>
                </a:solidFill>
                <a:latin typeface="Raleway Bold"/>
                <a:ea typeface="Raleway Bold"/>
                <a:cs typeface="Raleway Bold"/>
                <a:sym typeface="Raleway Bold"/>
              </a:rPr>
              <a:t>AeroNova</a:t>
            </a:r>
          </a:p>
        </p:txBody>
      </p:sp>
      <p:sp>
        <p:nvSpPr>
          <p:cNvPr name="TextBox 13" id="13"/>
          <p:cNvSpPr txBox="true"/>
          <p:nvPr/>
        </p:nvSpPr>
        <p:spPr>
          <a:xfrm rot="0">
            <a:off x="7602942" y="988705"/>
            <a:ext cx="1771891" cy="382270"/>
          </a:xfrm>
          <a:prstGeom prst="rect">
            <a:avLst/>
          </a:prstGeom>
        </p:spPr>
        <p:txBody>
          <a:bodyPr anchor="t" rtlCol="false" tIns="0" lIns="0" bIns="0" rIns="0">
            <a:spAutoFit/>
          </a:bodyPr>
          <a:lstStyle/>
          <a:p>
            <a:pPr algn="ctr">
              <a:lnSpc>
                <a:spcPts val="3079"/>
              </a:lnSpc>
              <a:spcBef>
                <a:spcPct val="0"/>
              </a:spcBef>
            </a:pPr>
            <a:r>
              <a:rPr lang="en-US" b="true" sz="2199">
                <a:solidFill>
                  <a:srgbClr val="FAFAFA"/>
                </a:solidFill>
                <a:latin typeface="Raleway Bold"/>
                <a:ea typeface="Raleway Bold"/>
                <a:cs typeface="Raleway Bold"/>
                <a:sym typeface="Raleway Bold"/>
              </a:rPr>
              <a:t>About Us</a:t>
            </a:r>
          </a:p>
        </p:txBody>
      </p:sp>
      <p:sp>
        <p:nvSpPr>
          <p:cNvPr name="TextBox 14" id="14"/>
          <p:cNvSpPr txBox="true"/>
          <p:nvPr/>
        </p:nvSpPr>
        <p:spPr>
          <a:xfrm rot="0">
            <a:off x="11400952" y="988705"/>
            <a:ext cx="1674231" cy="382270"/>
          </a:xfrm>
          <a:prstGeom prst="rect">
            <a:avLst/>
          </a:prstGeom>
        </p:spPr>
        <p:txBody>
          <a:bodyPr anchor="t" rtlCol="false" tIns="0" lIns="0" bIns="0" rIns="0">
            <a:spAutoFit/>
          </a:bodyPr>
          <a:lstStyle/>
          <a:p>
            <a:pPr algn="ctr">
              <a:lnSpc>
                <a:spcPts val="3079"/>
              </a:lnSpc>
              <a:spcBef>
                <a:spcPct val="0"/>
              </a:spcBef>
            </a:pPr>
            <a:r>
              <a:rPr lang="en-US" sz="2199">
                <a:solidFill>
                  <a:srgbClr val="FAFAFA"/>
                </a:solidFill>
                <a:latin typeface="Raleway"/>
                <a:ea typeface="Raleway"/>
                <a:cs typeface="Raleway"/>
                <a:sym typeface="Raleway"/>
              </a:rPr>
              <a:t>Contact</a:t>
            </a:r>
          </a:p>
        </p:txBody>
      </p:sp>
      <p:sp>
        <p:nvSpPr>
          <p:cNvPr name="TextBox 15" id="15"/>
          <p:cNvSpPr txBox="true"/>
          <p:nvPr/>
        </p:nvSpPr>
        <p:spPr>
          <a:xfrm rot="0">
            <a:off x="9683624" y="988705"/>
            <a:ext cx="1408538" cy="382270"/>
          </a:xfrm>
          <a:prstGeom prst="rect">
            <a:avLst/>
          </a:prstGeom>
        </p:spPr>
        <p:txBody>
          <a:bodyPr anchor="t" rtlCol="false" tIns="0" lIns="0" bIns="0" rIns="0">
            <a:spAutoFit/>
          </a:bodyPr>
          <a:lstStyle/>
          <a:p>
            <a:pPr algn="ctr">
              <a:lnSpc>
                <a:spcPts val="3079"/>
              </a:lnSpc>
              <a:spcBef>
                <a:spcPct val="0"/>
              </a:spcBef>
            </a:pPr>
            <a:r>
              <a:rPr lang="en-US" sz="2199">
                <a:solidFill>
                  <a:srgbClr val="FAFAFA"/>
                </a:solidFill>
                <a:latin typeface="Raleway"/>
                <a:ea typeface="Raleway"/>
                <a:cs typeface="Raleway"/>
                <a:sym typeface="Raleway"/>
              </a:rPr>
              <a:t>Service</a:t>
            </a:r>
          </a:p>
        </p:txBody>
      </p:sp>
      <p:sp>
        <p:nvSpPr>
          <p:cNvPr name="TextBox 16" id="16"/>
          <p:cNvSpPr txBox="true"/>
          <p:nvPr/>
        </p:nvSpPr>
        <p:spPr>
          <a:xfrm rot="0">
            <a:off x="2905501" y="1890126"/>
            <a:ext cx="12386254" cy="1191614"/>
          </a:xfrm>
          <a:prstGeom prst="rect">
            <a:avLst/>
          </a:prstGeom>
        </p:spPr>
        <p:txBody>
          <a:bodyPr anchor="t" rtlCol="false" tIns="0" lIns="0" bIns="0" rIns="0">
            <a:spAutoFit/>
          </a:bodyPr>
          <a:lstStyle/>
          <a:p>
            <a:pPr algn="l">
              <a:lnSpc>
                <a:spcPts val="9144"/>
              </a:lnSpc>
            </a:pPr>
            <a:r>
              <a:rPr lang="en-US" b="true" sz="8627">
                <a:solidFill>
                  <a:srgbClr val="000000"/>
                </a:solidFill>
                <a:latin typeface="Raleway Heavy"/>
                <a:ea typeface="Raleway Heavy"/>
                <a:cs typeface="Raleway Heavy"/>
                <a:sym typeface="Raleway Heavy"/>
              </a:rPr>
              <a:t>PHYSICAL </a:t>
            </a:r>
            <a:r>
              <a:rPr lang="en-US" b="true" sz="8627">
                <a:solidFill>
                  <a:srgbClr val="004CA6"/>
                </a:solidFill>
                <a:latin typeface="Raleway Heavy"/>
                <a:ea typeface="Raleway Heavy"/>
                <a:cs typeface="Raleway Heavy"/>
                <a:sym typeface="Raleway Heavy"/>
              </a:rPr>
              <a:t>TOPOLOGY</a:t>
            </a:r>
          </a:p>
        </p:txBody>
      </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bg>
      <p:bgPr>
        <a:solidFill>
          <a:srgbClr val="FAFAFA"/>
        </a:solidFill>
      </p:bgPr>
    </p:bg>
    <p:spTree>
      <p:nvGrpSpPr>
        <p:cNvPr id="1" name=""/>
        <p:cNvGrpSpPr/>
        <p:nvPr/>
      </p:nvGrpSpPr>
      <p:grpSpPr>
        <a:xfrm>
          <a:off x="0" y="0"/>
          <a:ext cx="0" cy="0"/>
          <a:chOff x="0" y="0"/>
          <a:chExt cx="0" cy="0"/>
        </a:xfrm>
      </p:grpSpPr>
      <p:sp>
        <p:nvSpPr>
          <p:cNvPr name="Freeform 2" id="2" descr="Magnifier Outline Icon"/>
          <p:cNvSpPr/>
          <p:nvPr/>
        </p:nvSpPr>
        <p:spPr>
          <a:xfrm flipH="false" flipV="false" rot="0">
            <a:off x="16654546" y="1056159"/>
            <a:ext cx="294987" cy="294987"/>
          </a:xfrm>
          <a:custGeom>
            <a:avLst/>
            <a:gdLst/>
            <a:ahLst/>
            <a:cxnLst/>
            <a:rect r="r" b="b" t="t" l="l"/>
            <a:pathLst>
              <a:path h="294987" w="294987">
                <a:moveTo>
                  <a:pt x="0" y="0"/>
                </a:moveTo>
                <a:lnTo>
                  <a:pt x="294987" y="0"/>
                </a:lnTo>
                <a:lnTo>
                  <a:pt x="294987" y="294987"/>
                </a:lnTo>
                <a:lnTo>
                  <a:pt x="0" y="294987"/>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3" id="3"/>
          <p:cNvGrpSpPr/>
          <p:nvPr/>
        </p:nvGrpSpPr>
        <p:grpSpPr>
          <a:xfrm rot="0">
            <a:off x="1016848" y="810138"/>
            <a:ext cx="16242452" cy="787029"/>
            <a:chOff x="0" y="0"/>
            <a:chExt cx="4277847" cy="207283"/>
          </a:xfrm>
        </p:grpSpPr>
        <p:sp>
          <p:nvSpPr>
            <p:cNvPr name="Freeform 4" id="4"/>
            <p:cNvSpPr/>
            <p:nvPr/>
          </p:nvSpPr>
          <p:spPr>
            <a:xfrm flipH="false" flipV="false" rot="0">
              <a:off x="0" y="0"/>
              <a:ext cx="4277847" cy="207283"/>
            </a:xfrm>
            <a:custGeom>
              <a:avLst/>
              <a:gdLst/>
              <a:ahLst/>
              <a:cxnLst/>
              <a:rect r="r" b="b" t="t" l="l"/>
              <a:pathLst>
                <a:path h="207283" w="4277847">
                  <a:moveTo>
                    <a:pt x="24309" y="0"/>
                  </a:moveTo>
                  <a:lnTo>
                    <a:pt x="4253538" y="0"/>
                  </a:lnTo>
                  <a:cubicBezTo>
                    <a:pt x="4259986" y="0"/>
                    <a:pt x="4266169" y="2561"/>
                    <a:pt x="4270727" y="7120"/>
                  </a:cubicBezTo>
                  <a:cubicBezTo>
                    <a:pt x="4275286" y="11679"/>
                    <a:pt x="4277847" y="17862"/>
                    <a:pt x="4277847" y="24309"/>
                  </a:cubicBezTo>
                  <a:lnTo>
                    <a:pt x="4277847" y="182974"/>
                  </a:lnTo>
                  <a:cubicBezTo>
                    <a:pt x="4277847" y="196400"/>
                    <a:pt x="4266964" y="207283"/>
                    <a:pt x="4253538" y="207283"/>
                  </a:cubicBezTo>
                  <a:lnTo>
                    <a:pt x="24309" y="207283"/>
                  </a:lnTo>
                  <a:cubicBezTo>
                    <a:pt x="17862" y="207283"/>
                    <a:pt x="11679" y="204722"/>
                    <a:pt x="7120" y="200163"/>
                  </a:cubicBezTo>
                  <a:cubicBezTo>
                    <a:pt x="2561" y="195605"/>
                    <a:pt x="0" y="189422"/>
                    <a:pt x="0" y="182974"/>
                  </a:cubicBezTo>
                  <a:lnTo>
                    <a:pt x="0" y="24309"/>
                  </a:lnTo>
                  <a:cubicBezTo>
                    <a:pt x="0" y="10884"/>
                    <a:pt x="10884" y="0"/>
                    <a:pt x="24309" y="0"/>
                  </a:cubicBezTo>
                  <a:close/>
                </a:path>
              </a:pathLst>
            </a:custGeom>
            <a:solidFill>
              <a:srgbClr val="084DA3"/>
            </a:solidFill>
          </p:spPr>
        </p:sp>
        <p:sp>
          <p:nvSpPr>
            <p:cNvPr name="TextBox 5" id="5"/>
            <p:cNvSpPr txBox="true"/>
            <p:nvPr/>
          </p:nvSpPr>
          <p:spPr>
            <a:xfrm>
              <a:off x="0" y="-47625"/>
              <a:ext cx="4277847" cy="254908"/>
            </a:xfrm>
            <a:prstGeom prst="rect">
              <a:avLst/>
            </a:prstGeom>
          </p:spPr>
          <p:txBody>
            <a:bodyPr anchor="ctr" rtlCol="false" tIns="50800" lIns="50800" bIns="50800" rIns="50800"/>
            <a:lstStyle/>
            <a:p>
              <a:pPr algn="ctr">
                <a:lnSpc>
                  <a:spcPts val="3079"/>
                </a:lnSpc>
              </a:pPr>
            </a:p>
          </p:txBody>
        </p:sp>
      </p:grpSp>
      <p:grpSp>
        <p:nvGrpSpPr>
          <p:cNvPr name="Group 6" id="6"/>
          <p:cNvGrpSpPr/>
          <p:nvPr/>
        </p:nvGrpSpPr>
        <p:grpSpPr>
          <a:xfrm rot="0">
            <a:off x="14453926" y="925677"/>
            <a:ext cx="2673290" cy="555951"/>
            <a:chOff x="0" y="0"/>
            <a:chExt cx="704076" cy="146423"/>
          </a:xfrm>
        </p:grpSpPr>
        <p:sp>
          <p:nvSpPr>
            <p:cNvPr name="Freeform 7" id="7"/>
            <p:cNvSpPr/>
            <p:nvPr/>
          </p:nvSpPr>
          <p:spPr>
            <a:xfrm flipH="false" flipV="false" rot="0">
              <a:off x="0" y="0"/>
              <a:ext cx="704076" cy="146423"/>
            </a:xfrm>
            <a:custGeom>
              <a:avLst/>
              <a:gdLst/>
              <a:ahLst/>
              <a:cxnLst/>
              <a:rect r="r" b="b" t="t" l="l"/>
              <a:pathLst>
                <a:path h="146423" w="704076">
                  <a:moveTo>
                    <a:pt x="73212" y="0"/>
                  </a:moveTo>
                  <a:lnTo>
                    <a:pt x="630865" y="0"/>
                  </a:lnTo>
                  <a:cubicBezTo>
                    <a:pt x="650282" y="0"/>
                    <a:pt x="668903" y="7713"/>
                    <a:pt x="682633" y="21443"/>
                  </a:cubicBezTo>
                  <a:cubicBezTo>
                    <a:pt x="696363" y="35173"/>
                    <a:pt x="704076" y="53795"/>
                    <a:pt x="704076" y="73212"/>
                  </a:cubicBezTo>
                  <a:lnTo>
                    <a:pt x="704076" y="73212"/>
                  </a:lnTo>
                  <a:cubicBezTo>
                    <a:pt x="704076" y="113645"/>
                    <a:pt x="671298" y="146423"/>
                    <a:pt x="630865" y="146423"/>
                  </a:cubicBezTo>
                  <a:lnTo>
                    <a:pt x="73212" y="146423"/>
                  </a:lnTo>
                  <a:cubicBezTo>
                    <a:pt x="32778" y="146423"/>
                    <a:pt x="0" y="113645"/>
                    <a:pt x="0" y="73212"/>
                  </a:cubicBezTo>
                  <a:lnTo>
                    <a:pt x="0" y="73212"/>
                  </a:lnTo>
                  <a:cubicBezTo>
                    <a:pt x="0" y="32778"/>
                    <a:pt x="32778" y="0"/>
                    <a:pt x="73212" y="0"/>
                  </a:cubicBezTo>
                  <a:close/>
                </a:path>
              </a:pathLst>
            </a:custGeom>
            <a:solidFill>
              <a:srgbClr val="FAFAFA"/>
            </a:solidFill>
          </p:spPr>
        </p:sp>
        <p:sp>
          <p:nvSpPr>
            <p:cNvPr name="TextBox 8" id="8"/>
            <p:cNvSpPr txBox="true"/>
            <p:nvPr/>
          </p:nvSpPr>
          <p:spPr>
            <a:xfrm>
              <a:off x="0" y="-47625"/>
              <a:ext cx="704076" cy="194048"/>
            </a:xfrm>
            <a:prstGeom prst="rect">
              <a:avLst/>
            </a:prstGeom>
          </p:spPr>
          <p:txBody>
            <a:bodyPr anchor="ctr" rtlCol="false" tIns="50800" lIns="50800" bIns="50800" rIns="50800"/>
            <a:lstStyle/>
            <a:p>
              <a:pPr algn="ctr">
                <a:lnSpc>
                  <a:spcPts val="3079"/>
                </a:lnSpc>
              </a:pPr>
            </a:p>
          </p:txBody>
        </p:sp>
      </p:grpSp>
      <p:sp>
        <p:nvSpPr>
          <p:cNvPr name="Freeform 9" id="9"/>
          <p:cNvSpPr/>
          <p:nvPr/>
        </p:nvSpPr>
        <p:spPr>
          <a:xfrm flipH="false" flipV="false" rot="0">
            <a:off x="5408206" y="2091503"/>
            <a:ext cx="11541327" cy="7648340"/>
          </a:xfrm>
          <a:custGeom>
            <a:avLst/>
            <a:gdLst/>
            <a:ahLst/>
            <a:cxnLst/>
            <a:rect r="r" b="b" t="t" l="l"/>
            <a:pathLst>
              <a:path h="7648340" w="11541327">
                <a:moveTo>
                  <a:pt x="0" y="0"/>
                </a:moveTo>
                <a:lnTo>
                  <a:pt x="11541327" y="0"/>
                </a:lnTo>
                <a:lnTo>
                  <a:pt x="11541327" y="7648339"/>
                </a:lnTo>
                <a:lnTo>
                  <a:pt x="0" y="7648339"/>
                </a:lnTo>
                <a:lnTo>
                  <a:pt x="0" y="0"/>
                </a:lnTo>
                <a:close/>
              </a:path>
            </a:pathLst>
          </a:custGeom>
          <a:blipFill>
            <a:blip r:embed="rId4"/>
            <a:stretch>
              <a:fillRect l="-10711" t="-33538" r="-9348" b="-2338"/>
            </a:stretch>
          </a:blipFill>
        </p:spPr>
      </p:sp>
      <p:sp>
        <p:nvSpPr>
          <p:cNvPr name="TextBox 10" id="10"/>
          <p:cNvSpPr txBox="true"/>
          <p:nvPr/>
        </p:nvSpPr>
        <p:spPr>
          <a:xfrm rot="0">
            <a:off x="14789222" y="1012200"/>
            <a:ext cx="1674231" cy="358775"/>
          </a:xfrm>
          <a:prstGeom prst="rect">
            <a:avLst/>
          </a:prstGeom>
        </p:spPr>
        <p:txBody>
          <a:bodyPr anchor="t" rtlCol="false" tIns="0" lIns="0" bIns="0" rIns="0">
            <a:spAutoFit/>
          </a:bodyPr>
          <a:lstStyle/>
          <a:p>
            <a:pPr algn="l">
              <a:lnSpc>
                <a:spcPts val="2800"/>
              </a:lnSpc>
              <a:spcBef>
                <a:spcPct val="0"/>
              </a:spcBef>
            </a:pPr>
            <a:r>
              <a:rPr lang="en-US" sz="2000" i="true">
                <a:solidFill>
                  <a:srgbClr val="000000"/>
                </a:solidFill>
                <a:latin typeface="Raleway Italics"/>
                <a:ea typeface="Raleway Italics"/>
                <a:cs typeface="Raleway Italics"/>
                <a:sym typeface="Raleway Italics"/>
              </a:rPr>
              <a:t>Search. . .</a:t>
            </a:r>
          </a:p>
        </p:txBody>
      </p:sp>
      <p:sp>
        <p:nvSpPr>
          <p:cNvPr name="TextBox 11" id="11"/>
          <p:cNvSpPr txBox="true"/>
          <p:nvPr/>
        </p:nvSpPr>
        <p:spPr>
          <a:xfrm rot="0">
            <a:off x="5821584" y="988705"/>
            <a:ext cx="1472568" cy="382270"/>
          </a:xfrm>
          <a:prstGeom prst="rect">
            <a:avLst/>
          </a:prstGeom>
        </p:spPr>
        <p:txBody>
          <a:bodyPr anchor="t" rtlCol="false" tIns="0" lIns="0" bIns="0" rIns="0">
            <a:spAutoFit/>
          </a:bodyPr>
          <a:lstStyle/>
          <a:p>
            <a:pPr algn="ctr">
              <a:lnSpc>
                <a:spcPts val="3079"/>
              </a:lnSpc>
              <a:spcBef>
                <a:spcPct val="0"/>
              </a:spcBef>
            </a:pPr>
            <a:r>
              <a:rPr lang="en-US" sz="2199">
                <a:solidFill>
                  <a:srgbClr val="FAFAFA"/>
                </a:solidFill>
                <a:latin typeface="Raleway"/>
                <a:ea typeface="Raleway"/>
                <a:cs typeface="Raleway"/>
                <a:sym typeface="Raleway"/>
              </a:rPr>
              <a:t>Home</a:t>
            </a:r>
          </a:p>
        </p:txBody>
      </p:sp>
      <p:sp>
        <p:nvSpPr>
          <p:cNvPr name="TextBox 12" id="12"/>
          <p:cNvSpPr txBox="true"/>
          <p:nvPr/>
        </p:nvSpPr>
        <p:spPr>
          <a:xfrm rot="0">
            <a:off x="1370543" y="922665"/>
            <a:ext cx="3069916" cy="504826"/>
          </a:xfrm>
          <a:prstGeom prst="rect">
            <a:avLst/>
          </a:prstGeom>
        </p:spPr>
        <p:txBody>
          <a:bodyPr anchor="t" rtlCol="false" tIns="0" lIns="0" bIns="0" rIns="0">
            <a:spAutoFit/>
          </a:bodyPr>
          <a:lstStyle/>
          <a:p>
            <a:pPr algn="l">
              <a:lnSpc>
                <a:spcPts val="4199"/>
              </a:lnSpc>
              <a:spcBef>
                <a:spcPct val="0"/>
              </a:spcBef>
            </a:pPr>
            <a:r>
              <a:rPr lang="en-US" b="true" sz="2999">
                <a:solidFill>
                  <a:srgbClr val="FAFAFA"/>
                </a:solidFill>
                <a:latin typeface="Raleway Bold"/>
                <a:ea typeface="Raleway Bold"/>
                <a:cs typeface="Raleway Bold"/>
                <a:sym typeface="Raleway Bold"/>
              </a:rPr>
              <a:t>AeroNova</a:t>
            </a:r>
          </a:p>
        </p:txBody>
      </p:sp>
      <p:sp>
        <p:nvSpPr>
          <p:cNvPr name="TextBox 13" id="13"/>
          <p:cNvSpPr txBox="true"/>
          <p:nvPr/>
        </p:nvSpPr>
        <p:spPr>
          <a:xfrm rot="0">
            <a:off x="7602942" y="988705"/>
            <a:ext cx="1771891" cy="382270"/>
          </a:xfrm>
          <a:prstGeom prst="rect">
            <a:avLst/>
          </a:prstGeom>
        </p:spPr>
        <p:txBody>
          <a:bodyPr anchor="t" rtlCol="false" tIns="0" lIns="0" bIns="0" rIns="0">
            <a:spAutoFit/>
          </a:bodyPr>
          <a:lstStyle/>
          <a:p>
            <a:pPr algn="ctr">
              <a:lnSpc>
                <a:spcPts val="3079"/>
              </a:lnSpc>
              <a:spcBef>
                <a:spcPct val="0"/>
              </a:spcBef>
            </a:pPr>
            <a:r>
              <a:rPr lang="en-US" sz="2199">
                <a:solidFill>
                  <a:srgbClr val="FAFAFA"/>
                </a:solidFill>
                <a:latin typeface="Raleway"/>
                <a:ea typeface="Raleway"/>
                <a:cs typeface="Raleway"/>
                <a:sym typeface="Raleway"/>
              </a:rPr>
              <a:t>About Us</a:t>
            </a:r>
          </a:p>
        </p:txBody>
      </p:sp>
      <p:sp>
        <p:nvSpPr>
          <p:cNvPr name="TextBox 14" id="14"/>
          <p:cNvSpPr txBox="true"/>
          <p:nvPr/>
        </p:nvSpPr>
        <p:spPr>
          <a:xfrm rot="0">
            <a:off x="11400952" y="988705"/>
            <a:ext cx="1674231" cy="382270"/>
          </a:xfrm>
          <a:prstGeom prst="rect">
            <a:avLst/>
          </a:prstGeom>
        </p:spPr>
        <p:txBody>
          <a:bodyPr anchor="t" rtlCol="false" tIns="0" lIns="0" bIns="0" rIns="0">
            <a:spAutoFit/>
          </a:bodyPr>
          <a:lstStyle/>
          <a:p>
            <a:pPr algn="ctr">
              <a:lnSpc>
                <a:spcPts val="3079"/>
              </a:lnSpc>
              <a:spcBef>
                <a:spcPct val="0"/>
              </a:spcBef>
            </a:pPr>
            <a:r>
              <a:rPr lang="en-US" sz="2199">
                <a:solidFill>
                  <a:srgbClr val="FAFAFA"/>
                </a:solidFill>
                <a:latin typeface="Raleway"/>
                <a:ea typeface="Raleway"/>
                <a:cs typeface="Raleway"/>
                <a:sym typeface="Raleway"/>
              </a:rPr>
              <a:t>Contact</a:t>
            </a:r>
          </a:p>
        </p:txBody>
      </p:sp>
      <p:sp>
        <p:nvSpPr>
          <p:cNvPr name="TextBox 15" id="15"/>
          <p:cNvSpPr txBox="true"/>
          <p:nvPr/>
        </p:nvSpPr>
        <p:spPr>
          <a:xfrm rot="0">
            <a:off x="9683624" y="988705"/>
            <a:ext cx="1408538" cy="382270"/>
          </a:xfrm>
          <a:prstGeom prst="rect">
            <a:avLst/>
          </a:prstGeom>
        </p:spPr>
        <p:txBody>
          <a:bodyPr anchor="t" rtlCol="false" tIns="0" lIns="0" bIns="0" rIns="0">
            <a:spAutoFit/>
          </a:bodyPr>
          <a:lstStyle/>
          <a:p>
            <a:pPr algn="ctr">
              <a:lnSpc>
                <a:spcPts val="3079"/>
              </a:lnSpc>
              <a:spcBef>
                <a:spcPct val="0"/>
              </a:spcBef>
            </a:pPr>
            <a:r>
              <a:rPr lang="en-US" b="true" sz="2199">
                <a:solidFill>
                  <a:srgbClr val="FAFAFA"/>
                </a:solidFill>
                <a:latin typeface="Raleway Bold"/>
                <a:ea typeface="Raleway Bold"/>
                <a:cs typeface="Raleway Bold"/>
                <a:sym typeface="Raleway Bold"/>
              </a:rPr>
              <a:t>Service</a:t>
            </a:r>
          </a:p>
        </p:txBody>
      </p:sp>
      <p:sp>
        <p:nvSpPr>
          <p:cNvPr name="TextBox 16" id="16"/>
          <p:cNvSpPr txBox="true"/>
          <p:nvPr/>
        </p:nvSpPr>
        <p:spPr>
          <a:xfrm rot="0">
            <a:off x="1016848" y="2139128"/>
            <a:ext cx="4148681" cy="1286647"/>
          </a:xfrm>
          <a:prstGeom prst="rect">
            <a:avLst/>
          </a:prstGeom>
        </p:spPr>
        <p:txBody>
          <a:bodyPr anchor="t" rtlCol="false" tIns="0" lIns="0" bIns="0" rIns="0">
            <a:spAutoFit/>
          </a:bodyPr>
          <a:lstStyle/>
          <a:p>
            <a:pPr algn="l">
              <a:lnSpc>
                <a:spcPts val="4938"/>
              </a:lnSpc>
            </a:pPr>
            <a:r>
              <a:rPr lang="en-US" b="true" sz="4658">
                <a:solidFill>
                  <a:srgbClr val="000000"/>
                </a:solidFill>
                <a:latin typeface="Raleway Heavy"/>
                <a:ea typeface="Raleway Heavy"/>
                <a:cs typeface="Raleway Heavy"/>
                <a:sym typeface="Raleway Heavy"/>
              </a:rPr>
              <a:t>ADDRESSING </a:t>
            </a:r>
            <a:r>
              <a:rPr lang="en-US" b="true" sz="4658">
                <a:solidFill>
                  <a:srgbClr val="004CA6"/>
                </a:solidFill>
                <a:latin typeface="Raleway Heavy"/>
                <a:ea typeface="Raleway Heavy"/>
                <a:cs typeface="Raleway Heavy"/>
                <a:sym typeface="Raleway Heavy"/>
              </a:rPr>
              <a:t>TABLE</a:t>
            </a:r>
          </a:p>
        </p:txBody>
      </p:sp>
      <p:sp>
        <p:nvSpPr>
          <p:cNvPr name="TextBox 17" id="17"/>
          <p:cNvSpPr txBox="true"/>
          <p:nvPr/>
        </p:nvSpPr>
        <p:spPr>
          <a:xfrm rot="0">
            <a:off x="593686" y="3604938"/>
            <a:ext cx="4623630" cy="5944123"/>
          </a:xfrm>
          <a:prstGeom prst="rect">
            <a:avLst/>
          </a:prstGeom>
        </p:spPr>
        <p:txBody>
          <a:bodyPr anchor="t" rtlCol="false" tIns="0" lIns="0" bIns="0" rIns="0">
            <a:spAutoFit/>
          </a:bodyPr>
          <a:lstStyle/>
          <a:p>
            <a:pPr algn="l">
              <a:lnSpc>
                <a:spcPts val="3646"/>
              </a:lnSpc>
              <a:spcBef>
                <a:spcPct val="0"/>
              </a:spcBef>
            </a:pPr>
            <a:r>
              <a:rPr lang="en-US" sz="2604" spc="-109">
                <a:solidFill>
                  <a:srgbClr val="000000"/>
                </a:solidFill>
                <a:latin typeface="Poppins"/>
                <a:ea typeface="Poppins"/>
                <a:cs typeface="Poppins"/>
                <a:sym typeface="Poppins"/>
              </a:rPr>
              <a:t>This addressing scheme was chosen for its </a:t>
            </a:r>
            <a:r>
              <a:rPr lang="en-US" b="true" sz="2604" spc="-109">
                <a:solidFill>
                  <a:srgbClr val="004CA6"/>
                </a:solidFill>
                <a:latin typeface="Poppins Bold"/>
                <a:ea typeface="Poppins Bold"/>
                <a:cs typeface="Poppins Bold"/>
                <a:sym typeface="Poppins Bold"/>
              </a:rPr>
              <a:t>logical, scalable, and secure design</a:t>
            </a:r>
            <a:r>
              <a:rPr lang="en-US" sz="2604" spc="-109">
                <a:solidFill>
                  <a:srgbClr val="000000"/>
                </a:solidFill>
                <a:latin typeface="Poppins"/>
                <a:ea typeface="Poppins"/>
                <a:cs typeface="Poppins"/>
                <a:sym typeface="Poppins"/>
              </a:rPr>
              <a:t>. It u</a:t>
            </a:r>
            <a:r>
              <a:rPr lang="en-US" sz="2604" spc="-109">
                <a:solidFill>
                  <a:srgbClr val="000000"/>
                </a:solidFill>
                <a:latin typeface="Poppins"/>
                <a:ea typeface="Poppins"/>
                <a:cs typeface="Poppins"/>
                <a:sym typeface="Poppins"/>
              </a:rPr>
              <a:t>se</a:t>
            </a:r>
            <a:r>
              <a:rPr lang="en-US" sz="2604" spc="-109">
                <a:solidFill>
                  <a:srgbClr val="000000"/>
                </a:solidFill>
                <a:latin typeface="Poppins"/>
                <a:ea typeface="Poppins"/>
                <a:cs typeface="Poppins"/>
                <a:sym typeface="Poppins"/>
              </a:rPr>
              <a:t>s the </a:t>
            </a:r>
            <a:r>
              <a:rPr lang="en-US" sz="2604" spc="-109">
                <a:solidFill>
                  <a:srgbClr val="000000"/>
                </a:solidFill>
                <a:latin typeface="Poppins"/>
                <a:ea typeface="Poppins"/>
                <a:cs typeface="Poppins"/>
                <a:sym typeface="Poppins"/>
              </a:rPr>
              <a:t>pr</a:t>
            </a:r>
            <a:r>
              <a:rPr lang="en-US" sz="2604" spc="-109">
                <a:solidFill>
                  <a:srgbClr val="000000"/>
                </a:solidFill>
                <a:latin typeface="Poppins"/>
                <a:ea typeface="Poppins"/>
                <a:cs typeface="Poppins"/>
                <a:sym typeface="Poppins"/>
              </a:rPr>
              <a:t>iv</a:t>
            </a:r>
            <a:r>
              <a:rPr lang="en-US" sz="2604" spc="-109">
                <a:solidFill>
                  <a:srgbClr val="000000"/>
                </a:solidFill>
                <a:latin typeface="Poppins"/>
                <a:ea typeface="Poppins"/>
                <a:cs typeface="Poppins"/>
                <a:sym typeface="Poppins"/>
              </a:rPr>
              <a:t>ate </a:t>
            </a:r>
            <a:r>
              <a:rPr lang="en-US" b="true" sz="2604" spc="-109">
                <a:solidFill>
                  <a:srgbClr val="004CA6"/>
                </a:solidFill>
                <a:latin typeface="Poppins Bold"/>
                <a:ea typeface="Poppins Bold"/>
                <a:cs typeface="Poppins Bold"/>
                <a:sym typeface="Poppins Bold"/>
              </a:rPr>
              <a:t>10.20.x.x</a:t>
            </a:r>
            <a:r>
              <a:rPr lang="en-US" sz="2604" spc="-109">
                <a:solidFill>
                  <a:srgbClr val="000000"/>
                </a:solidFill>
                <a:latin typeface="Poppins"/>
                <a:ea typeface="Poppins"/>
                <a:cs typeface="Poppins"/>
                <a:sym typeface="Poppins"/>
              </a:rPr>
              <a:t> range with a</a:t>
            </a:r>
            <a:r>
              <a:rPr lang="en-US" sz="2604" spc="-109">
                <a:solidFill>
                  <a:srgbClr val="000000"/>
                </a:solidFill>
                <a:latin typeface="Poppins"/>
                <a:ea typeface="Poppins"/>
                <a:cs typeface="Poppins"/>
                <a:sym typeface="Poppins"/>
              </a:rPr>
              <a:t> </a:t>
            </a:r>
            <a:r>
              <a:rPr lang="en-US" sz="2604" spc="-109">
                <a:solidFill>
                  <a:srgbClr val="000000"/>
                </a:solidFill>
                <a:latin typeface="Poppins"/>
                <a:ea typeface="Poppins"/>
                <a:cs typeface="Poppins"/>
                <a:sym typeface="Poppins"/>
              </a:rPr>
              <a:t>cons</a:t>
            </a:r>
            <a:r>
              <a:rPr lang="en-US" sz="2604" spc="-109">
                <a:solidFill>
                  <a:srgbClr val="000000"/>
                </a:solidFill>
                <a:latin typeface="Poppins"/>
                <a:ea typeface="Poppins"/>
                <a:cs typeface="Poppins"/>
                <a:sym typeface="Poppins"/>
              </a:rPr>
              <a:t>i</a:t>
            </a:r>
            <a:r>
              <a:rPr lang="en-US" sz="2604" spc="-109">
                <a:solidFill>
                  <a:srgbClr val="000000"/>
                </a:solidFill>
                <a:latin typeface="Poppins"/>
                <a:ea typeface="Poppins"/>
                <a:cs typeface="Poppins"/>
                <a:sym typeface="Poppins"/>
              </a:rPr>
              <a:t>s</a:t>
            </a:r>
            <a:r>
              <a:rPr lang="en-US" sz="2604" spc="-109">
                <a:solidFill>
                  <a:srgbClr val="000000"/>
                </a:solidFill>
                <a:latin typeface="Poppins"/>
                <a:ea typeface="Poppins"/>
                <a:cs typeface="Poppins"/>
                <a:sym typeface="Poppins"/>
              </a:rPr>
              <a:t>t</a:t>
            </a:r>
            <a:r>
              <a:rPr lang="en-US" sz="2604" spc="-109">
                <a:solidFill>
                  <a:srgbClr val="000000"/>
                </a:solidFill>
                <a:latin typeface="Poppins"/>
                <a:ea typeface="Poppins"/>
                <a:cs typeface="Poppins"/>
                <a:sym typeface="Poppins"/>
              </a:rPr>
              <a:t>ent </a:t>
            </a:r>
            <a:r>
              <a:rPr lang="en-US" b="true" sz="2604" spc="-109">
                <a:solidFill>
                  <a:srgbClr val="004CA6"/>
                </a:solidFill>
                <a:latin typeface="Poppins Bold"/>
                <a:ea typeface="Poppins Bold"/>
                <a:cs typeface="Poppins Bold"/>
                <a:sym typeface="Poppins Bold"/>
              </a:rPr>
              <a:t>/24</a:t>
            </a:r>
            <a:r>
              <a:rPr lang="en-US" sz="2604" spc="-109">
                <a:solidFill>
                  <a:srgbClr val="000000"/>
                </a:solidFill>
                <a:latin typeface="Poppins"/>
                <a:ea typeface="Poppins"/>
                <a:cs typeface="Poppins"/>
                <a:sym typeface="Poppins"/>
              </a:rPr>
              <a:t> </a:t>
            </a:r>
            <a:r>
              <a:rPr lang="en-US" sz="2604" spc="-109">
                <a:solidFill>
                  <a:srgbClr val="000000"/>
                </a:solidFill>
                <a:latin typeface="Poppins"/>
                <a:ea typeface="Poppins"/>
                <a:cs typeface="Poppins"/>
                <a:sym typeface="Poppins"/>
              </a:rPr>
              <a:t>s</a:t>
            </a:r>
            <a:r>
              <a:rPr lang="en-US" sz="2604" spc="-109">
                <a:solidFill>
                  <a:srgbClr val="000000"/>
                </a:solidFill>
                <a:latin typeface="Poppins"/>
                <a:ea typeface="Poppins"/>
                <a:cs typeface="Poppins"/>
                <a:sym typeface="Poppins"/>
              </a:rPr>
              <a:t>ubnet</a:t>
            </a:r>
            <a:r>
              <a:rPr lang="en-US" sz="2604" spc="-109" strike="noStrike" u="none">
                <a:solidFill>
                  <a:srgbClr val="000000"/>
                </a:solidFill>
                <a:latin typeface="Poppins"/>
                <a:ea typeface="Poppins"/>
                <a:cs typeface="Poppins"/>
                <a:sym typeface="Poppins"/>
              </a:rPr>
              <a:t> </a:t>
            </a:r>
            <a:r>
              <a:rPr lang="en-US" sz="2604" spc="-109" strike="noStrike" u="none">
                <a:solidFill>
                  <a:srgbClr val="000000"/>
                </a:solidFill>
                <a:latin typeface="Poppins"/>
                <a:ea typeface="Poppins"/>
                <a:cs typeface="Poppins"/>
                <a:sym typeface="Poppins"/>
              </a:rPr>
              <a:t>mask, </a:t>
            </a:r>
            <a:r>
              <a:rPr lang="en-US" sz="2604" spc="-109" strike="noStrike" u="none">
                <a:solidFill>
                  <a:srgbClr val="000000"/>
                </a:solidFill>
                <a:latin typeface="Poppins"/>
                <a:ea typeface="Poppins"/>
                <a:cs typeface="Poppins"/>
                <a:sym typeface="Poppins"/>
              </a:rPr>
              <a:t>w</a:t>
            </a:r>
            <a:r>
              <a:rPr lang="en-US" sz="2604" spc="-109" strike="noStrike" u="none">
                <a:solidFill>
                  <a:srgbClr val="000000"/>
                </a:solidFill>
                <a:latin typeface="Poppins"/>
                <a:ea typeface="Poppins"/>
                <a:cs typeface="Poppins"/>
                <a:sym typeface="Poppins"/>
              </a:rPr>
              <a:t>hich</a:t>
            </a:r>
            <a:r>
              <a:rPr lang="en-US" sz="2604" spc="-109" strike="noStrike" u="none">
                <a:solidFill>
                  <a:srgbClr val="000000"/>
                </a:solidFill>
                <a:latin typeface="Poppins"/>
                <a:ea typeface="Poppins"/>
                <a:cs typeface="Poppins"/>
                <a:sym typeface="Poppins"/>
              </a:rPr>
              <a:t> </a:t>
            </a:r>
            <a:r>
              <a:rPr lang="en-US" sz="2604" spc="-109" strike="noStrike" u="none">
                <a:solidFill>
                  <a:srgbClr val="000000"/>
                </a:solidFill>
                <a:latin typeface="Poppins"/>
                <a:ea typeface="Poppins"/>
                <a:cs typeface="Poppins"/>
                <a:sym typeface="Poppins"/>
              </a:rPr>
              <a:t>provi</a:t>
            </a:r>
            <a:r>
              <a:rPr lang="en-US" sz="2604" spc="-109" strike="noStrike" u="none">
                <a:solidFill>
                  <a:srgbClr val="000000"/>
                </a:solidFill>
                <a:latin typeface="Poppins"/>
                <a:ea typeface="Poppins"/>
                <a:cs typeface="Poppins"/>
                <a:sym typeface="Poppins"/>
              </a:rPr>
              <a:t>de</a:t>
            </a:r>
            <a:r>
              <a:rPr lang="en-US" sz="2604" spc="-109" strike="noStrike" u="none">
                <a:solidFill>
                  <a:srgbClr val="000000"/>
                </a:solidFill>
                <a:latin typeface="Poppins"/>
                <a:ea typeface="Poppins"/>
                <a:cs typeface="Poppins"/>
                <a:sym typeface="Poppins"/>
              </a:rPr>
              <a:t>s 254 usable a</a:t>
            </a:r>
            <a:r>
              <a:rPr lang="en-US" sz="2604" spc="-109" strike="noStrike" u="none">
                <a:solidFill>
                  <a:srgbClr val="000000"/>
                </a:solidFill>
                <a:latin typeface="Poppins"/>
                <a:ea typeface="Poppins"/>
                <a:cs typeface="Poppins"/>
                <a:sym typeface="Poppins"/>
              </a:rPr>
              <a:t>d</a:t>
            </a:r>
            <a:r>
              <a:rPr lang="en-US" sz="2604" spc="-109" strike="noStrike" u="none">
                <a:solidFill>
                  <a:srgbClr val="000000"/>
                </a:solidFill>
                <a:latin typeface="Poppins"/>
                <a:ea typeface="Poppins"/>
                <a:cs typeface="Poppins"/>
                <a:sym typeface="Poppins"/>
              </a:rPr>
              <a:t>dresses per lo</a:t>
            </a:r>
            <a:r>
              <a:rPr lang="en-US" sz="2604" spc="-109" strike="noStrike" u="none">
                <a:solidFill>
                  <a:srgbClr val="000000"/>
                </a:solidFill>
                <a:latin typeface="Poppins"/>
                <a:ea typeface="Poppins"/>
                <a:cs typeface="Poppins"/>
                <a:sym typeface="Poppins"/>
              </a:rPr>
              <a:t>cat</a:t>
            </a:r>
            <a:r>
              <a:rPr lang="en-US" sz="2604" spc="-109" strike="noStrike" u="none">
                <a:solidFill>
                  <a:srgbClr val="000000"/>
                </a:solidFill>
                <a:latin typeface="Poppins"/>
                <a:ea typeface="Poppins"/>
                <a:cs typeface="Poppins"/>
                <a:sym typeface="Poppins"/>
              </a:rPr>
              <a:t>ion—</a:t>
            </a:r>
            <a:r>
              <a:rPr lang="en-US" sz="2604" spc="-109" strike="noStrike" u="none">
                <a:solidFill>
                  <a:srgbClr val="000000"/>
                </a:solidFill>
                <a:latin typeface="Poppins"/>
                <a:ea typeface="Poppins"/>
                <a:cs typeface="Poppins"/>
                <a:sym typeface="Poppins"/>
              </a:rPr>
              <a:t>e</a:t>
            </a:r>
            <a:r>
              <a:rPr lang="en-US" sz="2604" spc="-109" strike="noStrike" u="none">
                <a:solidFill>
                  <a:srgbClr val="000000"/>
                </a:solidFill>
                <a:latin typeface="Poppins"/>
                <a:ea typeface="Poppins"/>
                <a:cs typeface="Poppins"/>
                <a:sym typeface="Poppins"/>
              </a:rPr>
              <a:t>nough for a room full of </a:t>
            </a:r>
            <a:r>
              <a:rPr lang="en-US" sz="2604" spc="-109" strike="noStrike" u="none">
                <a:solidFill>
                  <a:srgbClr val="000000"/>
                </a:solidFill>
                <a:latin typeface="Poppins"/>
                <a:ea typeface="Poppins"/>
                <a:cs typeface="Poppins"/>
                <a:sym typeface="Poppins"/>
              </a:rPr>
              <a:t>d</a:t>
            </a:r>
            <a:r>
              <a:rPr lang="en-US" sz="2604" spc="-109" strike="noStrike" u="none">
                <a:solidFill>
                  <a:srgbClr val="000000"/>
                </a:solidFill>
                <a:latin typeface="Poppins"/>
                <a:ea typeface="Poppins"/>
                <a:cs typeface="Poppins"/>
                <a:sym typeface="Poppins"/>
              </a:rPr>
              <a:t>evices</a:t>
            </a:r>
            <a:r>
              <a:rPr lang="en-US" sz="2604" spc="-109" strike="noStrike" u="none">
                <a:solidFill>
                  <a:srgbClr val="000000"/>
                </a:solidFill>
                <a:latin typeface="Poppins"/>
                <a:ea typeface="Poppins"/>
                <a:cs typeface="Poppins"/>
                <a:sym typeface="Poppins"/>
              </a:rPr>
              <a:t> </a:t>
            </a:r>
            <a:r>
              <a:rPr lang="en-US" sz="2604" spc="-109" strike="noStrike" u="none">
                <a:solidFill>
                  <a:srgbClr val="000000"/>
                </a:solidFill>
                <a:latin typeface="Poppins"/>
                <a:ea typeface="Poppins"/>
                <a:cs typeface="Poppins"/>
                <a:sym typeface="Poppins"/>
              </a:rPr>
              <a:t>whil</a:t>
            </a:r>
            <a:r>
              <a:rPr lang="en-US" sz="2604" spc="-109" strike="noStrike" u="none">
                <a:solidFill>
                  <a:srgbClr val="000000"/>
                </a:solidFill>
                <a:latin typeface="Poppins"/>
                <a:ea typeface="Poppins"/>
                <a:cs typeface="Poppins"/>
                <a:sym typeface="Poppins"/>
              </a:rPr>
              <a:t>e </a:t>
            </a:r>
            <a:r>
              <a:rPr lang="en-US" sz="2604" spc="-109" strike="noStrike" u="none">
                <a:solidFill>
                  <a:srgbClr val="000000"/>
                </a:solidFill>
                <a:latin typeface="Poppins"/>
                <a:ea typeface="Poppins"/>
                <a:cs typeface="Poppins"/>
                <a:sym typeface="Poppins"/>
              </a:rPr>
              <a:t>k</a:t>
            </a:r>
            <a:r>
              <a:rPr lang="en-US" sz="2604" spc="-109" strike="noStrike" u="none">
                <a:solidFill>
                  <a:srgbClr val="000000"/>
                </a:solidFill>
                <a:latin typeface="Poppins"/>
                <a:ea typeface="Poppins"/>
                <a:cs typeface="Poppins"/>
                <a:sym typeface="Poppins"/>
              </a:rPr>
              <a:t>ee</a:t>
            </a:r>
            <a:r>
              <a:rPr lang="en-US" sz="2604" spc="-109" strike="noStrike" u="none">
                <a:solidFill>
                  <a:srgbClr val="000000"/>
                </a:solidFill>
                <a:latin typeface="Poppins"/>
                <a:ea typeface="Poppins"/>
                <a:cs typeface="Poppins"/>
                <a:sym typeface="Poppins"/>
              </a:rPr>
              <a:t>ping</a:t>
            </a:r>
            <a:r>
              <a:rPr lang="en-US" sz="2604" spc="-109" strike="noStrike" u="none">
                <a:solidFill>
                  <a:srgbClr val="000000"/>
                </a:solidFill>
                <a:latin typeface="Poppins"/>
                <a:ea typeface="Poppins"/>
                <a:cs typeface="Poppins"/>
                <a:sym typeface="Poppins"/>
              </a:rPr>
              <a:t> traffic manageable.</a:t>
            </a:r>
          </a:p>
          <a:p>
            <a:pPr algn="l">
              <a:lnSpc>
                <a:spcPts val="3646"/>
              </a:lnSpc>
              <a:spcBef>
                <a:spcPct val="0"/>
              </a:spcBef>
            </a:pPr>
            <a:r>
              <a:rPr lang="en-US" sz="2604" spc="-109" strike="noStrike" u="none">
                <a:solidFill>
                  <a:srgbClr val="000000"/>
                </a:solidFill>
                <a:latin typeface="Poppins"/>
                <a:ea typeface="Poppins"/>
                <a:cs typeface="Poppins"/>
                <a:sym typeface="Poppins"/>
              </a:rPr>
              <a:t>The core strategy is using the third octet as a location identifier. </a:t>
            </a:r>
          </a:p>
        </p:txBody>
      </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bg>
      <p:bgPr>
        <a:solidFill>
          <a:srgbClr val="FAFAFA"/>
        </a:solidFill>
      </p:bgPr>
    </p:bg>
    <p:spTree>
      <p:nvGrpSpPr>
        <p:cNvPr id="1" name=""/>
        <p:cNvGrpSpPr/>
        <p:nvPr/>
      </p:nvGrpSpPr>
      <p:grpSpPr>
        <a:xfrm>
          <a:off x="0" y="0"/>
          <a:ext cx="0" cy="0"/>
          <a:chOff x="0" y="0"/>
          <a:chExt cx="0" cy="0"/>
        </a:xfrm>
      </p:grpSpPr>
      <p:grpSp>
        <p:nvGrpSpPr>
          <p:cNvPr name="Group 2" id="2"/>
          <p:cNvGrpSpPr/>
          <p:nvPr/>
        </p:nvGrpSpPr>
        <p:grpSpPr>
          <a:xfrm rot="0">
            <a:off x="1016848" y="810138"/>
            <a:ext cx="16242452" cy="787029"/>
            <a:chOff x="0" y="0"/>
            <a:chExt cx="4277847" cy="207283"/>
          </a:xfrm>
        </p:grpSpPr>
        <p:sp>
          <p:nvSpPr>
            <p:cNvPr name="Freeform 3" id="3"/>
            <p:cNvSpPr/>
            <p:nvPr/>
          </p:nvSpPr>
          <p:spPr>
            <a:xfrm flipH="false" flipV="false" rot="0">
              <a:off x="0" y="0"/>
              <a:ext cx="4277847" cy="207283"/>
            </a:xfrm>
            <a:custGeom>
              <a:avLst/>
              <a:gdLst/>
              <a:ahLst/>
              <a:cxnLst/>
              <a:rect r="r" b="b" t="t" l="l"/>
              <a:pathLst>
                <a:path h="207283" w="4277847">
                  <a:moveTo>
                    <a:pt x="24309" y="0"/>
                  </a:moveTo>
                  <a:lnTo>
                    <a:pt x="4253538" y="0"/>
                  </a:lnTo>
                  <a:cubicBezTo>
                    <a:pt x="4259986" y="0"/>
                    <a:pt x="4266169" y="2561"/>
                    <a:pt x="4270727" y="7120"/>
                  </a:cubicBezTo>
                  <a:cubicBezTo>
                    <a:pt x="4275286" y="11679"/>
                    <a:pt x="4277847" y="17862"/>
                    <a:pt x="4277847" y="24309"/>
                  </a:cubicBezTo>
                  <a:lnTo>
                    <a:pt x="4277847" y="182974"/>
                  </a:lnTo>
                  <a:cubicBezTo>
                    <a:pt x="4277847" y="196400"/>
                    <a:pt x="4266964" y="207283"/>
                    <a:pt x="4253538" y="207283"/>
                  </a:cubicBezTo>
                  <a:lnTo>
                    <a:pt x="24309" y="207283"/>
                  </a:lnTo>
                  <a:cubicBezTo>
                    <a:pt x="17862" y="207283"/>
                    <a:pt x="11679" y="204722"/>
                    <a:pt x="7120" y="200163"/>
                  </a:cubicBezTo>
                  <a:cubicBezTo>
                    <a:pt x="2561" y="195605"/>
                    <a:pt x="0" y="189422"/>
                    <a:pt x="0" y="182974"/>
                  </a:cubicBezTo>
                  <a:lnTo>
                    <a:pt x="0" y="24309"/>
                  </a:lnTo>
                  <a:cubicBezTo>
                    <a:pt x="0" y="10884"/>
                    <a:pt x="10884" y="0"/>
                    <a:pt x="24309" y="0"/>
                  </a:cubicBezTo>
                  <a:close/>
                </a:path>
              </a:pathLst>
            </a:custGeom>
            <a:solidFill>
              <a:srgbClr val="084DA3"/>
            </a:solidFill>
          </p:spPr>
        </p:sp>
        <p:sp>
          <p:nvSpPr>
            <p:cNvPr name="TextBox 4" id="4"/>
            <p:cNvSpPr txBox="true"/>
            <p:nvPr/>
          </p:nvSpPr>
          <p:spPr>
            <a:xfrm>
              <a:off x="0" y="-47625"/>
              <a:ext cx="4277847" cy="254908"/>
            </a:xfrm>
            <a:prstGeom prst="rect">
              <a:avLst/>
            </a:prstGeom>
          </p:spPr>
          <p:txBody>
            <a:bodyPr anchor="ctr" rtlCol="false" tIns="50800" lIns="50800" bIns="50800" rIns="50800"/>
            <a:lstStyle/>
            <a:p>
              <a:pPr algn="ctr">
                <a:lnSpc>
                  <a:spcPts val="3079"/>
                </a:lnSpc>
              </a:pPr>
            </a:p>
          </p:txBody>
        </p:sp>
      </p:grpSp>
      <p:grpSp>
        <p:nvGrpSpPr>
          <p:cNvPr name="Group 5" id="5"/>
          <p:cNvGrpSpPr/>
          <p:nvPr/>
        </p:nvGrpSpPr>
        <p:grpSpPr>
          <a:xfrm rot="0">
            <a:off x="14453926" y="925677"/>
            <a:ext cx="2673290" cy="555951"/>
            <a:chOff x="0" y="0"/>
            <a:chExt cx="704076" cy="146423"/>
          </a:xfrm>
        </p:grpSpPr>
        <p:sp>
          <p:nvSpPr>
            <p:cNvPr name="Freeform 6" id="6"/>
            <p:cNvSpPr/>
            <p:nvPr/>
          </p:nvSpPr>
          <p:spPr>
            <a:xfrm flipH="false" flipV="false" rot="0">
              <a:off x="0" y="0"/>
              <a:ext cx="704076" cy="146423"/>
            </a:xfrm>
            <a:custGeom>
              <a:avLst/>
              <a:gdLst/>
              <a:ahLst/>
              <a:cxnLst/>
              <a:rect r="r" b="b" t="t" l="l"/>
              <a:pathLst>
                <a:path h="146423" w="704076">
                  <a:moveTo>
                    <a:pt x="73212" y="0"/>
                  </a:moveTo>
                  <a:lnTo>
                    <a:pt x="630865" y="0"/>
                  </a:lnTo>
                  <a:cubicBezTo>
                    <a:pt x="650282" y="0"/>
                    <a:pt x="668903" y="7713"/>
                    <a:pt x="682633" y="21443"/>
                  </a:cubicBezTo>
                  <a:cubicBezTo>
                    <a:pt x="696363" y="35173"/>
                    <a:pt x="704076" y="53795"/>
                    <a:pt x="704076" y="73212"/>
                  </a:cubicBezTo>
                  <a:lnTo>
                    <a:pt x="704076" y="73212"/>
                  </a:lnTo>
                  <a:cubicBezTo>
                    <a:pt x="704076" y="113645"/>
                    <a:pt x="671298" y="146423"/>
                    <a:pt x="630865" y="146423"/>
                  </a:cubicBezTo>
                  <a:lnTo>
                    <a:pt x="73212" y="146423"/>
                  </a:lnTo>
                  <a:cubicBezTo>
                    <a:pt x="32778" y="146423"/>
                    <a:pt x="0" y="113645"/>
                    <a:pt x="0" y="73212"/>
                  </a:cubicBezTo>
                  <a:lnTo>
                    <a:pt x="0" y="73212"/>
                  </a:lnTo>
                  <a:cubicBezTo>
                    <a:pt x="0" y="32778"/>
                    <a:pt x="32778" y="0"/>
                    <a:pt x="73212" y="0"/>
                  </a:cubicBezTo>
                  <a:close/>
                </a:path>
              </a:pathLst>
            </a:custGeom>
            <a:solidFill>
              <a:srgbClr val="FAFAFA"/>
            </a:solidFill>
          </p:spPr>
        </p:sp>
        <p:sp>
          <p:nvSpPr>
            <p:cNvPr name="TextBox 7" id="7"/>
            <p:cNvSpPr txBox="true"/>
            <p:nvPr/>
          </p:nvSpPr>
          <p:spPr>
            <a:xfrm>
              <a:off x="0" y="-47625"/>
              <a:ext cx="704076" cy="194048"/>
            </a:xfrm>
            <a:prstGeom prst="rect">
              <a:avLst/>
            </a:prstGeom>
          </p:spPr>
          <p:txBody>
            <a:bodyPr anchor="ctr" rtlCol="false" tIns="50800" lIns="50800" bIns="50800" rIns="50800"/>
            <a:lstStyle/>
            <a:p>
              <a:pPr algn="ctr">
                <a:lnSpc>
                  <a:spcPts val="3079"/>
                </a:lnSpc>
              </a:pPr>
            </a:p>
          </p:txBody>
        </p:sp>
      </p:grpSp>
      <p:sp>
        <p:nvSpPr>
          <p:cNvPr name="Freeform 8" id="8"/>
          <p:cNvSpPr/>
          <p:nvPr/>
        </p:nvSpPr>
        <p:spPr>
          <a:xfrm flipH="false" flipV="false" rot="0">
            <a:off x="16654546" y="1056159"/>
            <a:ext cx="294987" cy="294987"/>
          </a:xfrm>
          <a:custGeom>
            <a:avLst/>
            <a:gdLst/>
            <a:ahLst/>
            <a:cxnLst/>
            <a:rect r="r" b="b" t="t" l="l"/>
            <a:pathLst>
              <a:path h="294987" w="294987">
                <a:moveTo>
                  <a:pt x="0" y="0"/>
                </a:moveTo>
                <a:lnTo>
                  <a:pt x="294987" y="0"/>
                </a:lnTo>
                <a:lnTo>
                  <a:pt x="294987" y="294987"/>
                </a:lnTo>
                <a:lnTo>
                  <a:pt x="0" y="294987"/>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9" id="9"/>
          <p:cNvSpPr txBox="true"/>
          <p:nvPr/>
        </p:nvSpPr>
        <p:spPr>
          <a:xfrm rot="0">
            <a:off x="14789222" y="1012200"/>
            <a:ext cx="1674231" cy="358775"/>
          </a:xfrm>
          <a:prstGeom prst="rect">
            <a:avLst/>
          </a:prstGeom>
        </p:spPr>
        <p:txBody>
          <a:bodyPr anchor="t" rtlCol="false" tIns="0" lIns="0" bIns="0" rIns="0">
            <a:spAutoFit/>
          </a:bodyPr>
          <a:lstStyle/>
          <a:p>
            <a:pPr algn="l">
              <a:lnSpc>
                <a:spcPts val="2800"/>
              </a:lnSpc>
              <a:spcBef>
                <a:spcPct val="0"/>
              </a:spcBef>
            </a:pPr>
            <a:r>
              <a:rPr lang="en-US" sz="2000" i="true">
                <a:solidFill>
                  <a:srgbClr val="000000"/>
                </a:solidFill>
                <a:latin typeface="Raleway Italics"/>
                <a:ea typeface="Raleway Italics"/>
                <a:cs typeface="Raleway Italics"/>
                <a:sym typeface="Raleway Italics"/>
              </a:rPr>
              <a:t>Search. . .</a:t>
            </a:r>
          </a:p>
        </p:txBody>
      </p:sp>
      <p:sp>
        <p:nvSpPr>
          <p:cNvPr name="TextBox 10" id="10"/>
          <p:cNvSpPr txBox="true"/>
          <p:nvPr/>
        </p:nvSpPr>
        <p:spPr>
          <a:xfrm rot="0">
            <a:off x="5821584" y="988705"/>
            <a:ext cx="1472568" cy="382270"/>
          </a:xfrm>
          <a:prstGeom prst="rect">
            <a:avLst/>
          </a:prstGeom>
        </p:spPr>
        <p:txBody>
          <a:bodyPr anchor="t" rtlCol="false" tIns="0" lIns="0" bIns="0" rIns="0">
            <a:spAutoFit/>
          </a:bodyPr>
          <a:lstStyle/>
          <a:p>
            <a:pPr algn="ctr">
              <a:lnSpc>
                <a:spcPts val="3079"/>
              </a:lnSpc>
              <a:spcBef>
                <a:spcPct val="0"/>
              </a:spcBef>
            </a:pPr>
            <a:r>
              <a:rPr lang="en-US" sz="2199">
                <a:solidFill>
                  <a:srgbClr val="FAFAFA"/>
                </a:solidFill>
                <a:latin typeface="Raleway"/>
                <a:ea typeface="Raleway"/>
                <a:cs typeface="Raleway"/>
                <a:sym typeface="Raleway"/>
              </a:rPr>
              <a:t>Home</a:t>
            </a:r>
          </a:p>
        </p:txBody>
      </p:sp>
      <p:sp>
        <p:nvSpPr>
          <p:cNvPr name="TextBox 11" id="11"/>
          <p:cNvSpPr txBox="true"/>
          <p:nvPr/>
        </p:nvSpPr>
        <p:spPr>
          <a:xfrm rot="0">
            <a:off x="1477171" y="922665"/>
            <a:ext cx="1953638" cy="504826"/>
          </a:xfrm>
          <a:prstGeom prst="rect">
            <a:avLst/>
          </a:prstGeom>
        </p:spPr>
        <p:txBody>
          <a:bodyPr anchor="t" rtlCol="false" tIns="0" lIns="0" bIns="0" rIns="0">
            <a:spAutoFit/>
          </a:bodyPr>
          <a:lstStyle/>
          <a:p>
            <a:pPr algn="l">
              <a:lnSpc>
                <a:spcPts val="4199"/>
              </a:lnSpc>
              <a:spcBef>
                <a:spcPct val="0"/>
              </a:spcBef>
            </a:pPr>
            <a:r>
              <a:rPr lang="en-US" b="true" sz="2999">
                <a:solidFill>
                  <a:srgbClr val="FAFAFA"/>
                </a:solidFill>
                <a:latin typeface="Raleway Bold"/>
                <a:ea typeface="Raleway Bold"/>
                <a:cs typeface="Raleway Bold"/>
                <a:sym typeface="Raleway Bold"/>
              </a:rPr>
              <a:t>AeroNova </a:t>
            </a:r>
          </a:p>
        </p:txBody>
      </p:sp>
      <p:sp>
        <p:nvSpPr>
          <p:cNvPr name="TextBox 12" id="12"/>
          <p:cNvSpPr txBox="true"/>
          <p:nvPr/>
        </p:nvSpPr>
        <p:spPr>
          <a:xfrm rot="0">
            <a:off x="7602942" y="988705"/>
            <a:ext cx="1771891" cy="382270"/>
          </a:xfrm>
          <a:prstGeom prst="rect">
            <a:avLst/>
          </a:prstGeom>
        </p:spPr>
        <p:txBody>
          <a:bodyPr anchor="t" rtlCol="false" tIns="0" lIns="0" bIns="0" rIns="0">
            <a:spAutoFit/>
          </a:bodyPr>
          <a:lstStyle/>
          <a:p>
            <a:pPr algn="ctr">
              <a:lnSpc>
                <a:spcPts val="3079"/>
              </a:lnSpc>
              <a:spcBef>
                <a:spcPct val="0"/>
              </a:spcBef>
            </a:pPr>
            <a:r>
              <a:rPr lang="en-US" sz="2199">
                <a:solidFill>
                  <a:srgbClr val="FAFAFA"/>
                </a:solidFill>
                <a:latin typeface="Raleway"/>
                <a:ea typeface="Raleway"/>
                <a:cs typeface="Raleway"/>
                <a:sym typeface="Raleway"/>
              </a:rPr>
              <a:t>About Us</a:t>
            </a:r>
          </a:p>
        </p:txBody>
      </p:sp>
      <p:sp>
        <p:nvSpPr>
          <p:cNvPr name="TextBox 13" id="13"/>
          <p:cNvSpPr txBox="true"/>
          <p:nvPr/>
        </p:nvSpPr>
        <p:spPr>
          <a:xfrm rot="0">
            <a:off x="11400952" y="988705"/>
            <a:ext cx="1674231" cy="382270"/>
          </a:xfrm>
          <a:prstGeom prst="rect">
            <a:avLst/>
          </a:prstGeom>
        </p:spPr>
        <p:txBody>
          <a:bodyPr anchor="t" rtlCol="false" tIns="0" lIns="0" bIns="0" rIns="0">
            <a:spAutoFit/>
          </a:bodyPr>
          <a:lstStyle/>
          <a:p>
            <a:pPr algn="ctr">
              <a:lnSpc>
                <a:spcPts val="3079"/>
              </a:lnSpc>
              <a:spcBef>
                <a:spcPct val="0"/>
              </a:spcBef>
            </a:pPr>
            <a:r>
              <a:rPr lang="en-US" sz="2199">
                <a:solidFill>
                  <a:srgbClr val="FAFAFA"/>
                </a:solidFill>
                <a:latin typeface="Raleway"/>
                <a:ea typeface="Raleway"/>
                <a:cs typeface="Raleway"/>
                <a:sym typeface="Raleway"/>
              </a:rPr>
              <a:t>Contact</a:t>
            </a:r>
          </a:p>
        </p:txBody>
      </p:sp>
      <p:sp>
        <p:nvSpPr>
          <p:cNvPr name="TextBox 14" id="14"/>
          <p:cNvSpPr txBox="true"/>
          <p:nvPr/>
        </p:nvSpPr>
        <p:spPr>
          <a:xfrm rot="0">
            <a:off x="9683624" y="988705"/>
            <a:ext cx="1408538" cy="382270"/>
          </a:xfrm>
          <a:prstGeom prst="rect">
            <a:avLst/>
          </a:prstGeom>
        </p:spPr>
        <p:txBody>
          <a:bodyPr anchor="t" rtlCol="false" tIns="0" lIns="0" bIns="0" rIns="0">
            <a:spAutoFit/>
          </a:bodyPr>
          <a:lstStyle/>
          <a:p>
            <a:pPr algn="ctr">
              <a:lnSpc>
                <a:spcPts val="3079"/>
              </a:lnSpc>
              <a:spcBef>
                <a:spcPct val="0"/>
              </a:spcBef>
            </a:pPr>
            <a:r>
              <a:rPr lang="en-US" b="true" sz="2199">
                <a:solidFill>
                  <a:srgbClr val="FAFAFA"/>
                </a:solidFill>
                <a:latin typeface="Raleway Bold"/>
                <a:ea typeface="Raleway Bold"/>
                <a:cs typeface="Raleway Bold"/>
                <a:sym typeface="Raleway Bold"/>
              </a:rPr>
              <a:t>Service</a:t>
            </a:r>
          </a:p>
        </p:txBody>
      </p:sp>
      <p:sp>
        <p:nvSpPr>
          <p:cNvPr name="TextBox 15" id="15"/>
          <p:cNvSpPr txBox="true"/>
          <p:nvPr/>
        </p:nvSpPr>
        <p:spPr>
          <a:xfrm rot="0">
            <a:off x="1107647" y="2154880"/>
            <a:ext cx="6994068" cy="2347903"/>
          </a:xfrm>
          <a:prstGeom prst="rect">
            <a:avLst/>
          </a:prstGeom>
        </p:spPr>
        <p:txBody>
          <a:bodyPr anchor="t" rtlCol="false" tIns="0" lIns="0" bIns="0" rIns="0">
            <a:spAutoFit/>
          </a:bodyPr>
          <a:lstStyle/>
          <a:p>
            <a:pPr algn="l">
              <a:lnSpc>
                <a:spcPts val="9144"/>
              </a:lnSpc>
            </a:pPr>
            <a:r>
              <a:rPr lang="en-US" b="true" sz="8627">
                <a:solidFill>
                  <a:srgbClr val="000000"/>
                </a:solidFill>
                <a:latin typeface="Raleway Heavy"/>
                <a:ea typeface="Raleway Heavy"/>
                <a:cs typeface="Raleway Heavy"/>
                <a:sym typeface="Raleway Heavy"/>
              </a:rPr>
              <a:t>ESSENTIAL NETWORK</a:t>
            </a:r>
          </a:p>
        </p:txBody>
      </p:sp>
      <p:grpSp>
        <p:nvGrpSpPr>
          <p:cNvPr name="Group 16" id="16"/>
          <p:cNvGrpSpPr/>
          <p:nvPr/>
        </p:nvGrpSpPr>
        <p:grpSpPr>
          <a:xfrm rot="0">
            <a:off x="1068742" y="6028665"/>
            <a:ext cx="3977366" cy="3229635"/>
            <a:chOff x="0" y="0"/>
            <a:chExt cx="1047537" cy="850604"/>
          </a:xfrm>
        </p:grpSpPr>
        <p:sp>
          <p:nvSpPr>
            <p:cNvPr name="Freeform 17" id="17"/>
            <p:cNvSpPr/>
            <p:nvPr/>
          </p:nvSpPr>
          <p:spPr>
            <a:xfrm flipH="false" flipV="false" rot="0">
              <a:off x="0" y="0"/>
              <a:ext cx="1047537" cy="850604"/>
            </a:xfrm>
            <a:custGeom>
              <a:avLst/>
              <a:gdLst/>
              <a:ahLst/>
              <a:cxnLst/>
              <a:rect r="r" b="b" t="t" l="l"/>
              <a:pathLst>
                <a:path h="850604" w="1047537">
                  <a:moveTo>
                    <a:pt x="0" y="0"/>
                  </a:moveTo>
                  <a:lnTo>
                    <a:pt x="1047537" y="0"/>
                  </a:lnTo>
                  <a:lnTo>
                    <a:pt x="1047537" y="850604"/>
                  </a:lnTo>
                  <a:lnTo>
                    <a:pt x="0" y="850604"/>
                  </a:lnTo>
                  <a:close/>
                </a:path>
              </a:pathLst>
            </a:custGeom>
            <a:solidFill>
              <a:srgbClr val="084DA3"/>
            </a:solidFill>
          </p:spPr>
        </p:sp>
        <p:sp>
          <p:nvSpPr>
            <p:cNvPr name="TextBox 18" id="18"/>
            <p:cNvSpPr txBox="true"/>
            <p:nvPr/>
          </p:nvSpPr>
          <p:spPr>
            <a:xfrm>
              <a:off x="0" y="-114300"/>
              <a:ext cx="1047537" cy="964904"/>
            </a:xfrm>
            <a:prstGeom prst="rect">
              <a:avLst/>
            </a:prstGeom>
          </p:spPr>
          <p:txBody>
            <a:bodyPr anchor="ctr" rtlCol="false" tIns="50800" lIns="50800" bIns="50800" rIns="50800"/>
            <a:lstStyle/>
            <a:p>
              <a:pPr algn="ctr">
                <a:lnSpc>
                  <a:spcPts val="3499"/>
                </a:lnSpc>
              </a:pPr>
            </a:p>
          </p:txBody>
        </p:sp>
      </p:grpSp>
      <p:grpSp>
        <p:nvGrpSpPr>
          <p:cNvPr name="Group 19" id="19"/>
          <p:cNvGrpSpPr/>
          <p:nvPr/>
        </p:nvGrpSpPr>
        <p:grpSpPr>
          <a:xfrm rot="0">
            <a:off x="9221943" y="6028665"/>
            <a:ext cx="3977366" cy="3229635"/>
            <a:chOff x="0" y="0"/>
            <a:chExt cx="1047537" cy="850604"/>
          </a:xfrm>
        </p:grpSpPr>
        <p:sp>
          <p:nvSpPr>
            <p:cNvPr name="Freeform 20" id="20"/>
            <p:cNvSpPr/>
            <p:nvPr/>
          </p:nvSpPr>
          <p:spPr>
            <a:xfrm flipH="false" flipV="false" rot="0">
              <a:off x="0" y="0"/>
              <a:ext cx="1047537" cy="850604"/>
            </a:xfrm>
            <a:custGeom>
              <a:avLst/>
              <a:gdLst/>
              <a:ahLst/>
              <a:cxnLst/>
              <a:rect r="r" b="b" t="t" l="l"/>
              <a:pathLst>
                <a:path h="850604" w="1047537">
                  <a:moveTo>
                    <a:pt x="0" y="0"/>
                  </a:moveTo>
                  <a:lnTo>
                    <a:pt x="1047537" y="0"/>
                  </a:lnTo>
                  <a:lnTo>
                    <a:pt x="1047537" y="850604"/>
                  </a:lnTo>
                  <a:lnTo>
                    <a:pt x="0" y="850604"/>
                  </a:lnTo>
                  <a:close/>
                </a:path>
              </a:pathLst>
            </a:custGeom>
            <a:solidFill>
              <a:srgbClr val="084DA3"/>
            </a:solidFill>
          </p:spPr>
        </p:sp>
        <p:sp>
          <p:nvSpPr>
            <p:cNvPr name="TextBox 21" id="21"/>
            <p:cNvSpPr txBox="true"/>
            <p:nvPr/>
          </p:nvSpPr>
          <p:spPr>
            <a:xfrm>
              <a:off x="0" y="-114300"/>
              <a:ext cx="1047537" cy="964904"/>
            </a:xfrm>
            <a:prstGeom prst="rect">
              <a:avLst/>
            </a:prstGeom>
          </p:spPr>
          <p:txBody>
            <a:bodyPr anchor="ctr" rtlCol="false" tIns="50800" lIns="50800" bIns="50800" rIns="50800"/>
            <a:lstStyle/>
            <a:p>
              <a:pPr algn="ctr">
                <a:lnSpc>
                  <a:spcPts val="3499"/>
                </a:lnSpc>
              </a:pPr>
            </a:p>
          </p:txBody>
        </p:sp>
      </p:grpSp>
      <p:sp>
        <p:nvSpPr>
          <p:cNvPr name="TextBox 22" id="22"/>
          <p:cNvSpPr txBox="true"/>
          <p:nvPr/>
        </p:nvSpPr>
        <p:spPr>
          <a:xfrm rot="0">
            <a:off x="1191014" y="6380318"/>
            <a:ext cx="3752458" cy="431800"/>
          </a:xfrm>
          <a:prstGeom prst="rect">
            <a:avLst/>
          </a:prstGeom>
        </p:spPr>
        <p:txBody>
          <a:bodyPr anchor="t" rtlCol="false" tIns="0" lIns="0" bIns="0" rIns="0">
            <a:spAutoFit/>
          </a:bodyPr>
          <a:lstStyle/>
          <a:p>
            <a:pPr algn="ctr" marL="0" indent="0" lvl="0">
              <a:lnSpc>
                <a:spcPts val="3499"/>
              </a:lnSpc>
              <a:spcBef>
                <a:spcPct val="0"/>
              </a:spcBef>
            </a:pPr>
            <a:r>
              <a:rPr lang="en-US" b="true" sz="2499" spc="-104">
                <a:solidFill>
                  <a:srgbClr val="FAFAFA"/>
                </a:solidFill>
                <a:latin typeface="Raleway Bold"/>
                <a:ea typeface="Raleway Bold"/>
                <a:cs typeface="Raleway Bold"/>
                <a:sym typeface="Raleway Bold"/>
              </a:rPr>
              <a:t>Dynamic Addressing</a:t>
            </a:r>
          </a:p>
        </p:txBody>
      </p:sp>
      <p:sp>
        <p:nvSpPr>
          <p:cNvPr name="TextBox 23" id="23"/>
          <p:cNvSpPr txBox="true"/>
          <p:nvPr/>
        </p:nvSpPr>
        <p:spPr>
          <a:xfrm rot="0">
            <a:off x="5221835" y="6192993"/>
            <a:ext cx="3752458" cy="431800"/>
          </a:xfrm>
          <a:prstGeom prst="rect">
            <a:avLst/>
          </a:prstGeom>
        </p:spPr>
        <p:txBody>
          <a:bodyPr anchor="t" rtlCol="false" tIns="0" lIns="0" bIns="0" rIns="0">
            <a:spAutoFit/>
          </a:bodyPr>
          <a:lstStyle/>
          <a:p>
            <a:pPr algn="ctr" marL="0" indent="0" lvl="0">
              <a:lnSpc>
                <a:spcPts val="3499"/>
              </a:lnSpc>
              <a:spcBef>
                <a:spcPct val="0"/>
              </a:spcBef>
            </a:pPr>
            <a:r>
              <a:rPr lang="en-US" b="true" sz="2499" spc="-104">
                <a:solidFill>
                  <a:srgbClr val="084DA3"/>
                </a:solidFill>
                <a:latin typeface="Raleway Bold"/>
                <a:ea typeface="Raleway Bold"/>
                <a:cs typeface="Raleway Bold"/>
                <a:sym typeface="Raleway Bold"/>
              </a:rPr>
              <a:t>DNS &amp; W</a:t>
            </a:r>
            <a:r>
              <a:rPr lang="en-US" b="true" sz="2499" spc="-104" strike="noStrike" u="none">
                <a:solidFill>
                  <a:srgbClr val="084DA3"/>
                </a:solidFill>
                <a:latin typeface="Raleway Bold"/>
                <a:ea typeface="Raleway Bold"/>
                <a:cs typeface="Raleway Bold"/>
                <a:sym typeface="Raleway Bold"/>
              </a:rPr>
              <a:t>eb Hosting</a:t>
            </a:r>
          </a:p>
        </p:txBody>
      </p:sp>
      <p:sp>
        <p:nvSpPr>
          <p:cNvPr name="TextBox 24" id="24"/>
          <p:cNvSpPr txBox="true"/>
          <p:nvPr/>
        </p:nvSpPr>
        <p:spPr>
          <a:xfrm rot="0">
            <a:off x="13374758" y="6380318"/>
            <a:ext cx="3752458" cy="431800"/>
          </a:xfrm>
          <a:prstGeom prst="rect">
            <a:avLst/>
          </a:prstGeom>
        </p:spPr>
        <p:txBody>
          <a:bodyPr anchor="t" rtlCol="false" tIns="0" lIns="0" bIns="0" rIns="0">
            <a:spAutoFit/>
          </a:bodyPr>
          <a:lstStyle/>
          <a:p>
            <a:pPr algn="ctr" marL="0" indent="0" lvl="0">
              <a:lnSpc>
                <a:spcPts val="3499"/>
              </a:lnSpc>
              <a:spcBef>
                <a:spcPct val="0"/>
              </a:spcBef>
            </a:pPr>
            <a:r>
              <a:rPr lang="en-US" b="true" sz="2499" spc="-104">
                <a:solidFill>
                  <a:srgbClr val="084DA3"/>
                </a:solidFill>
                <a:latin typeface="Raleway Bold"/>
                <a:ea typeface="Raleway Bold"/>
                <a:cs typeface="Raleway Bold"/>
                <a:sym typeface="Raleway Bold"/>
              </a:rPr>
              <a:t>NTP Serve</a:t>
            </a:r>
            <a:r>
              <a:rPr lang="en-US" b="true" sz="2499" spc="-104" strike="noStrike" u="none">
                <a:solidFill>
                  <a:srgbClr val="084DA3"/>
                </a:solidFill>
                <a:latin typeface="Raleway Bold"/>
                <a:ea typeface="Raleway Bold"/>
                <a:cs typeface="Raleway Bold"/>
                <a:sym typeface="Raleway Bold"/>
              </a:rPr>
              <a:t>r</a:t>
            </a:r>
          </a:p>
        </p:txBody>
      </p:sp>
      <p:sp>
        <p:nvSpPr>
          <p:cNvPr name="TextBox 25" id="25"/>
          <p:cNvSpPr txBox="true"/>
          <p:nvPr/>
        </p:nvSpPr>
        <p:spPr>
          <a:xfrm rot="0">
            <a:off x="9374833" y="6380318"/>
            <a:ext cx="3752458" cy="431800"/>
          </a:xfrm>
          <a:prstGeom prst="rect">
            <a:avLst/>
          </a:prstGeom>
        </p:spPr>
        <p:txBody>
          <a:bodyPr anchor="t" rtlCol="false" tIns="0" lIns="0" bIns="0" rIns="0">
            <a:spAutoFit/>
          </a:bodyPr>
          <a:lstStyle/>
          <a:p>
            <a:pPr algn="ctr" marL="0" indent="0" lvl="0">
              <a:lnSpc>
                <a:spcPts val="3499"/>
              </a:lnSpc>
              <a:spcBef>
                <a:spcPct val="0"/>
              </a:spcBef>
            </a:pPr>
            <a:r>
              <a:rPr lang="en-US" b="true" sz="2499" spc="-104" strike="noStrike" u="none">
                <a:solidFill>
                  <a:srgbClr val="FAFAFA"/>
                </a:solidFill>
                <a:latin typeface="Raleway Bold"/>
                <a:ea typeface="Raleway Bold"/>
                <a:cs typeface="Raleway Bold"/>
                <a:sym typeface="Raleway Bold"/>
              </a:rPr>
              <a:t>FTP &amp; Email Services</a:t>
            </a:r>
          </a:p>
        </p:txBody>
      </p:sp>
      <p:sp>
        <p:nvSpPr>
          <p:cNvPr name="TextBox 26" id="26"/>
          <p:cNvSpPr txBox="true"/>
          <p:nvPr/>
        </p:nvSpPr>
        <p:spPr>
          <a:xfrm rot="0">
            <a:off x="1181196" y="7123447"/>
            <a:ext cx="3752458" cy="1778000"/>
          </a:xfrm>
          <a:prstGeom prst="rect">
            <a:avLst/>
          </a:prstGeom>
        </p:spPr>
        <p:txBody>
          <a:bodyPr anchor="t" rtlCol="false" tIns="0" lIns="0" bIns="0" rIns="0">
            <a:spAutoFit/>
          </a:bodyPr>
          <a:lstStyle/>
          <a:p>
            <a:pPr algn="ctr" marL="0" indent="0" lvl="1">
              <a:lnSpc>
                <a:spcPts val="2800"/>
              </a:lnSpc>
              <a:spcBef>
                <a:spcPct val="0"/>
              </a:spcBef>
            </a:pPr>
            <a:r>
              <a:rPr lang="en-US" sz="2000" spc="-84">
                <a:solidFill>
                  <a:srgbClr val="FAFAFA"/>
                </a:solidFill>
                <a:latin typeface="Poppins"/>
                <a:ea typeface="Poppins"/>
                <a:cs typeface="Poppins"/>
                <a:sym typeface="Poppins"/>
              </a:rPr>
              <a:t>The DHC</a:t>
            </a:r>
            <a:r>
              <a:rPr lang="en-US" sz="2000" spc="-84">
                <a:solidFill>
                  <a:srgbClr val="FAFAFA"/>
                </a:solidFill>
                <a:latin typeface="Poppins"/>
                <a:ea typeface="Poppins"/>
                <a:cs typeface="Poppins"/>
                <a:sym typeface="Poppins"/>
              </a:rPr>
              <a:t>P Se</a:t>
            </a:r>
            <a:r>
              <a:rPr lang="en-US" sz="2000" spc="-84" strike="noStrike" u="none">
                <a:solidFill>
                  <a:srgbClr val="FAFAFA"/>
                </a:solidFill>
                <a:latin typeface="Poppins"/>
                <a:ea typeface="Poppins"/>
                <a:cs typeface="Poppins"/>
                <a:sym typeface="Poppins"/>
              </a:rPr>
              <a:t>rver au</a:t>
            </a:r>
            <a:r>
              <a:rPr lang="en-US" sz="2000" spc="-84" strike="noStrike" u="none">
                <a:solidFill>
                  <a:srgbClr val="FAFAFA"/>
                </a:solidFill>
                <a:latin typeface="Poppins"/>
                <a:ea typeface="Poppins"/>
                <a:cs typeface="Poppins"/>
                <a:sym typeface="Poppins"/>
              </a:rPr>
              <a:t>tomat</a:t>
            </a:r>
            <a:r>
              <a:rPr lang="en-US" sz="2000" spc="-84" strike="noStrike" u="none">
                <a:solidFill>
                  <a:srgbClr val="FAFAFA"/>
                </a:solidFill>
                <a:latin typeface="Poppins"/>
                <a:ea typeface="Poppins"/>
                <a:cs typeface="Poppins"/>
                <a:sym typeface="Poppins"/>
              </a:rPr>
              <a:t>i</a:t>
            </a:r>
            <a:r>
              <a:rPr lang="en-US" sz="2000" spc="-84" strike="noStrike" u="none">
                <a:solidFill>
                  <a:srgbClr val="FAFAFA"/>
                </a:solidFill>
                <a:latin typeface="Poppins"/>
                <a:ea typeface="Poppins"/>
                <a:cs typeface="Poppins"/>
                <a:sym typeface="Poppins"/>
              </a:rPr>
              <a:t>c</a:t>
            </a:r>
            <a:r>
              <a:rPr lang="en-US" sz="2000" spc="-84" strike="noStrike" u="none">
                <a:solidFill>
                  <a:srgbClr val="FAFAFA"/>
                </a:solidFill>
                <a:latin typeface="Poppins"/>
                <a:ea typeface="Poppins"/>
                <a:cs typeface="Poppins"/>
                <a:sym typeface="Poppins"/>
              </a:rPr>
              <a:t>ally assign</a:t>
            </a:r>
            <a:r>
              <a:rPr lang="en-US" sz="2000" spc="-84" strike="noStrike" u="none">
                <a:solidFill>
                  <a:srgbClr val="FAFAFA"/>
                </a:solidFill>
                <a:latin typeface="Poppins"/>
                <a:ea typeface="Poppins"/>
                <a:cs typeface="Poppins"/>
                <a:sym typeface="Poppins"/>
              </a:rPr>
              <a:t>s IP addr</a:t>
            </a:r>
            <a:r>
              <a:rPr lang="en-US" sz="2000" spc="-84" strike="noStrike" u="none">
                <a:solidFill>
                  <a:srgbClr val="FAFAFA"/>
                </a:solidFill>
                <a:latin typeface="Poppins"/>
                <a:ea typeface="Poppins"/>
                <a:cs typeface="Poppins"/>
                <a:sym typeface="Poppins"/>
              </a:rPr>
              <a:t>e</a:t>
            </a:r>
            <a:r>
              <a:rPr lang="en-US" sz="2000" spc="-84" strike="noStrike" u="none">
                <a:solidFill>
                  <a:srgbClr val="FAFAFA"/>
                </a:solidFill>
                <a:latin typeface="Poppins"/>
                <a:ea typeface="Poppins"/>
                <a:cs typeface="Poppins"/>
                <a:sym typeface="Poppins"/>
              </a:rPr>
              <a:t>sses</a:t>
            </a:r>
            <a:r>
              <a:rPr lang="en-US" sz="2000" spc="-84" strike="noStrike" u="none">
                <a:solidFill>
                  <a:srgbClr val="FAFAFA"/>
                </a:solidFill>
                <a:latin typeface="Poppins"/>
                <a:ea typeface="Poppins"/>
                <a:cs typeface="Poppins"/>
                <a:sym typeface="Poppins"/>
              </a:rPr>
              <a:t> and other net</a:t>
            </a:r>
            <a:r>
              <a:rPr lang="en-US" sz="2000" spc="-84" strike="noStrike" u="none">
                <a:solidFill>
                  <a:srgbClr val="FAFAFA"/>
                </a:solidFill>
                <a:latin typeface="Poppins"/>
                <a:ea typeface="Poppins"/>
                <a:cs typeface="Poppins"/>
                <a:sym typeface="Poppins"/>
              </a:rPr>
              <a:t>work </a:t>
            </a:r>
            <a:r>
              <a:rPr lang="en-US" sz="2000" spc="-84" strike="noStrike" u="none">
                <a:solidFill>
                  <a:srgbClr val="FAFAFA"/>
                </a:solidFill>
                <a:latin typeface="Poppins"/>
                <a:ea typeface="Poppins"/>
                <a:cs typeface="Poppins"/>
                <a:sym typeface="Poppins"/>
              </a:rPr>
              <a:t>configura</a:t>
            </a:r>
            <a:r>
              <a:rPr lang="en-US" sz="2000" spc="-84" strike="noStrike" u="none">
                <a:solidFill>
                  <a:srgbClr val="FAFAFA"/>
                </a:solidFill>
                <a:latin typeface="Poppins"/>
                <a:ea typeface="Poppins"/>
                <a:cs typeface="Poppins"/>
                <a:sym typeface="Poppins"/>
              </a:rPr>
              <a:t>tion</a:t>
            </a:r>
            <a:r>
              <a:rPr lang="en-US" sz="2000" spc="-84" strike="noStrike" u="none">
                <a:solidFill>
                  <a:srgbClr val="FAFAFA"/>
                </a:solidFill>
                <a:latin typeface="Poppins"/>
                <a:ea typeface="Poppins"/>
                <a:cs typeface="Poppins"/>
                <a:sym typeface="Poppins"/>
              </a:rPr>
              <a:t> p</a:t>
            </a:r>
            <a:r>
              <a:rPr lang="en-US" sz="2000" spc="-84" strike="noStrike" u="none">
                <a:solidFill>
                  <a:srgbClr val="FAFAFA"/>
                </a:solidFill>
                <a:latin typeface="Poppins"/>
                <a:ea typeface="Poppins"/>
                <a:cs typeface="Poppins"/>
                <a:sym typeface="Poppins"/>
              </a:rPr>
              <a:t>a</a:t>
            </a:r>
            <a:r>
              <a:rPr lang="en-US" sz="2000" spc="-84" strike="noStrike" u="none">
                <a:solidFill>
                  <a:srgbClr val="FAFAFA"/>
                </a:solidFill>
                <a:latin typeface="Poppins"/>
                <a:ea typeface="Poppins"/>
                <a:cs typeface="Poppins"/>
                <a:sym typeface="Poppins"/>
              </a:rPr>
              <a:t>ramet</a:t>
            </a:r>
            <a:r>
              <a:rPr lang="en-US" sz="2000" spc="-84" strike="noStrike" u="none">
                <a:solidFill>
                  <a:srgbClr val="FAFAFA"/>
                </a:solidFill>
                <a:latin typeface="Poppins"/>
                <a:ea typeface="Poppins"/>
                <a:cs typeface="Poppins"/>
                <a:sym typeface="Poppins"/>
              </a:rPr>
              <a:t>e</a:t>
            </a:r>
            <a:r>
              <a:rPr lang="en-US" sz="2000" spc="-84" strike="noStrike" u="none">
                <a:solidFill>
                  <a:srgbClr val="FAFAFA"/>
                </a:solidFill>
                <a:latin typeface="Poppins"/>
                <a:ea typeface="Poppins"/>
                <a:cs typeface="Poppins"/>
                <a:sym typeface="Poppins"/>
              </a:rPr>
              <a:t>r</a:t>
            </a:r>
            <a:r>
              <a:rPr lang="en-US" sz="2000" spc="-84" strike="noStrike" u="none">
                <a:solidFill>
                  <a:srgbClr val="FAFAFA"/>
                </a:solidFill>
                <a:latin typeface="Poppins"/>
                <a:ea typeface="Poppins"/>
                <a:cs typeface="Poppins"/>
                <a:sym typeface="Poppins"/>
              </a:rPr>
              <a:t>s</a:t>
            </a:r>
            <a:r>
              <a:rPr lang="en-US" sz="2000" spc="-84" strike="noStrike" u="none">
                <a:solidFill>
                  <a:srgbClr val="FAFAFA"/>
                </a:solidFill>
                <a:latin typeface="Poppins"/>
                <a:ea typeface="Poppins"/>
                <a:cs typeface="Poppins"/>
                <a:sym typeface="Poppins"/>
              </a:rPr>
              <a:t> s</a:t>
            </a:r>
            <a:r>
              <a:rPr lang="en-US" sz="2000" spc="-84" strike="noStrike" u="none">
                <a:solidFill>
                  <a:srgbClr val="FAFAFA"/>
                </a:solidFill>
                <a:latin typeface="Poppins"/>
                <a:ea typeface="Poppins"/>
                <a:cs typeface="Poppins"/>
                <a:sym typeface="Poppins"/>
              </a:rPr>
              <a:t>uch a</a:t>
            </a:r>
            <a:r>
              <a:rPr lang="en-US" sz="2000" spc="-84" strike="noStrike" u="none">
                <a:solidFill>
                  <a:srgbClr val="FAFAFA"/>
                </a:solidFill>
                <a:latin typeface="Poppins"/>
                <a:ea typeface="Poppins"/>
                <a:cs typeface="Poppins"/>
                <a:sym typeface="Poppins"/>
              </a:rPr>
              <a:t>s</a:t>
            </a:r>
            <a:r>
              <a:rPr lang="en-US" sz="2000" spc="-84" strike="noStrike" u="none">
                <a:solidFill>
                  <a:srgbClr val="FAFAFA"/>
                </a:solidFill>
                <a:latin typeface="Poppins"/>
                <a:ea typeface="Poppins"/>
                <a:cs typeface="Poppins"/>
                <a:sym typeface="Poppins"/>
              </a:rPr>
              <a:t> th</a:t>
            </a:r>
            <a:r>
              <a:rPr lang="en-US" sz="2000" spc="-84" strike="noStrike" u="none">
                <a:solidFill>
                  <a:srgbClr val="FAFAFA"/>
                </a:solidFill>
                <a:latin typeface="Poppins"/>
                <a:ea typeface="Poppins"/>
                <a:cs typeface="Poppins"/>
                <a:sym typeface="Poppins"/>
              </a:rPr>
              <a:t>e subnet mask, gateway, </a:t>
            </a:r>
            <a:r>
              <a:rPr lang="en-US" sz="2000" spc="-84" strike="noStrike" u="none">
                <a:solidFill>
                  <a:srgbClr val="FAFAFA"/>
                </a:solidFill>
                <a:latin typeface="Poppins"/>
                <a:ea typeface="Poppins"/>
                <a:cs typeface="Poppins"/>
                <a:sym typeface="Poppins"/>
              </a:rPr>
              <a:t>DNS serv</a:t>
            </a:r>
            <a:r>
              <a:rPr lang="en-US" sz="2000" spc="-84" strike="noStrike" u="none">
                <a:solidFill>
                  <a:srgbClr val="FAFAFA"/>
                </a:solidFill>
                <a:latin typeface="Poppins"/>
                <a:ea typeface="Poppins"/>
                <a:cs typeface="Poppins"/>
                <a:sym typeface="Poppins"/>
              </a:rPr>
              <a:t>er.</a:t>
            </a:r>
          </a:p>
        </p:txBody>
      </p:sp>
      <p:sp>
        <p:nvSpPr>
          <p:cNvPr name="TextBox 27" id="27"/>
          <p:cNvSpPr txBox="true"/>
          <p:nvPr/>
        </p:nvSpPr>
        <p:spPr>
          <a:xfrm rot="0">
            <a:off x="5554255" y="6775450"/>
            <a:ext cx="3159542" cy="2482850"/>
          </a:xfrm>
          <a:prstGeom prst="rect">
            <a:avLst/>
          </a:prstGeom>
        </p:spPr>
        <p:txBody>
          <a:bodyPr anchor="t" rtlCol="false" tIns="0" lIns="0" bIns="0" rIns="0">
            <a:spAutoFit/>
          </a:bodyPr>
          <a:lstStyle/>
          <a:p>
            <a:pPr algn="ctr" marL="0" indent="0" lvl="1">
              <a:lnSpc>
                <a:spcPts val="2800"/>
              </a:lnSpc>
              <a:spcBef>
                <a:spcPct val="0"/>
              </a:spcBef>
            </a:pPr>
            <a:r>
              <a:rPr lang="en-US" sz="2000" spc="-84">
                <a:solidFill>
                  <a:srgbClr val="000000"/>
                </a:solidFill>
                <a:latin typeface="Poppins"/>
                <a:ea typeface="Poppins"/>
                <a:cs typeface="Poppins"/>
                <a:sym typeface="Poppins"/>
              </a:rPr>
              <a:t>The DNS Serve</a:t>
            </a:r>
            <a:r>
              <a:rPr lang="en-US" sz="2000" spc="-84" strike="noStrike" u="none">
                <a:solidFill>
                  <a:srgbClr val="000000"/>
                </a:solidFill>
                <a:latin typeface="Poppins"/>
                <a:ea typeface="Poppins"/>
                <a:cs typeface="Poppins"/>
                <a:sym typeface="Poppins"/>
              </a:rPr>
              <a:t>r translates domain names into IP addresses, while the Web Server hosts the AeroNova website and allows users to access it through web browsers.</a:t>
            </a:r>
          </a:p>
        </p:txBody>
      </p:sp>
      <p:sp>
        <p:nvSpPr>
          <p:cNvPr name="TextBox 28" id="28"/>
          <p:cNvSpPr txBox="true"/>
          <p:nvPr/>
        </p:nvSpPr>
        <p:spPr>
          <a:xfrm rot="0">
            <a:off x="13620643" y="6951663"/>
            <a:ext cx="3328890" cy="2130425"/>
          </a:xfrm>
          <a:prstGeom prst="rect">
            <a:avLst/>
          </a:prstGeom>
        </p:spPr>
        <p:txBody>
          <a:bodyPr anchor="t" rtlCol="false" tIns="0" lIns="0" bIns="0" rIns="0">
            <a:spAutoFit/>
          </a:bodyPr>
          <a:lstStyle/>
          <a:p>
            <a:pPr algn="ctr" marL="0" indent="0" lvl="1">
              <a:lnSpc>
                <a:spcPts val="2800"/>
              </a:lnSpc>
              <a:spcBef>
                <a:spcPct val="0"/>
              </a:spcBef>
            </a:pPr>
            <a:r>
              <a:rPr lang="en-US" sz="2000" spc="-84">
                <a:solidFill>
                  <a:srgbClr val="000000"/>
                </a:solidFill>
                <a:latin typeface="Poppins"/>
                <a:ea typeface="Poppins"/>
                <a:cs typeface="Poppins"/>
                <a:sym typeface="Poppins"/>
              </a:rPr>
              <a:t>Synchr</a:t>
            </a:r>
            <a:r>
              <a:rPr lang="en-US" sz="2000" spc="-84" strike="noStrike" u="none">
                <a:solidFill>
                  <a:srgbClr val="000000"/>
                </a:solidFill>
                <a:latin typeface="Poppins"/>
                <a:ea typeface="Poppins"/>
                <a:cs typeface="Poppins"/>
                <a:sym typeface="Poppins"/>
              </a:rPr>
              <a:t>on</a:t>
            </a:r>
            <a:r>
              <a:rPr lang="en-US" sz="2000" spc="-84" strike="noStrike" u="none">
                <a:solidFill>
                  <a:srgbClr val="000000"/>
                </a:solidFill>
                <a:latin typeface="Poppins"/>
                <a:ea typeface="Poppins"/>
                <a:cs typeface="Poppins"/>
                <a:sym typeface="Poppins"/>
              </a:rPr>
              <a:t>iz</a:t>
            </a:r>
            <a:r>
              <a:rPr lang="en-US" sz="2000" spc="-84" strike="noStrike" u="none">
                <a:solidFill>
                  <a:srgbClr val="000000"/>
                </a:solidFill>
                <a:latin typeface="Poppins"/>
                <a:ea typeface="Poppins"/>
                <a:cs typeface="Poppins"/>
                <a:sym typeface="Poppins"/>
              </a:rPr>
              <a:t>es the date and time o</a:t>
            </a:r>
            <a:r>
              <a:rPr lang="en-US" sz="2000" spc="-84" strike="noStrike" u="none">
                <a:solidFill>
                  <a:srgbClr val="000000"/>
                </a:solidFill>
                <a:latin typeface="Poppins"/>
                <a:ea typeface="Poppins"/>
                <a:cs typeface="Poppins"/>
                <a:sym typeface="Poppins"/>
              </a:rPr>
              <a:t>f</a:t>
            </a:r>
            <a:r>
              <a:rPr lang="en-US" sz="2000" spc="-84" strike="noStrike" u="none">
                <a:solidFill>
                  <a:srgbClr val="000000"/>
                </a:solidFill>
                <a:latin typeface="Poppins"/>
                <a:ea typeface="Poppins"/>
                <a:cs typeface="Poppins"/>
                <a:sym typeface="Poppins"/>
              </a:rPr>
              <a:t> </a:t>
            </a:r>
            <a:r>
              <a:rPr lang="en-US" sz="2000" spc="-84" strike="noStrike" u="none">
                <a:solidFill>
                  <a:srgbClr val="000000"/>
                </a:solidFill>
                <a:latin typeface="Poppins"/>
                <a:ea typeface="Poppins"/>
                <a:cs typeface="Poppins"/>
                <a:sym typeface="Poppins"/>
              </a:rPr>
              <a:t>net</a:t>
            </a:r>
            <a:r>
              <a:rPr lang="en-US" sz="2000" spc="-84" strike="noStrike" u="none">
                <a:solidFill>
                  <a:srgbClr val="000000"/>
                </a:solidFill>
                <a:latin typeface="Poppins"/>
                <a:ea typeface="Poppins"/>
                <a:cs typeface="Poppins"/>
                <a:sym typeface="Poppins"/>
              </a:rPr>
              <a:t>w</a:t>
            </a:r>
            <a:r>
              <a:rPr lang="en-US" sz="2000" spc="-84" strike="noStrike" u="none">
                <a:solidFill>
                  <a:srgbClr val="000000"/>
                </a:solidFill>
                <a:latin typeface="Poppins"/>
                <a:ea typeface="Poppins"/>
                <a:cs typeface="Poppins"/>
                <a:sym typeface="Poppins"/>
              </a:rPr>
              <a:t>ork dev</a:t>
            </a:r>
            <a:r>
              <a:rPr lang="en-US" sz="2000" spc="-84" strike="noStrike" u="none">
                <a:solidFill>
                  <a:srgbClr val="000000"/>
                </a:solidFill>
                <a:latin typeface="Poppins"/>
                <a:ea typeface="Poppins"/>
                <a:cs typeface="Poppins"/>
                <a:sym typeface="Poppins"/>
              </a:rPr>
              <a:t>ices, ensuring accura</a:t>
            </a:r>
            <a:r>
              <a:rPr lang="en-US" sz="2000" spc="-84" strike="noStrike" u="none">
                <a:solidFill>
                  <a:srgbClr val="000000"/>
                </a:solidFill>
                <a:latin typeface="Poppins"/>
                <a:ea typeface="Poppins"/>
                <a:cs typeface="Poppins"/>
                <a:sym typeface="Poppins"/>
              </a:rPr>
              <a:t>te t</a:t>
            </a:r>
            <a:r>
              <a:rPr lang="en-US" sz="2000" spc="-84" strike="noStrike" u="none">
                <a:solidFill>
                  <a:srgbClr val="000000"/>
                </a:solidFill>
                <a:latin typeface="Poppins"/>
                <a:ea typeface="Poppins"/>
                <a:cs typeface="Poppins"/>
                <a:sym typeface="Poppins"/>
              </a:rPr>
              <a:t>i</a:t>
            </a:r>
            <a:r>
              <a:rPr lang="en-US" sz="2000" spc="-84" strike="noStrike" u="none">
                <a:solidFill>
                  <a:srgbClr val="000000"/>
                </a:solidFill>
                <a:latin typeface="Poppins"/>
                <a:ea typeface="Poppins"/>
                <a:cs typeface="Poppins"/>
                <a:sym typeface="Poppins"/>
              </a:rPr>
              <a:t>m</a:t>
            </a:r>
            <a:r>
              <a:rPr lang="en-US" sz="2000" spc="-84" strike="noStrike" u="none">
                <a:solidFill>
                  <a:srgbClr val="000000"/>
                </a:solidFill>
                <a:latin typeface="Poppins"/>
                <a:ea typeface="Poppins"/>
                <a:cs typeface="Poppins"/>
                <a:sym typeface="Poppins"/>
              </a:rPr>
              <a:t>e</a:t>
            </a:r>
            <a:r>
              <a:rPr lang="en-US" sz="2000" spc="-84" strike="noStrike" u="none">
                <a:solidFill>
                  <a:srgbClr val="000000"/>
                </a:solidFill>
                <a:latin typeface="Poppins"/>
                <a:ea typeface="Poppins"/>
                <a:cs typeface="Poppins"/>
                <a:sym typeface="Poppins"/>
              </a:rPr>
              <a:t>stamps</a:t>
            </a:r>
            <a:r>
              <a:rPr lang="en-US" sz="2000" spc="-84" strike="noStrike" u="none">
                <a:solidFill>
                  <a:srgbClr val="000000"/>
                </a:solidFill>
                <a:latin typeface="Poppins"/>
                <a:ea typeface="Poppins"/>
                <a:cs typeface="Poppins"/>
                <a:sym typeface="Poppins"/>
              </a:rPr>
              <a:t> for logging, monitoring, troubleshooting, and secur</a:t>
            </a:r>
            <a:r>
              <a:rPr lang="en-US" sz="2000" spc="-84" strike="noStrike" u="none">
                <a:solidFill>
                  <a:srgbClr val="000000"/>
                </a:solidFill>
                <a:latin typeface="Poppins"/>
                <a:ea typeface="Poppins"/>
                <a:cs typeface="Poppins"/>
                <a:sym typeface="Poppins"/>
              </a:rPr>
              <a:t>ity</a:t>
            </a:r>
            <a:r>
              <a:rPr lang="en-US" sz="2000" spc="-84" strike="noStrike" u="none">
                <a:solidFill>
                  <a:srgbClr val="000000"/>
                </a:solidFill>
                <a:latin typeface="Poppins"/>
                <a:ea typeface="Poppins"/>
                <a:cs typeface="Poppins"/>
                <a:sym typeface="Poppins"/>
              </a:rPr>
              <a:t> events.</a:t>
            </a:r>
          </a:p>
        </p:txBody>
      </p:sp>
      <p:sp>
        <p:nvSpPr>
          <p:cNvPr name="TextBox 29" id="29"/>
          <p:cNvSpPr txBox="true"/>
          <p:nvPr/>
        </p:nvSpPr>
        <p:spPr>
          <a:xfrm rot="0">
            <a:off x="9638004" y="6947234"/>
            <a:ext cx="3226116" cy="2130425"/>
          </a:xfrm>
          <a:prstGeom prst="rect">
            <a:avLst/>
          </a:prstGeom>
        </p:spPr>
        <p:txBody>
          <a:bodyPr anchor="t" rtlCol="false" tIns="0" lIns="0" bIns="0" rIns="0">
            <a:spAutoFit/>
          </a:bodyPr>
          <a:lstStyle/>
          <a:p>
            <a:pPr algn="ctr" marL="0" indent="0" lvl="1">
              <a:lnSpc>
                <a:spcPts val="2800"/>
              </a:lnSpc>
              <a:spcBef>
                <a:spcPct val="0"/>
              </a:spcBef>
            </a:pPr>
            <a:r>
              <a:rPr lang="en-US" sz="2000" spc="-84">
                <a:solidFill>
                  <a:srgbClr val="FAFAFA"/>
                </a:solidFill>
                <a:latin typeface="Poppins"/>
                <a:ea typeface="Poppins"/>
                <a:cs typeface="Poppins"/>
                <a:sym typeface="Poppins"/>
              </a:rPr>
              <a:t>The FTP Se</a:t>
            </a:r>
            <a:r>
              <a:rPr lang="en-US" sz="2000" spc="-84" strike="noStrike" u="none">
                <a:solidFill>
                  <a:srgbClr val="FAFAFA"/>
                </a:solidFill>
                <a:latin typeface="Poppins"/>
                <a:ea typeface="Poppins"/>
                <a:cs typeface="Poppins"/>
                <a:sym typeface="Poppins"/>
              </a:rPr>
              <a:t>rver provides </a:t>
            </a:r>
            <a:r>
              <a:rPr lang="en-US" sz="2000" spc="-84" strike="noStrike" u="none">
                <a:solidFill>
                  <a:srgbClr val="FAFAFA"/>
                </a:solidFill>
                <a:latin typeface="Poppins"/>
                <a:ea typeface="Poppins"/>
                <a:cs typeface="Poppins"/>
                <a:sym typeface="Poppins"/>
              </a:rPr>
              <a:t>secu</a:t>
            </a:r>
            <a:r>
              <a:rPr lang="en-US" sz="2000" spc="-84" strike="noStrike" u="none">
                <a:solidFill>
                  <a:srgbClr val="FAFAFA"/>
                </a:solidFill>
                <a:latin typeface="Poppins"/>
                <a:ea typeface="Poppins"/>
                <a:cs typeface="Poppins"/>
                <a:sym typeface="Poppins"/>
              </a:rPr>
              <a:t>re</a:t>
            </a:r>
            <a:r>
              <a:rPr lang="en-US" sz="2000" spc="-84" strike="noStrike" u="none">
                <a:solidFill>
                  <a:srgbClr val="FAFAFA"/>
                </a:solidFill>
                <a:latin typeface="Poppins"/>
                <a:ea typeface="Poppins"/>
                <a:cs typeface="Poppins"/>
                <a:sym typeface="Poppins"/>
              </a:rPr>
              <a:t> fi</a:t>
            </a:r>
            <a:r>
              <a:rPr lang="en-US" sz="2000" spc="-84" strike="noStrike" u="none">
                <a:solidFill>
                  <a:srgbClr val="FAFAFA"/>
                </a:solidFill>
                <a:latin typeface="Poppins"/>
                <a:ea typeface="Poppins"/>
                <a:cs typeface="Poppins"/>
                <a:sym typeface="Poppins"/>
              </a:rPr>
              <a:t>le</a:t>
            </a:r>
            <a:r>
              <a:rPr lang="en-US" sz="2000" spc="-84" strike="noStrike" u="none">
                <a:solidFill>
                  <a:srgbClr val="FAFAFA"/>
                </a:solidFill>
                <a:latin typeface="Poppins"/>
                <a:ea typeface="Poppins"/>
                <a:cs typeface="Poppins"/>
                <a:sym typeface="Poppins"/>
              </a:rPr>
              <a:t> tr</a:t>
            </a:r>
            <a:r>
              <a:rPr lang="en-US" sz="2000" spc="-84" strike="noStrike" u="none">
                <a:solidFill>
                  <a:srgbClr val="FAFAFA"/>
                </a:solidFill>
                <a:latin typeface="Poppins"/>
                <a:ea typeface="Poppins"/>
                <a:cs typeface="Poppins"/>
                <a:sym typeface="Poppins"/>
              </a:rPr>
              <a:t>ansfer and sharing between users, while the Email Server enables users to send and receive emai</a:t>
            </a:r>
            <a:r>
              <a:rPr lang="en-US" sz="2000" spc="-84" strike="noStrike" u="none">
                <a:solidFill>
                  <a:srgbClr val="FAFAFA"/>
                </a:solidFill>
                <a:latin typeface="Poppins"/>
                <a:ea typeface="Poppins"/>
                <a:cs typeface="Poppins"/>
                <a:sym typeface="Poppins"/>
              </a:rPr>
              <a:t>ls. </a:t>
            </a:r>
          </a:p>
        </p:txBody>
      </p:sp>
      <p:grpSp>
        <p:nvGrpSpPr>
          <p:cNvPr name="Group 30" id="30"/>
          <p:cNvGrpSpPr/>
          <p:nvPr/>
        </p:nvGrpSpPr>
        <p:grpSpPr>
          <a:xfrm rot="0">
            <a:off x="8330895" y="2047833"/>
            <a:ext cx="8923281" cy="3609356"/>
            <a:chOff x="0" y="0"/>
            <a:chExt cx="2350165" cy="950612"/>
          </a:xfrm>
        </p:grpSpPr>
        <p:sp>
          <p:nvSpPr>
            <p:cNvPr name="Freeform 31" id="31"/>
            <p:cNvSpPr/>
            <p:nvPr/>
          </p:nvSpPr>
          <p:spPr>
            <a:xfrm flipH="false" flipV="false" rot="0">
              <a:off x="0" y="0"/>
              <a:ext cx="2350165" cy="950612"/>
            </a:xfrm>
            <a:custGeom>
              <a:avLst/>
              <a:gdLst/>
              <a:ahLst/>
              <a:cxnLst/>
              <a:rect r="r" b="b" t="t" l="l"/>
              <a:pathLst>
                <a:path h="950612" w="2350165">
                  <a:moveTo>
                    <a:pt x="0" y="0"/>
                  </a:moveTo>
                  <a:lnTo>
                    <a:pt x="2350165" y="0"/>
                  </a:lnTo>
                  <a:lnTo>
                    <a:pt x="2350165" y="950612"/>
                  </a:lnTo>
                  <a:lnTo>
                    <a:pt x="0" y="950612"/>
                  </a:lnTo>
                  <a:close/>
                </a:path>
              </a:pathLst>
            </a:custGeom>
            <a:blipFill>
              <a:blip r:embed="rId4"/>
              <a:stretch>
                <a:fillRect l="0" t="-19841" r="0" b="-19841"/>
              </a:stretch>
            </a:blipFill>
          </p:spPr>
        </p:sp>
      </p:grpSp>
      <p:sp>
        <p:nvSpPr>
          <p:cNvPr name="TextBox 32" id="32"/>
          <p:cNvSpPr txBox="true"/>
          <p:nvPr/>
        </p:nvSpPr>
        <p:spPr>
          <a:xfrm rot="0">
            <a:off x="1107647" y="4463694"/>
            <a:ext cx="6994068" cy="1193496"/>
          </a:xfrm>
          <a:prstGeom prst="rect">
            <a:avLst/>
          </a:prstGeom>
        </p:spPr>
        <p:txBody>
          <a:bodyPr anchor="t" rtlCol="false" tIns="0" lIns="0" bIns="0" rIns="0">
            <a:spAutoFit/>
          </a:bodyPr>
          <a:lstStyle/>
          <a:p>
            <a:pPr algn="l">
              <a:lnSpc>
                <a:spcPts val="9144"/>
              </a:lnSpc>
            </a:pPr>
            <a:r>
              <a:rPr lang="en-US" b="true" sz="8627">
                <a:solidFill>
                  <a:srgbClr val="084DA3"/>
                </a:solidFill>
                <a:latin typeface="Raleway Heavy"/>
                <a:ea typeface="Raleway Heavy"/>
                <a:cs typeface="Raleway Heavy"/>
                <a:sym typeface="Raleway Heavy"/>
              </a:rPr>
              <a:t>SERVICES</a:t>
            </a:r>
          </a:p>
        </p:txBody>
      </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bg>
      <p:bgPr>
        <a:solidFill>
          <a:srgbClr val="FAFAFA"/>
        </a:solidFill>
      </p:bgPr>
    </p:bg>
    <p:spTree>
      <p:nvGrpSpPr>
        <p:cNvPr id="1" name=""/>
        <p:cNvGrpSpPr/>
        <p:nvPr/>
      </p:nvGrpSpPr>
      <p:grpSpPr>
        <a:xfrm>
          <a:off x="0" y="0"/>
          <a:ext cx="0" cy="0"/>
          <a:chOff x="0" y="0"/>
          <a:chExt cx="0" cy="0"/>
        </a:xfrm>
      </p:grpSpPr>
      <p:grpSp>
        <p:nvGrpSpPr>
          <p:cNvPr name="Group 2" id="2"/>
          <p:cNvGrpSpPr/>
          <p:nvPr/>
        </p:nvGrpSpPr>
        <p:grpSpPr>
          <a:xfrm rot="0">
            <a:off x="1016848" y="810138"/>
            <a:ext cx="16242452" cy="787029"/>
            <a:chOff x="0" y="0"/>
            <a:chExt cx="4277847" cy="207283"/>
          </a:xfrm>
        </p:grpSpPr>
        <p:sp>
          <p:nvSpPr>
            <p:cNvPr name="Freeform 3" id="3"/>
            <p:cNvSpPr/>
            <p:nvPr/>
          </p:nvSpPr>
          <p:spPr>
            <a:xfrm flipH="false" flipV="false" rot="0">
              <a:off x="0" y="0"/>
              <a:ext cx="4277847" cy="207283"/>
            </a:xfrm>
            <a:custGeom>
              <a:avLst/>
              <a:gdLst/>
              <a:ahLst/>
              <a:cxnLst/>
              <a:rect r="r" b="b" t="t" l="l"/>
              <a:pathLst>
                <a:path h="207283" w="4277847">
                  <a:moveTo>
                    <a:pt x="24309" y="0"/>
                  </a:moveTo>
                  <a:lnTo>
                    <a:pt x="4253538" y="0"/>
                  </a:lnTo>
                  <a:cubicBezTo>
                    <a:pt x="4259986" y="0"/>
                    <a:pt x="4266169" y="2561"/>
                    <a:pt x="4270727" y="7120"/>
                  </a:cubicBezTo>
                  <a:cubicBezTo>
                    <a:pt x="4275286" y="11679"/>
                    <a:pt x="4277847" y="17862"/>
                    <a:pt x="4277847" y="24309"/>
                  </a:cubicBezTo>
                  <a:lnTo>
                    <a:pt x="4277847" y="182974"/>
                  </a:lnTo>
                  <a:cubicBezTo>
                    <a:pt x="4277847" y="196400"/>
                    <a:pt x="4266964" y="207283"/>
                    <a:pt x="4253538" y="207283"/>
                  </a:cubicBezTo>
                  <a:lnTo>
                    <a:pt x="24309" y="207283"/>
                  </a:lnTo>
                  <a:cubicBezTo>
                    <a:pt x="17862" y="207283"/>
                    <a:pt x="11679" y="204722"/>
                    <a:pt x="7120" y="200163"/>
                  </a:cubicBezTo>
                  <a:cubicBezTo>
                    <a:pt x="2561" y="195605"/>
                    <a:pt x="0" y="189422"/>
                    <a:pt x="0" y="182974"/>
                  </a:cubicBezTo>
                  <a:lnTo>
                    <a:pt x="0" y="24309"/>
                  </a:lnTo>
                  <a:cubicBezTo>
                    <a:pt x="0" y="10884"/>
                    <a:pt x="10884" y="0"/>
                    <a:pt x="24309" y="0"/>
                  </a:cubicBezTo>
                  <a:close/>
                </a:path>
              </a:pathLst>
            </a:custGeom>
            <a:solidFill>
              <a:srgbClr val="084DA3"/>
            </a:solidFill>
          </p:spPr>
        </p:sp>
        <p:sp>
          <p:nvSpPr>
            <p:cNvPr name="TextBox 4" id="4"/>
            <p:cNvSpPr txBox="true"/>
            <p:nvPr/>
          </p:nvSpPr>
          <p:spPr>
            <a:xfrm>
              <a:off x="0" y="-47625"/>
              <a:ext cx="4277847" cy="254908"/>
            </a:xfrm>
            <a:prstGeom prst="rect">
              <a:avLst/>
            </a:prstGeom>
          </p:spPr>
          <p:txBody>
            <a:bodyPr anchor="ctr" rtlCol="false" tIns="50800" lIns="50800" bIns="50800" rIns="50800"/>
            <a:lstStyle/>
            <a:p>
              <a:pPr algn="ctr">
                <a:lnSpc>
                  <a:spcPts val="3079"/>
                </a:lnSpc>
              </a:pPr>
            </a:p>
          </p:txBody>
        </p:sp>
      </p:grpSp>
      <p:grpSp>
        <p:nvGrpSpPr>
          <p:cNvPr name="Group 5" id="5"/>
          <p:cNvGrpSpPr/>
          <p:nvPr/>
        </p:nvGrpSpPr>
        <p:grpSpPr>
          <a:xfrm rot="0">
            <a:off x="14453926" y="925677"/>
            <a:ext cx="2673290" cy="555951"/>
            <a:chOff x="0" y="0"/>
            <a:chExt cx="704076" cy="146423"/>
          </a:xfrm>
        </p:grpSpPr>
        <p:sp>
          <p:nvSpPr>
            <p:cNvPr name="Freeform 6" id="6"/>
            <p:cNvSpPr/>
            <p:nvPr/>
          </p:nvSpPr>
          <p:spPr>
            <a:xfrm flipH="false" flipV="false" rot="0">
              <a:off x="0" y="0"/>
              <a:ext cx="704076" cy="146423"/>
            </a:xfrm>
            <a:custGeom>
              <a:avLst/>
              <a:gdLst/>
              <a:ahLst/>
              <a:cxnLst/>
              <a:rect r="r" b="b" t="t" l="l"/>
              <a:pathLst>
                <a:path h="146423" w="704076">
                  <a:moveTo>
                    <a:pt x="73212" y="0"/>
                  </a:moveTo>
                  <a:lnTo>
                    <a:pt x="630865" y="0"/>
                  </a:lnTo>
                  <a:cubicBezTo>
                    <a:pt x="650282" y="0"/>
                    <a:pt x="668903" y="7713"/>
                    <a:pt x="682633" y="21443"/>
                  </a:cubicBezTo>
                  <a:cubicBezTo>
                    <a:pt x="696363" y="35173"/>
                    <a:pt x="704076" y="53795"/>
                    <a:pt x="704076" y="73212"/>
                  </a:cubicBezTo>
                  <a:lnTo>
                    <a:pt x="704076" y="73212"/>
                  </a:lnTo>
                  <a:cubicBezTo>
                    <a:pt x="704076" y="113645"/>
                    <a:pt x="671298" y="146423"/>
                    <a:pt x="630865" y="146423"/>
                  </a:cubicBezTo>
                  <a:lnTo>
                    <a:pt x="73212" y="146423"/>
                  </a:lnTo>
                  <a:cubicBezTo>
                    <a:pt x="32778" y="146423"/>
                    <a:pt x="0" y="113645"/>
                    <a:pt x="0" y="73212"/>
                  </a:cubicBezTo>
                  <a:lnTo>
                    <a:pt x="0" y="73212"/>
                  </a:lnTo>
                  <a:cubicBezTo>
                    <a:pt x="0" y="32778"/>
                    <a:pt x="32778" y="0"/>
                    <a:pt x="73212" y="0"/>
                  </a:cubicBezTo>
                  <a:close/>
                </a:path>
              </a:pathLst>
            </a:custGeom>
            <a:solidFill>
              <a:srgbClr val="FAFAFA"/>
            </a:solidFill>
          </p:spPr>
        </p:sp>
        <p:sp>
          <p:nvSpPr>
            <p:cNvPr name="TextBox 7" id="7"/>
            <p:cNvSpPr txBox="true"/>
            <p:nvPr/>
          </p:nvSpPr>
          <p:spPr>
            <a:xfrm>
              <a:off x="0" y="-47625"/>
              <a:ext cx="704076" cy="194048"/>
            </a:xfrm>
            <a:prstGeom prst="rect">
              <a:avLst/>
            </a:prstGeom>
          </p:spPr>
          <p:txBody>
            <a:bodyPr anchor="ctr" rtlCol="false" tIns="50800" lIns="50800" bIns="50800" rIns="50800"/>
            <a:lstStyle/>
            <a:p>
              <a:pPr algn="ctr">
                <a:lnSpc>
                  <a:spcPts val="3079"/>
                </a:lnSpc>
              </a:pPr>
            </a:p>
          </p:txBody>
        </p:sp>
      </p:grpSp>
      <p:sp>
        <p:nvSpPr>
          <p:cNvPr name="Freeform 8" id="8"/>
          <p:cNvSpPr/>
          <p:nvPr/>
        </p:nvSpPr>
        <p:spPr>
          <a:xfrm flipH="false" flipV="false" rot="0">
            <a:off x="16654546" y="1056159"/>
            <a:ext cx="294987" cy="294987"/>
          </a:xfrm>
          <a:custGeom>
            <a:avLst/>
            <a:gdLst/>
            <a:ahLst/>
            <a:cxnLst/>
            <a:rect r="r" b="b" t="t" l="l"/>
            <a:pathLst>
              <a:path h="294987" w="294987">
                <a:moveTo>
                  <a:pt x="0" y="0"/>
                </a:moveTo>
                <a:lnTo>
                  <a:pt x="294987" y="0"/>
                </a:lnTo>
                <a:lnTo>
                  <a:pt x="294987" y="294987"/>
                </a:lnTo>
                <a:lnTo>
                  <a:pt x="0" y="294987"/>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9" id="9"/>
          <p:cNvSpPr/>
          <p:nvPr/>
        </p:nvSpPr>
        <p:spPr>
          <a:xfrm flipH="false" flipV="false" rot="0">
            <a:off x="12503228" y="1961916"/>
            <a:ext cx="4756072" cy="7296384"/>
          </a:xfrm>
          <a:custGeom>
            <a:avLst/>
            <a:gdLst/>
            <a:ahLst/>
            <a:cxnLst/>
            <a:rect r="r" b="b" t="t" l="l"/>
            <a:pathLst>
              <a:path h="7296384" w="4756072">
                <a:moveTo>
                  <a:pt x="0" y="0"/>
                </a:moveTo>
                <a:lnTo>
                  <a:pt x="4756072" y="0"/>
                </a:lnTo>
                <a:lnTo>
                  <a:pt x="4756072" y="7296384"/>
                </a:lnTo>
                <a:lnTo>
                  <a:pt x="0" y="7296384"/>
                </a:lnTo>
                <a:lnTo>
                  <a:pt x="0" y="0"/>
                </a:lnTo>
                <a:close/>
              </a:path>
            </a:pathLst>
          </a:custGeom>
          <a:blipFill>
            <a:blip r:embed="rId4"/>
            <a:stretch>
              <a:fillRect l="-135286" t="-12790" r="-24913" b="0"/>
            </a:stretch>
          </a:blipFill>
        </p:spPr>
      </p:sp>
      <p:sp>
        <p:nvSpPr>
          <p:cNvPr name="TextBox 10" id="10"/>
          <p:cNvSpPr txBox="true"/>
          <p:nvPr/>
        </p:nvSpPr>
        <p:spPr>
          <a:xfrm rot="0">
            <a:off x="14789222" y="1012200"/>
            <a:ext cx="1674231" cy="358775"/>
          </a:xfrm>
          <a:prstGeom prst="rect">
            <a:avLst/>
          </a:prstGeom>
        </p:spPr>
        <p:txBody>
          <a:bodyPr anchor="t" rtlCol="false" tIns="0" lIns="0" bIns="0" rIns="0">
            <a:spAutoFit/>
          </a:bodyPr>
          <a:lstStyle/>
          <a:p>
            <a:pPr algn="l">
              <a:lnSpc>
                <a:spcPts val="2800"/>
              </a:lnSpc>
              <a:spcBef>
                <a:spcPct val="0"/>
              </a:spcBef>
            </a:pPr>
            <a:r>
              <a:rPr lang="en-US" sz="2000" i="true">
                <a:solidFill>
                  <a:srgbClr val="000000"/>
                </a:solidFill>
                <a:latin typeface="Raleway Italics"/>
                <a:ea typeface="Raleway Italics"/>
                <a:cs typeface="Raleway Italics"/>
                <a:sym typeface="Raleway Italics"/>
              </a:rPr>
              <a:t>Search. . .</a:t>
            </a:r>
          </a:p>
        </p:txBody>
      </p:sp>
      <p:sp>
        <p:nvSpPr>
          <p:cNvPr name="TextBox 11" id="11"/>
          <p:cNvSpPr txBox="true"/>
          <p:nvPr/>
        </p:nvSpPr>
        <p:spPr>
          <a:xfrm rot="0">
            <a:off x="5821584" y="988705"/>
            <a:ext cx="1472568" cy="382270"/>
          </a:xfrm>
          <a:prstGeom prst="rect">
            <a:avLst/>
          </a:prstGeom>
        </p:spPr>
        <p:txBody>
          <a:bodyPr anchor="t" rtlCol="false" tIns="0" lIns="0" bIns="0" rIns="0">
            <a:spAutoFit/>
          </a:bodyPr>
          <a:lstStyle/>
          <a:p>
            <a:pPr algn="ctr">
              <a:lnSpc>
                <a:spcPts val="3079"/>
              </a:lnSpc>
              <a:spcBef>
                <a:spcPct val="0"/>
              </a:spcBef>
            </a:pPr>
            <a:r>
              <a:rPr lang="en-US" sz="2199">
                <a:solidFill>
                  <a:srgbClr val="FAFAFA"/>
                </a:solidFill>
                <a:latin typeface="Raleway"/>
                <a:ea typeface="Raleway"/>
                <a:cs typeface="Raleway"/>
                <a:sym typeface="Raleway"/>
              </a:rPr>
              <a:t>Home</a:t>
            </a:r>
          </a:p>
        </p:txBody>
      </p:sp>
      <p:sp>
        <p:nvSpPr>
          <p:cNvPr name="TextBox 12" id="12"/>
          <p:cNvSpPr txBox="true"/>
          <p:nvPr/>
        </p:nvSpPr>
        <p:spPr>
          <a:xfrm rot="0">
            <a:off x="1282944" y="922665"/>
            <a:ext cx="3069916" cy="504826"/>
          </a:xfrm>
          <a:prstGeom prst="rect">
            <a:avLst/>
          </a:prstGeom>
        </p:spPr>
        <p:txBody>
          <a:bodyPr anchor="t" rtlCol="false" tIns="0" lIns="0" bIns="0" rIns="0">
            <a:spAutoFit/>
          </a:bodyPr>
          <a:lstStyle/>
          <a:p>
            <a:pPr algn="l">
              <a:lnSpc>
                <a:spcPts val="4199"/>
              </a:lnSpc>
              <a:spcBef>
                <a:spcPct val="0"/>
              </a:spcBef>
            </a:pPr>
            <a:r>
              <a:rPr lang="en-US" b="true" sz="2999">
                <a:solidFill>
                  <a:srgbClr val="FAFAFA"/>
                </a:solidFill>
                <a:latin typeface="Raleway Bold"/>
                <a:ea typeface="Raleway Bold"/>
                <a:cs typeface="Raleway Bold"/>
                <a:sym typeface="Raleway Bold"/>
              </a:rPr>
              <a:t>AeroNova</a:t>
            </a:r>
          </a:p>
        </p:txBody>
      </p:sp>
      <p:sp>
        <p:nvSpPr>
          <p:cNvPr name="TextBox 13" id="13"/>
          <p:cNvSpPr txBox="true"/>
          <p:nvPr/>
        </p:nvSpPr>
        <p:spPr>
          <a:xfrm rot="0">
            <a:off x="7602942" y="988705"/>
            <a:ext cx="1771891" cy="382270"/>
          </a:xfrm>
          <a:prstGeom prst="rect">
            <a:avLst/>
          </a:prstGeom>
        </p:spPr>
        <p:txBody>
          <a:bodyPr anchor="t" rtlCol="false" tIns="0" lIns="0" bIns="0" rIns="0">
            <a:spAutoFit/>
          </a:bodyPr>
          <a:lstStyle/>
          <a:p>
            <a:pPr algn="ctr">
              <a:lnSpc>
                <a:spcPts val="3079"/>
              </a:lnSpc>
              <a:spcBef>
                <a:spcPct val="0"/>
              </a:spcBef>
            </a:pPr>
            <a:r>
              <a:rPr lang="en-US" sz="2199">
                <a:solidFill>
                  <a:srgbClr val="FAFAFA"/>
                </a:solidFill>
                <a:latin typeface="Raleway"/>
                <a:ea typeface="Raleway"/>
                <a:cs typeface="Raleway"/>
                <a:sym typeface="Raleway"/>
              </a:rPr>
              <a:t>About Us</a:t>
            </a:r>
          </a:p>
        </p:txBody>
      </p:sp>
      <p:sp>
        <p:nvSpPr>
          <p:cNvPr name="TextBox 14" id="14"/>
          <p:cNvSpPr txBox="true"/>
          <p:nvPr/>
        </p:nvSpPr>
        <p:spPr>
          <a:xfrm rot="0">
            <a:off x="11400952" y="988705"/>
            <a:ext cx="1674231" cy="382270"/>
          </a:xfrm>
          <a:prstGeom prst="rect">
            <a:avLst/>
          </a:prstGeom>
        </p:spPr>
        <p:txBody>
          <a:bodyPr anchor="t" rtlCol="false" tIns="0" lIns="0" bIns="0" rIns="0">
            <a:spAutoFit/>
          </a:bodyPr>
          <a:lstStyle/>
          <a:p>
            <a:pPr algn="ctr">
              <a:lnSpc>
                <a:spcPts val="3079"/>
              </a:lnSpc>
              <a:spcBef>
                <a:spcPct val="0"/>
              </a:spcBef>
            </a:pPr>
            <a:r>
              <a:rPr lang="en-US" sz="2199">
                <a:solidFill>
                  <a:srgbClr val="FAFAFA"/>
                </a:solidFill>
                <a:latin typeface="Raleway"/>
                <a:ea typeface="Raleway"/>
                <a:cs typeface="Raleway"/>
                <a:sym typeface="Raleway"/>
              </a:rPr>
              <a:t>Contact</a:t>
            </a:r>
          </a:p>
        </p:txBody>
      </p:sp>
      <p:sp>
        <p:nvSpPr>
          <p:cNvPr name="TextBox 15" id="15"/>
          <p:cNvSpPr txBox="true"/>
          <p:nvPr/>
        </p:nvSpPr>
        <p:spPr>
          <a:xfrm rot="0">
            <a:off x="9683624" y="988705"/>
            <a:ext cx="1408538" cy="382270"/>
          </a:xfrm>
          <a:prstGeom prst="rect">
            <a:avLst/>
          </a:prstGeom>
        </p:spPr>
        <p:txBody>
          <a:bodyPr anchor="t" rtlCol="false" tIns="0" lIns="0" bIns="0" rIns="0">
            <a:spAutoFit/>
          </a:bodyPr>
          <a:lstStyle/>
          <a:p>
            <a:pPr algn="ctr">
              <a:lnSpc>
                <a:spcPts val="3079"/>
              </a:lnSpc>
              <a:spcBef>
                <a:spcPct val="0"/>
              </a:spcBef>
            </a:pPr>
            <a:r>
              <a:rPr lang="en-US" b="true" sz="2199">
                <a:solidFill>
                  <a:srgbClr val="FAFAFA"/>
                </a:solidFill>
                <a:latin typeface="Raleway Bold"/>
                <a:ea typeface="Raleway Bold"/>
                <a:cs typeface="Raleway Bold"/>
                <a:sym typeface="Raleway Bold"/>
              </a:rPr>
              <a:t>Service</a:t>
            </a:r>
          </a:p>
        </p:txBody>
      </p:sp>
      <p:sp>
        <p:nvSpPr>
          <p:cNvPr name="TextBox 16" id="16"/>
          <p:cNvSpPr txBox="true"/>
          <p:nvPr/>
        </p:nvSpPr>
        <p:spPr>
          <a:xfrm rot="0">
            <a:off x="1028700" y="2076216"/>
            <a:ext cx="11036736" cy="3704691"/>
          </a:xfrm>
          <a:prstGeom prst="rect">
            <a:avLst/>
          </a:prstGeom>
        </p:spPr>
        <p:txBody>
          <a:bodyPr anchor="t" rtlCol="false" tIns="0" lIns="0" bIns="0" rIns="0">
            <a:spAutoFit/>
          </a:bodyPr>
          <a:lstStyle/>
          <a:p>
            <a:pPr algn="l">
              <a:lnSpc>
                <a:spcPts val="9621"/>
              </a:lnSpc>
            </a:pPr>
            <a:r>
              <a:rPr lang="en-US" sz="9077" b="true">
                <a:solidFill>
                  <a:srgbClr val="004CA6"/>
                </a:solidFill>
                <a:latin typeface="Raleway Heavy"/>
                <a:ea typeface="Raleway Heavy"/>
                <a:cs typeface="Raleway Heavy"/>
                <a:sym typeface="Raleway Heavy"/>
              </a:rPr>
              <a:t>SECURITY </a:t>
            </a:r>
            <a:r>
              <a:rPr lang="en-US" sz="9077" b="true">
                <a:solidFill>
                  <a:srgbClr val="000000"/>
                </a:solidFill>
                <a:latin typeface="Raleway Heavy"/>
                <a:ea typeface="Raleway Heavy"/>
                <a:cs typeface="Raleway Heavy"/>
                <a:sym typeface="Raleway Heavy"/>
              </a:rPr>
              <a:t>IMPLEMENTATIONS</a:t>
            </a:r>
          </a:p>
          <a:p>
            <a:pPr algn="l">
              <a:lnSpc>
                <a:spcPts val="9621"/>
              </a:lnSpc>
            </a:pPr>
          </a:p>
        </p:txBody>
      </p:sp>
      <p:sp>
        <p:nvSpPr>
          <p:cNvPr name="TextBox 17" id="17"/>
          <p:cNvSpPr txBox="true"/>
          <p:nvPr/>
        </p:nvSpPr>
        <p:spPr>
          <a:xfrm rot="0">
            <a:off x="1028700" y="4734319"/>
            <a:ext cx="15017443" cy="4540250"/>
          </a:xfrm>
          <a:prstGeom prst="rect">
            <a:avLst/>
          </a:prstGeom>
        </p:spPr>
        <p:txBody>
          <a:bodyPr anchor="t" rtlCol="false" tIns="0" lIns="0" bIns="0" rIns="0">
            <a:spAutoFit/>
          </a:bodyPr>
          <a:lstStyle/>
          <a:p>
            <a:pPr algn="l" marL="0" indent="0" lvl="0">
              <a:lnSpc>
                <a:spcPts val="4199"/>
              </a:lnSpc>
              <a:spcBef>
                <a:spcPct val="0"/>
              </a:spcBef>
            </a:pPr>
            <a:r>
              <a:rPr lang="en-US" b="true" sz="2999" spc="-125">
                <a:solidFill>
                  <a:srgbClr val="084DA3"/>
                </a:solidFill>
                <a:latin typeface="Raleway Bold"/>
                <a:ea typeface="Raleway Bold"/>
                <a:cs typeface="Raleway Bold"/>
                <a:sym typeface="Raleway Bold"/>
              </a:rPr>
              <a:t>We applied SSH on th</a:t>
            </a:r>
            <a:r>
              <a:rPr lang="en-US" b="true" sz="2999" spc="-125" strike="noStrike" u="none">
                <a:solidFill>
                  <a:srgbClr val="084DA3"/>
                </a:solidFill>
                <a:latin typeface="Raleway Bold"/>
                <a:ea typeface="Raleway Bold"/>
                <a:cs typeface="Raleway Bold"/>
                <a:sym typeface="Raleway Bold"/>
              </a:rPr>
              <a:t>e Backbone Router.</a:t>
            </a:r>
          </a:p>
          <a:p>
            <a:pPr algn="l" marL="0" indent="0" lvl="0">
              <a:lnSpc>
                <a:spcPts val="3499"/>
              </a:lnSpc>
              <a:spcBef>
                <a:spcPct val="0"/>
              </a:spcBef>
            </a:pPr>
            <a:r>
              <a:rPr lang="en-US" b="true" sz="2499" spc="-104" strike="noStrike" u="none">
                <a:solidFill>
                  <a:srgbClr val="000000"/>
                </a:solidFill>
                <a:latin typeface="Raleway Bold"/>
                <a:ea typeface="Raleway Bold"/>
                <a:cs typeface="Raleway Bold"/>
                <a:sym typeface="Raleway Bold"/>
              </a:rPr>
              <a:t>Encrypted remote management — replaced Telnet with SSH.</a:t>
            </a:r>
          </a:p>
          <a:p>
            <a:pPr algn="l" marL="0" indent="0" lvl="0">
              <a:lnSpc>
                <a:spcPts val="3499"/>
              </a:lnSpc>
              <a:spcBef>
                <a:spcPct val="0"/>
              </a:spcBef>
            </a:pPr>
            <a:r>
              <a:rPr lang="en-US" b="true" sz="2499" spc="-104" strike="noStrike" u="none">
                <a:solidFill>
                  <a:srgbClr val="000000"/>
                </a:solidFill>
                <a:latin typeface="Raleway Bold"/>
                <a:ea typeface="Raleway Bold"/>
                <a:cs typeface="Raleway Bold"/>
                <a:sym typeface="Raleway Bold"/>
              </a:rPr>
              <a:t>Configured RSA keys, local admin user, and transport input ssh on VTY lines.</a:t>
            </a:r>
          </a:p>
          <a:p>
            <a:pPr algn="l" marL="0" indent="0" lvl="0">
              <a:lnSpc>
                <a:spcPts val="3499"/>
              </a:lnSpc>
              <a:spcBef>
                <a:spcPct val="0"/>
              </a:spcBef>
            </a:pPr>
            <a:r>
              <a:rPr lang="en-US" b="true" sz="2499" spc="-104" strike="noStrike" u="none">
                <a:solidFill>
                  <a:srgbClr val="000000"/>
                </a:solidFill>
                <a:latin typeface="Raleway Bold"/>
                <a:ea typeface="Raleway Bold"/>
                <a:cs typeface="Raleway Bold"/>
                <a:sym typeface="Raleway Bold"/>
              </a:rPr>
              <a:t>Result: Secure admin access to the core router.</a:t>
            </a:r>
          </a:p>
          <a:p>
            <a:pPr algn="l" marL="0" indent="0" lvl="0">
              <a:lnSpc>
                <a:spcPts val="3499"/>
              </a:lnSpc>
              <a:spcBef>
                <a:spcPct val="0"/>
              </a:spcBef>
            </a:pPr>
          </a:p>
          <a:p>
            <a:pPr algn="l" marL="0" indent="0" lvl="0">
              <a:lnSpc>
                <a:spcPts val="4199"/>
              </a:lnSpc>
              <a:spcBef>
                <a:spcPct val="0"/>
              </a:spcBef>
            </a:pPr>
            <a:r>
              <a:rPr lang="en-US" b="true" sz="2999" spc="-125" strike="noStrike" u="none">
                <a:solidFill>
                  <a:srgbClr val="084DA3"/>
                </a:solidFill>
                <a:latin typeface="Raleway Bold"/>
                <a:ea typeface="Raleway Bold"/>
                <a:cs typeface="Raleway Bold"/>
                <a:sym typeface="Raleway Bold"/>
              </a:rPr>
              <a:t>We also applied an ACL on a PC in the Left Side Management.</a:t>
            </a:r>
          </a:p>
          <a:p>
            <a:pPr algn="l" marL="0" indent="0" lvl="0">
              <a:lnSpc>
                <a:spcPts val="3499"/>
              </a:lnSpc>
              <a:spcBef>
                <a:spcPct val="0"/>
              </a:spcBef>
            </a:pPr>
            <a:r>
              <a:rPr lang="en-US" b="true" sz="2499" spc="-104" strike="noStrike" u="none">
                <a:solidFill>
                  <a:srgbClr val="000000"/>
                </a:solidFill>
                <a:latin typeface="Raleway Bold"/>
                <a:ea typeface="Raleway Bold"/>
                <a:cs typeface="Raleway Bold"/>
                <a:sym typeface="Raleway Bold"/>
              </a:rPr>
              <a:t>Located at 10.20.40.x — policy enforced at the gateway (Router1).</a:t>
            </a:r>
          </a:p>
          <a:p>
            <a:pPr algn="l" marL="0" indent="0" lvl="0">
              <a:lnSpc>
                <a:spcPts val="3499"/>
              </a:lnSpc>
              <a:spcBef>
                <a:spcPct val="0"/>
              </a:spcBef>
            </a:pPr>
            <a:r>
              <a:rPr lang="en-US" b="true" sz="2499" spc="-104" strike="noStrike" u="none">
                <a:solidFill>
                  <a:srgbClr val="000000"/>
                </a:solidFill>
                <a:latin typeface="Raleway Bold"/>
                <a:ea typeface="Raleway Bold"/>
                <a:cs typeface="Raleway Bold"/>
                <a:sym typeface="Raleway Bold"/>
              </a:rPr>
              <a:t>Denied: Access to Web Server (10.20.30.3).</a:t>
            </a:r>
          </a:p>
          <a:p>
            <a:pPr algn="l" marL="0" indent="0" lvl="0">
              <a:lnSpc>
                <a:spcPts val="3499"/>
              </a:lnSpc>
              <a:spcBef>
                <a:spcPct val="0"/>
              </a:spcBef>
            </a:pPr>
            <a:r>
              <a:rPr lang="en-US" b="true" sz="2499" spc="-104" strike="noStrike" u="none">
                <a:solidFill>
                  <a:srgbClr val="000000"/>
                </a:solidFill>
                <a:latin typeface="Raleway Bold"/>
                <a:ea typeface="Raleway Bold"/>
                <a:cs typeface="Raleway Bold"/>
                <a:sym typeface="Raleway Bold"/>
              </a:rPr>
              <a:t>Permitted: Server Room (10.20.30.0/24) and Right Management (10.20.50.0/24).</a:t>
            </a:r>
          </a:p>
          <a:p>
            <a:pPr algn="l" marL="0" indent="0" lvl="0">
              <a:lnSpc>
                <a:spcPts val="3499"/>
              </a:lnSpc>
              <a:spcBef>
                <a:spcPct val="0"/>
              </a:spcBef>
            </a:pPr>
            <a:r>
              <a:rPr lang="en-US" b="true" sz="2499" spc="-104" strike="noStrike" u="none">
                <a:solidFill>
                  <a:srgbClr val="000000"/>
                </a:solidFill>
                <a:latin typeface="Raleway Bold"/>
                <a:ea typeface="Raleway Bold"/>
                <a:cs typeface="Raleway Bold"/>
                <a:sym typeface="Raleway Bold"/>
              </a:rPr>
              <a:t>Implicit deny-all at the end.</a:t>
            </a:r>
          </a:p>
        </p:txBody>
      </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bg>
      <p:bgPr>
        <a:solidFill>
          <a:srgbClr val="FAFAFA"/>
        </a:solidFill>
      </p:bgPr>
    </p:bg>
    <p:spTree>
      <p:nvGrpSpPr>
        <p:cNvPr id="1" name=""/>
        <p:cNvGrpSpPr/>
        <p:nvPr/>
      </p:nvGrpSpPr>
      <p:grpSpPr>
        <a:xfrm>
          <a:off x="0" y="0"/>
          <a:ext cx="0" cy="0"/>
          <a:chOff x="0" y="0"/>
          <a:chExt cx="0" cy="0"/>
        </a:xfrm>
      </p:grpSpPr>
      <p:grpSp>
        <p:nvGrpSpPr>
          <p:cNvPr name="Group 2" id="2"/>
          <p:cNvGrpSpPr/>
          <p:nvPr/>
        </p:nvGrpSpPr>
        <p:grpSpPr>
          <a:xfrm rot="0">
            <a:off x="1016848" y="810138"/>
            <a:ext cx="16242452" cy="787029"/>
            <a:chOff x="0" y="0"/>
            <a:chExt cx="4277847" cy="207283"/>
          </a:xfrm>
        </p:grpSpPr>
        <p:sp>
          <p:nvSpPr>
            <p:cNvPr name="Freeform 3" id="3"/>
            <p:cNvSpPr/>
            <p:nvPr/>
          </p:nvSpPr>
          <p:spPr>
            <a:xfrm flipH="false" flipV="false" rot="0">
              <a:off x="0" y="0"/>
              <a:ext cx="4277847" cy="207283"/>
            </a:xfrm>
            <a:custGeom>
              <a:avLst/>
              <a:gdLst/>
              <a:ahLst/>
              <a:cxnLst/>
              <a:rect r="r" b="b" t="t" l="l"/>
              <a:pathLst>
                <a:path h="207283" w="4277847">
                  <a:moveTo>
                    <a:pt x="24309" y="0"/>
                  </a:moveTo>
                  <a:lnTo>
                    <a:pt x="4253538" y="0"/>
                  </a:lnTo>
                  <a:cubicBezTo>
                    <a:pt x="4259986" y="0"/>
                    <a:pt x="4266169" y="2561"/>
                    <a:pt x="4270727" y="7120"/>
                  </a:cubicBezTo>
                  <a:cubicBezTo>
                    <a:pt x="4275286" y="11679"/>
                    <a:pt x="4277847" y="17862"/>
                    <a:pt x="4277847" y="24309"/>
                  </a:cubicBezTo>
                  <a:lnTo>
                    <a:pt x="4277847" y="182974"/>
                  </a:lnTo>
                  <a:cubicBezTo>
                    <a:pt x="4277847" y="196400"/>
                    <a:pt x="4266964" y="207283"/>
                    <a:pt x="4253538" y="207283"/>
                  </a:cubicBezTo>
                  <a:lnTo>
                    <a:pt x="24309" y="207283"/>
                  </a:lnTo>
                  <a:cubicBezTo>
                    <a:pt x="17862" y="207283"/>
                    <a:pt x="11679" y="204722"/>
                    <a:pt x="7120" y="200163"/>
                  </a:cubicBezTo>
                  <a:cubicBezTo>
                    <a:pt x="2561" y="195605"/>
                    <a:pt x="0" y="189422"/>
                    <a:pt x="0" y="182974"/>
                  </a:cubicBezTo>
                  <a:lnTo>
                    <a:pt x="0" y="24309"/>
                  </a:lnTo>
                  <a:cubicBezTo>
                    <a:pt x="0" y="10884"/>
                    <a:pt x="10884" y="0"/>
                    <a:pt x="24309" y="0"/>
                  </a:cubicBezTo>
                  <a:close/>
                </a:path>
              </a:pathLst>
            </a:custGeom>
            <a:solidFill>
              <a:srgbClr val="084DA3"/>
            </a:solidFill>
          </p:spPr>
        </p:sp>
        <p:sp>
          <p:nvSpPr>
            <p:cNvPr name="TextBox 4" id="4"/>
            <p:cNvSpPr txBox="true"/>
            <p:nvPr/>
          </p:nvSpPr>
          <p:spPr>
            <a:xfrm>
              <a:off x="0" y="-47625"/>
              <a:ext cx="4277847" cy="254908"/>
            </a:xfrm>
            <a:prstGeom prst="rect">
              <a:avLst/>
            </a:prstGeom>
          </p:spPr>
          <p:txBody>
            <a:bodyPr anchor="ctr" rtlCol="false" tIns="50800" lIns="50800" bIns="50800" rIns="50800"/>
            <a:lstStyle/>
            <a:p>
              <a:pPr algn="ctr">
                <a:lnSpc>
                  <a:spcPts val="3079"/>
                </a:lnSpc>
              </a:pPr>
            </a:p>
          </p:txBody>
        </p:sp>
      </p:grpSp>
      <p:grpSp>
        <p:nvGrpSpPr>
          <p:cNvPr name="Group 5" id="5"/>
          <p:cNvGrpSpPr/>
          <p:nvPr/>
        </p:nvGrpSpPr>
        <p:grpSpPr>
          <a:xfrm rot="0">
            <a:off x="14453926" y="925677"/>
            <a:ext cx="2673290" cy="555951"/>
            <a:chOff x="0" y="0"/>
            <a:chExt cx="704076" cy="146423"/>
          </a:xfrm>
        </p:grpSpPr>
        <p:sp>
          <p:nvSpPr>
            <p:cNvPr name="Freeform 6" id="6"/>
            <p:cNvSpPr/>
            <p:nvPr/>
          </p:nvSpPr>
          <p:spPr>
            <a:xfrm flipH="false" flipV="false" rot="0">
              <a:off x="0" y="0"/>
              <a:ext cx="704076" cy="146423"/>
            </a:xfrm>
            <a:custGeom>
              <a:avLst/>
              <a:gdLst/>
              <a:ahLst/>
              <a:cxnLst/>
              <a:rect r="r" b="b" t="t" l="l"/>
              <a:pathLst>
                <a:path h="146423" w="704076">
                  <a:moveTo>
                    <a:pt x="73212" y="0"/>
                  </a:moveTo>
                  <a:lnTo>
                    <a:pt x="630865" y="0"/>
                  </a:lnTo>
                  <a:cubicBezTo>
                    <a:pt x="650282" y="0"/>
                    <a:pt x="668903" y="7713"/>
                    <a:pt x="682633" y="21443"/>
                  </a:cubicBezTo>
                  <a:cubicBezTo>
                    <a:pt x="696363" y="35173"/>
                    <a:pt x="704076" y="53795"/>
                    <a:pt x="704076" y="73212"/>
                  </a:cubicBezTo>
                  <a:lnTo>
                    <a:pt x="704076" y="73212"/>
                  </a:lnTo>
                  <a:cubicBezTo>
                    <a:pt x="704076" y="113645"/>
                    <a:pt x="671298" y="146423"/>
                    <a:pt x="630865" y="146423"/>
                  </a:cubicBezTo>
                  <a:lnTo>
                    <a:pt x="73212" y="146423"/>
                  </a:lnTo>
                  <a:cubicBezTo>
                    <a:pt x="32778" y="146423"/>
                    <a:pt x="0" y="113645"/>
                    <a:pt x="0" y="73212"/>
                  </a:cubicBezTo>
                  <a:lnTo>
                    <a:pt x="0" y="73212"/>
                  </a:lnTo>
                  <a:cubicBezTo>
                    <a:pt x="0" y="32778"/>
                    <a:pt x="32778" y="0"/>
                    <a:pt x="73212" y="0"/>
                  </a:cubicBezTo>
                  <a:close/>
                </a:path>
              </a:pathLst>
            </a:custGeom>
            <a:solidFill>
              <a:srgbClr val="FAFAFA"/>
            </a:solidFill>
          </p:spPr>
        </p:sp>
        <p:sp>
          <p:nvSpPr>
            <p:cNvPr name="TextBox 7" id="7"/>
            <p:cNvSpPr txBox="true"/>
            <p:nvPr/>
          </p:nvSpPr>
          <p:spPr>
            <a:xfrm>
              <a:off x="0" y="-47625"/>
              <a:ext cx="704076" cy="194048"/>
            </a:xfrm>
            <a:prstGeom prst="rect">
              <a:avLst/>
            </a:prstGeom>
          </p:spPr>
          <p:txBody>
            <a:bodyPr anchor="ctr" rtlCol="false" tIns="50800" lIns="50800" bIns="50800" rIns="50800"/>
            <a:lstStyle/>
            <a:p>
              <a:pPr algn="ctr">
                <a:lnSpc>
                  <a:spcPts val="3079"/>
                </a:lnSpc>
              </a:pPr>
            </a:p>
          </p:txBody>
        </p:sp>
      </p:grpSp>
      <p:sp>
        <p:nvSpPr>
          <p:cNvPr name="Freeform 8" id="8"/>
          <p:cNvSpPr/>
          <p:nvPr/>
        </p:nvSpPr>
        <p:spPr>
          <a:xfrm flipH="false" flipV="false" rot="0">
            <a:off x="16654546" y="1056159"/>
            <a:ext cx="294987" cy="294987"/>
          </a:xfrm>
          <a:custGeom>
            <a:avLst/>
            <a:gdLst/>
            <a:ahLst/>
            <a:cxnLst/>
            <a:rect r="r" b="b" t="t" l="l"/>
            <a:pathLst>
              <a:path h="294987" w="294987">
                <a:moveTo>
                  <a:pt x="0" y="0"/>
                </a:moveTo>
                <a:lnTo>
                  <a:pt x="294987" y="0"/>
                </a:lnTo>
                <a:lnTo>
                  <a:pt x="294987" y="294987"/>
                </a:lnTo>
                <a:lnTo>
                  <a:pt x="0" y="294987"/>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9" id="9"/>
          <p:cNvSpPr txBox="true"/>
          <p:nvPr/>
        </p:nvSpPr>
        <p:spPr>
          <a:xfrm rot="0">
            <a:off x="14789222" y="1012200"/>
            <a:ext cx="1674231" cy="358775"/>
          </a:xfrm>
          <a:prstGeom prst="rect">
            <a:avLst/>
          </a:prstGeom>
        </p:spPr>
        <p:txBody>
          <a:bodyPr anchor="t" rtlCol="false" tIns="0" lIns="0" bIns="0" rIns="0">
            <a:spAutoFit/>
          </a:bodyPr>
          <a:lstStyle/>
          <a:p>
            <a:pPr algn="l">
              <a:lnSpc>
                <a:spcPts val="2800"/>
              </a:lnSpc>
              <a:spcBef>
                <a:spcPct val="0"/>
              </a:spcBef>
            </a:pPr>
            <a:r>
              <a:rPr lang="en-US" sz="2000" i="true">
                <a:solidFill>
                  <a:srgbClr val="000000"/>
                </a:solidFill>
                <a:latin typeface="Raleway Italics"/>
                <a:ea typeface="Raleway Italics"/>
                <a:cs typeface="Raleway Italics"/>
                <a:sym typeface="Raleway Italics"/>
              </a:rPr>
              <a:t>Search. . .</a:t>
            </a:r>
          </a:p>
        </p:txBody>
      </p:sp>
      <p:sp>
        <p:nvSpPr>
          <p:cNvPr name="TextBox 10" id="10"/>
          <p:cNvSpPr txBox="true"/>
          <p:nvPr/>
        </p:nvSpPr>
        <p:spPr>
          <a:xfrm rot="0">
            <a:off x="5821584" y="988705"/>
            <a:ext cx="1472568" cy="382270"/>
          </a:xfrm>
          <a:prstGeom prst="rect">
            <a:avLst/>
          </a:prstGeom>
        </p:spPr>
        <p:txBody>
          <a:bodyPr anchor="t" rtlCol="false" tIns="0" lIns="0" bIns="0" rIns="0">
            <a:spAutoFit/>
          </a:bodyPr>
          <a:lstStyle/>
          <a:p>
            <a:pPr algn="ctr">
              <a:lnSpc>
                <a:spcPts val="3079"/>
              </a:lnSpc>
              <a:spcBef>
                <a:spcPct val="0"/>
              </a:spcBef>
            </a:pPr>
            <a:r>
              <a:rPr lang="en-US" sz="2199">
                <a:solidFill>
                  <a:srgbClr val="FAFAFA"/>
                </a:solidFill>
                <a:latin typeface="Raleway"/>
                <a:ea typeface="Raleway"/>
                <a:cs typeface="Raleway"/>
                <a:sym typeface="Raleway"/>
              </a:rPr>
              <a:t>Home</a:t>
            </a:r>
          </a:p>
        </p:txBody>
      </p:sp>
      <p:sp>
        <p:nvSpPr>
          <p:cNvPr name="TextBox 11" id="11"/>
          <p:cNvSpPr txBox="true"/>
          <p:nvPr/>
        </p:nvSpPr>
        <p:spPr>
          <a:xfrm rot="0">
            <a:off x="1282944" y="922665"/>
            <a:ext cx="3069916" cy="504826"/>
          </a:xfrm>
          <a:prstGeom prst="rect">
            <a:avLst/>
          </a:prstGeom>
        </p:spPr>
        <p:txBody>
          <a:bodyPr anchor="t" rtlCol="false" tIns="0" lIns="0" bIns="0" rIns="0">
            <a:spAutoFit/>
          </a:bodyPr>
          <a:lstStyle/>
          <a:p>
            <a:pPr algn="l">
              <a:lnSpc>
                <a:spcPts val="4199"/>
              </a:lnSpc>
              <a:spcBef>
                <a:spcPct val="0"/>
              </a:spcBef>
            </a:pPr>
            <a:r>
              <a:rPr lang="en-US" b="true" sz="2999">
                <a:solidFill>
                  <a:srgbClr val="FAFAFA"/>
                </a:solidFill>
                <a:latin typeface="Raleway Bold"/>
                <a:ea typeface="Raleway Bold"/>
                <a:cs typeface="Raleway Bold"/>
                <a:sym typeface="Raleway Bold"/>
              </a:rPr>
              <a:t>AeroNova</a:t>
            </a:r>
          </a:p>
        </p:txBody>
      </p:sp>
      <p:sp>
        <p:nvSpPr>
          <p:cNvPr name="TextBox 12" id="12"/>
          <p:cNvSpPr txBox="true"/>
          <p:nvPr/>
        </p:nvSpPr>
        <p:spPr>
          <a:xfrm rot="0">
            <a:off x="7602942" y="988705"/>
            <a:ext cx="1771891" cy="382270"/>
          </a:xfrm>
          <a:prstGeom prst="rect">
            <a:avLst/>
          </a:prstGeom>
        </p:spPr>
        <p:txBody>
          <a:bodyPr anchor="t" rtlCol="false" tIns="0" lIns="0" bIns="0" rIns="0">
            <a:spAutoFit/>
          </a:bodyPr>
          <a:lstStyle/>
          <a:p>
            <a:pPr algn="ctr">
              <a:lnSpc>
                <a:spcPts val="3079"/>
              </a:lnSpc>
              <a:spcBef>
                <a:spcPct val="0"/>
              </a:spcBef>
            </a:pPr>
            <a:r>
              <a:rPr lang="en-US" sz="2199">
                <a:solidFill>
                  <a:srgbClr val="FAFAFA"/>
                </a:solidFill>
                <a:latin typeface="Raleway"/>
                <a:ea typeface="Raleway"/>
                <a:cs typeface="Raleway"/>
                <a:sym typeface="Raleway"/>
              </a:rPr>
              <a:t>About Us</a:t>
            </a:r>
          </a:p>
        </p:txBody>
      </p:sp>
      <p:sp>
        <p:nvSpPr>
          <p:cNvPr name="TextBox 13" id="13"/>
          <p:cNvSpPr txBox="true"/>
          <p:nvPr/>
        </p:nvSpPr>
        <p:spPr>
          <a:xfrm rot="0">
            <a:off x="11400952" y="988705"/>
            <a:ext cx="1674231" cy="382270"/>
          </a:xfrm>
          <a:prstGeom prst="rect">
            <a:avLst/>
          </a:prstGeom>
        </p:spPr>
        <p:txBody>
          <a:bodyPr anchor="t" rtlCol="false" tIns="0" lIns="0" bIns="0" rIns="0">
            <a:spAutoFit/>
          </a:bodyPr>
          <a:lstStyle/>
          <a:p>
            <a:pPr algn="ctr">
              <a:lnSpc>
                <a:spcPts val="3079"/>
              </a:lnSpc>
              <a:spcBef>
                <a:spcPct val="0"/>
              </a:spcBef>
            </a:pPr>
            <a:r>
              <a:rPr lang="en-US" sz="2199">
                <a:solidFill>
                  <a:srgbClr val="FAFAFA"/>
                </a:solidFill>
                <a:latin typeface="Raleway"/>
                <a:ea typeface="Raleway"/>
                <a:cs typeface="Raleway"/>
                <a:sym typeface="Raleway"/>
              </a:rPr>
              <a:t>Contact</a:t>
            </a:r>
          </a:p>
        </p:txBody>
      </p:sp>
      <p:sp>
        <p:nvSpPr>
          <p:cNvPr name="TextBox 14" id="14"/>
          <p:cNvSpPr txBox="true"/>
          <p:nvPr/>
        </p:nvSpPr>
        <p:spPr>
          <a:xfrm rot="0">
            <a:off x="9683624" y="988705"/>
            <a:ext cx="1408538" cy="382270"/>
          </a:xfrm>
          <a:prstGeom prst="rect">
            <a:avLst/>
          </a:prstGeom>
        </p:spPr>
        <p:txBody>
          <a:bodyPr anchor="t" rtlCol="false" tIns="0" lIns="0" bIns="0" rIns="0">
            <a:spAutoFit/>
          </a:bodyPr>
          <a:lstStyle/>
          <a:p>
            <a:pPr algn="ctr">
              <a:lnSpc>
                <a:spcPts val="3079"/>
              </a:lnSpc>
              <a:spcBef>
                <a:spcPct val="0"/>
              </a:spcBef>
            </a:pPr>
            <a:r>
              <a:rPr lang="en-US" b="true" sz="2199">
                <a:solidFill>
                  <a:srgbClr val="FAFAFA"/>
                </a:solidFill>
                <a:latin typeface="Raleway Bold"/>
                <a:ea typeface="Raleway Bold"/>
                <a:cs typeface="Raleway Bold"/>
                <a:sym typeface="Raleway Bold"/>
              </a:rPr>
              <a:t>Service</a:t>
            </a:r>
          </a:p>
        </p:txBody>
      </p:sp>
      <p:sp>
        <p:nvSpPr>
          <p:cNvPr name="TextBox 15" id="15"/>
          <p:cNvSpPr txBox="true"/>
          <p:nvPr/>
        </p:nvSpPr>
        <p:spPr>
          <a:xfrm rot="0">
            <a:off x="1028700" y="2076216"/>
            <a:ext cx="8924551" cy="2485491"/>
          </a:xfrm>
          <a:prstGeom prst="rect">
            <a:avLst/>
          </a:prstGeom>
        </p:spPr>
        <p:txBody>
          <a:bodyPr anchor="t" rtlCol="false" tIns="0" lIns="0" bIns="0" rIns="0">
            <a:spAutoFit/>
          </a:bodyPr>
          <a:lstStyle/>
          <a:p>
            <a:pPr algn="l">
              <a:lnSpc>
                <a:spcPts val="9621"/>
              </a:lnSpc>
            </a:pPr>
            <a:r>
              <a:rPr lang="en-US" b="true" sz="9077">
                <a:solidFill>
                  <a:srgbClr val="000000"/>
                </a:solidFill>
                <a:latin typeface="Raleway Heavy"/>
                <a:ea typeface="Raleway Heavy"/>
                <a:cs typeface="Raleway Heavy"/>
                <a:sym typeface="Raleway Heavy"/>
              </a:rPr>
              <a:t>WIRELESS </a:t>
            </a:r>
            <a:r>
              <a:rPr lang="en-US" b="true" sz="9077">
                <a:solidFill>
                  <a:srgbClr val="004CA6"/>
                </a:solidFill>
                <a:latin typeface="Raleway Heavy"/>
                <a:ea typeface="Raleway Heavy"/>
                <a:cs typeface="Raleway Heavy"/>
                <a:sym typeface="Raleway Heavy"/>
              </a:rPr>
              <a:t>CONNECTIVITY</a:t>
            </a:r>
          </a:p>
        </p:txBody>
      </p:sp>
      <p:grpSp>
        <p:nvGrpSpPr>
          <p:cNvPr name="Group 16" id="16"/>
          <p:cNvGrpSpPr/>
          <p:nvPr/>
        </p:nvGrpSpPr>
        <p:grpSpPr>
          <a:xfrm rot="0">
            <a:off x="10684081" y="1961916"/>
            <a:ext cx="6265452" cy="2915842"/>
            <a:chOff x="0" y="0"/>
            <a:chExt cx="1650160" cy="767958"/>
          </a:xfrm>
        </p:grpSpPr>
        <p:sp>
          <p:nvSpPr>
            <p:cNvPr name="Freeform 17" id="17"/>
            <p:cNvSpPr/>
            <p:nvPr/>
          </p:nvSpPr>
          <p:spPr>
            <a:xfrm flipH="false" flipV="false" rot="0">
              <a:off x="0" y="0"/>
              <a:ext cx="1650160" cy="767958"/>
            </a:xfrm>
            <a:custGeom>
              <a:avLst/>
              <a:gdLst/>
              <a:ahLst/>
              <a:cxnLst/>
              <a:rect r="r" b="b" t="t" l="l"/>
              <a:pathLst>
                <a:path h="767958" w="1650160">
                  <a:moveTo>
                    <a:pt x="0" y="0"/>
                  </a:moveTo>
                  <a:lnTo>
                    <a:pt x="1650160" y="0"/>
                  </a:lnTo>
                  <a:lnTo>
                    <a:pt x="1650160" y="767958"/>
                  </a:lnTo>
                  <a:lnTo>
                    <a:pt x="0" y="767958"/>
                  </a:lnTo>
                  <a:close/>
                </a:path>
              </a:pathLst>
            </a:custGeom>
            <a:blipFill>
              <a:blip r:embed="rId4"/>
              <a:stretch>
                <a:fillRect l="-90665" t="-137499" r="-113133" b="-196607"/>
              </a:stretch>
            </a:blipFill>
          </p:spPr>
        </p:sp>
      </p:grpSp>
      <p:sp>
        <p:nvSpPr>
          <p:cNvPr name="TextBox 18" id="18"/>
          <p:cNvSpPr txBox="true"/>
          <p:nvPr/>
        </p:nvSpPr>
        <p:spPr>
          <a:xfrm rot="0">
            <a:off x="2193728" y="4907081"/>
            <a:ext cx="3145337" cy="431800"/>
          </a:xfrm>
          <a:prstGeom prst="rect">
            <a:avLst/>
          </a:prstGeom>
        </p:spPr>
        <p:txBody>
          <a:bodyPr anchor="t" rtlCol="false" tIns="0" lIns="0" bIns="0" rIns="0">
            <a:spAutoFit/>
          </a:bodyPr>
          <a:lstStyle/>
          <a:p>
            <a:pPr algn="l">
              <a:lnSpc>
                <a:spcPts val="3499"/>
              </a:lnSpc>
              <a:spcBef>
                <a:spcPct val="0"/>
              </a:spcBef>
            </a:pPr>
            <a:r>
              <a:rPr lang="en-US" b="true" sz="2499" spc="-104">
                <a:solidFill>
                  <a:srgbClr val="084DA3"/>
                </a:solidFill>
                <a:latin typeface="Raleway Bold"/>
                <a:ea typeface="Raleway Bold"/>
                <a:cs typeface="Raleway Bold"/>
                <a:sym typeface="Raleway Bold"/>
              </a:rPr>
              <a:t>Management Subnets</a:t>
            </a:r>
          </a:p>
        </p:txBody>
      </p:sp>
      <p:sp>
        <p:nvSpPr>
          <p:cNvPr name="TextBox 19" id="19"/>
          <p:cNvSpPr txBox="true"/>
          <p:nvPr/>
        </p:nvSpPr>
        <p:spPr>
          <a:xfrm rot="0">
            <a:off x="1282944" y="4907081"/>
            <a:ext cx="761013" cy="431800"/>
          </a:xfrm>
          <a:prstGeom prst="rect">
            <a:avLst/>
          </a:prstGeom>
        </p:spPr>
        <p:txBody>
          <a:bodyPr anchor="t" rtlCol="false" tIns="0" lIns="0" bIns="0" rIns="0">
            <a:spAutoFit/>
          </a:bodyPr>
          <a:lstStyle/>
          <a:p>
            <a:pPr algn="l">
              <a:lnSpc>
                <a:spcPts val="3499"/>
              </a:lnSpc>
              <a:spcBef>
                <a:spcPct val="0"/>
              </a:spcBef>
            </a:pPr>
            <a:r>
              <a:rPr lang="en-US" b="true" sz="2499" spc="-104">
                <a:solidFill>
                  <a:srgbClr val="084DA3"/>
                </a:solidFill>
                <a:latin typeface="Raleway Bold"/>
                <a:ea typeface="Raleway Bold"/>
                <a:cs typeface="Raleway Bold"/>
                <a:sym typeface="Raleway Bold"/>
              </a:rPr>
              <a:t>01.</a:t>
            </a:r>
          </a:p>
        </p:txBody>
      </p:sp>
      <p:sp>
        <p:nvSpPr>
          <p:cNvPr name="TextBox 20" id="20"/>
          <p:cNvSpPr txBox="true"/>
          <p:nvPr/>
        </p:nvSpPr>
        <p:spPr>
          <a:xfrm rot="0">
            <a:off x="6945951" y="4932481"/>
            <a:ext cx="3316255" cy="431800"/>
          </a:xfrm>
          <a:prstGeom prst="rect">
            <a:avLst/>
          </a:prstGeom>
        </p:spPr>
        <p:txBody>
          <a:bodyPr anchor="t" rtlCol="false" tIns="0" lIns="0" bIns="0" rIns="0">
            <a:spAutoFit/>
          </a:bodyPr>
          <a:lstStyle/>
          <a:p>
            <a:pPr algn="l">
              <a:lnSpc>
                <a:spcPts val="3499"/>
              </a:lnSpc>
              <a:spcBef>
                <a:spcPct val="0"/>
              </a:spcBef>
            </a:pPr>
            <a:r>
              <a:rPr lang="en-US" b="true" sz="2499" spc="-104">
                <a:solidFill>
                  <a:srgbClr val="084DA3"/>
                </a:solidFill>
                <a:latin typeface="Raleway Bold"/>
                <a:ea typeface="Raleway Bold"/>
                <a:cs typeface="Raleway Bold"/>
                <a:sym typeface="Raleway Bold"/>
              </a:rPr>
              <a:t>Smart Area 1 &amp; 2</a:t>
            </a:r>
          </a:p>
        </p:txBody>
      </p:sp>
      <p:sp>
        <p:nvSpPr>
          <p:cNvPr name="TextBox 21" id="21"/>
          <p:cNvSpPr txBox="true"/>
          <p:nvPr/>
        </p:nvSpPr>
        <p:spPr>
          <a:xfrm rot="0">
            <a:off x="6109822" y="4932481"/>
            <a:ext cx="671610" cy="431800"/>
          </a:xfrm>
          <a:prstGeom prst="rect">
            <a:avLst/>
          </a:prstGeom>
        </p:spPr>
        <p:txBody>
          <a:bodyPr anchor="t" rtlCol="false" tIns="0" lIns="0" bIns="0" rIns="0">
            <a:spAutoFit/>
          </a:bodyPr>
          <a:lstStyle/>
          <a:p>
            <a:pPr algn="l">
              <a:lnSpc>
                <a:spcPts val="3499"/>
              </a:lnSpc>
              <a:spcBef>
                <a:spcPct val="0"/>
              </a:spcBef>
            </a:pPr>
            <a:r>
              <a:rPr lang="en-US" b="true" sz="2499" spc="-104">
                <a:solidFill>
                  <a:srgbClr val="084DA3"/>
                </a:solidFill>
                <a:latin typeface="Raleway Bold"/>
                <a:ea typeface="Raleway Bold"/>
                <a:cs typeface="Raleway Bold"/>
                <a:sym typeface="Raleway Bold"/>
              </a:rPr>
              <a:t>02.</a:t>
            </a:r>
          </a:p>
        </p:txBody>
      </p:sp>
      <p:sp>
        <p:nvSpPr>
          <p:cNvPr name="TextBox 22" id="22"/>
          <p:cNvSpPr txBox="true"/>
          <p:nvPr/>
        </p:nvSpPr>
        <p:spPr>
          <a:xfrm rot="0">
            <a:off x="1282944" y="5566330"/>
            <a:ext cx="4057450" cy="3540125"/>
          </a:xfrm>
          <a:prstGeom prst="rect">
            <a:avLst/>
          </a:prstGeom>
        </p:spPr>
        <p:txBody>
          <a:bodyPr anchor="t" rtlCol="false" tIns="0" lIns="0" bIns="0" rIns="0">
            <a:spAutoFit/>
          </a:bodyPr>
          <a:lstStyle/>
          <a:p>
            <a:pPr algn="l" marL="0" indent="0" lvl="1">
              <a:lnSpc>
                <a:spcPts val="2800"/>
              </a:lnSpc>
              <a:spcBef>
                <a:spcPct val="0"/>
              </a:spcBef>
            </a:pPr>
            <a:r>
              <a:rPr lang="en-US" sz="2000" spc="-84">
                <a:solidFill>
                  <a:srgbClr val="000000"/>
                </a:solidFill>
                <a:latin typeface="Poppins"/>
                <a:ea typeface="Poppins"/>
                <a:cs typeface="Poppins"/>
                <a:sym typeface="Poppins"/>
              </a:rPr>
              <a:t>Wireless access provides flexib</a:t>
            </a:r>
            <a:r>
              <a:rPr lang="en-US" sz="2000" spc="-84" strike="noStrike" u="none">
                <a:solidFill>
                  <a:srgbClr val="000000"/>
                </a:solidFill>
                <a:latin typeface="Poppins"/>
                <a:ea typeface="Poppins"/>
                <a:cs typeface="Poppins"/>
                <a:sym typeface="Poppins"/>
              </a:rPr>
              <a:t>le and reliable connectivity for management staff and authorized devices, allowing them to access internal network resources without relying entirely on wired connections. It supports staff mobility across different areas while maintaining access to essential management services. </a:t>
            </a:r>
          </a:p>
        </p:txBody>
      </p:sp>
      <p:sp>
        <p:nvSpPr>
          <p:cNvPr name="TextBox 23" id="23"/>
          <p:cNvSpPr txBox="true"/>
          <p:nvPr/>
        </p:nvSpPr>
        <p:spPr>
          <a:xfrm rot="0">
            <a:off x="6109822" y="5591730"/>
            <a:ext cx="4152383" cy="1425575"/>
          </a:xfrm>
          <a:prstGeom prst="rect">
            <a:avLst/>
          </a:prstGeom>
        </p:spPr>
        <p:txBody>
          <a:bodyPr anchor="t" rtlCol="false" tIns="0" lIns="0" bIns="0" rIns="0">
            <a:spAutoFit/>
          </a:bodyPr>
          <a:lstStyle/>
          <a:p>
            <a:pPr algn="l" marL="0" indent="0" lvl="1">
              <a:lnSpc>
                <a:spcPts val="2800"/>
              </a:lnSpc>
              <a:spcBef>
                <a:spcPct val="0"/>
              </a:spcBef>
            </a:pPr>
            <a:r>
              <a:rPr lang="en-US" sz="2000" spc="-84">
                <a:solidFill>
                  <a:srgbClr val="000000"/>
                </a:solidFill>
                <a:latin typeface="Poppins"/>
                <a:ea typeface="Poppins"/>
                <a:cs typeface="Poppins"/>
                <a:sym typeface="Poppins"/>
              </a:rPr>
              <a:t>Thes</a:t>
            </a:r>
            <a:r>
              <a:rPr lang="en-US" sz="2000" spc="-84" strike="noStrike" u="none">
                <a:solidFill>
                  <a:srgbClr val="000000"/>
                </a:solidFill>
                <a:latin typeface="Poppins"/>
                <a:ea typeface="Poppins"/>
                <a:cs typeface="Poppins"/>
                <a:sym typeface="Poppins"/>
              </a:rPr>
              <a:t>e areas provide wireless connectivity for the large number of mobile phones used by the security team.</a:t>
            </a:r>
          </a:p>
        </p:txBody>
      </p:sp>
      <p:sp>
        <p:nvSpPr>
          <p:cNvPr name="TextBox 24" id="24"/>
          <p:cNvSpPr txBox="true"/>
          <p:nvPr/>
        </p:nvSpPr>
        <p:spPr>
          <a:xfrm rot="0">
            <a:off x="6945951" y="7255430"/>
            <a:ext cx="3316255" cy="431800"/>
          </a:xfrm>
          <a:prstGeom prst="rect">
            <a:avLst/>
          </a:prstGeom>
        </p:spPr>
        <p:txBody>
          <a:bodyPr anchor="t" rtlCol="false" tIns="0" lIns="0" bIns="0" rIns="0">
            <a:spAutoFit/>
          </a:bodyPr>
          <a:lstStyle/>
          <a:p>
            <a:pPr algn="l">
              <a:lnSpc>
                <a:spcPts val="3499"/>
              </a:lnSpc>
              <a:spcBef>
                <a:spcPct val="0"/>
              </a:spcBef>
            </a:pPr>
            <a:r>
              <a:rPr lang="en-US" b="true" sz="2499" spc="-104">
                <a:solidFill>
                  <a:srgbClr val="084DA3"/>
                </a:solidFill>
                <a:latin typeface="Raleway Bold"/>
                <a:ea typeface="Raleway Bold"/>
                <a:cs typeface="Raleway Bold"/>
                <a:sym typeface="Raleway Bold"/>
              </a:rPr>
              <a:t>Mobility</a:t>
            </a:r>
          </a:p>
        </p:txBody>
      </p:sp>
      <p:sp>
        <p:nvSpPr>
          <p:cNvPr name="TextBox 25" id="25"/>
          <p:cNvSpPr txBox="true"/>
          <p:nvPr/>
        </p:nvSpPr>
        <p:spPr>
          <a:xfrm rot="0">
            <a:off x="6109822" y="7255430"/>
            <a:ext cx="671610" cy="431800"/>
          </a:xfrm>
          <a:prstGeom prst="rect">
            <a:avLst/>
          </a:prstGeom>
        </p:spPr>
        <p:txBody>
          <a:bodyPr anchor="t" rtlCol="false" tIns="0" lIns="0" bIns="0" rIns="0">
            <a:spAutoFit/>
          </a:bodyPr>
          <a:lstStyle/>
          <a:p>
            <a:pPr algn="l">
              <a:lnSpc>
                <a:spcPts val="3499"/>
              </a:lnSpc>
              <a:spcBef>
                <a:spcPct val="0"/>
              </a:spcBef>
            </a:pPr>
            <a:r>
              <a:rPr lang="en-US" b="true" sz="2499" spc="-104">
                <a:solidFill>
                  <a:srgbClr val="084DA3"/>
                </a:solidFill>
                <a:latin typeface="Raleway Bold"/>
                <a:ea typeface="Raleway Bold"/>
                <a:cs typeface="Raleway Bold"/>
                <a:sym typeface="Raleway Bold"/>
              </a:rPr>
              <a:t>03.</a:t>
            </a:r>
          </a:p>
        </p:txBody>
      </p:sp>
      <p:sp>
        <p:nvSpPr>
          <p:cNvPr name="TextBox 26" id="26"/>
          <p:cNvSpPr txBox="true"/>
          <p:nvPr/>
        </p:nvSpPr>
        <p:spPr>
          <a:xfrm rot="0">
            <a:off x="6109822" y="7914679"/>
            <a:ext cx="4152383" cy="1425575"/>
          </a:xfrm>
          <a:prstGeom prst="rect">
            <a:avLst/>
          </a:prstGeom>
        </p:spPr>
        <p:txBody>
          <a:bodyPr anchor="t" rtlCol="false" tIns="0" lIns="0" bIns="0" rIns="0">
            <a:spAutoFit/>
          </a:bodyPr>
          <a:lstStyle/>
          <a:p>
            <a:pPr algn="l" marL="0" indent="0" lvl="1">
              <a:lnSpc>
                <a:spcPts val="2800"/>
              </a:lnSpc>
              <a:spcBef>
                <a:spcPct val="0"/>
              </a:spcBef>
            </a:pPr>
            <a:r>
              <a:rPr lang="en-US" sz="2000" spc="-84">
                <a:solidFill>
                  <a:srgbClr val="000000"/>
                </a:solidFill>
                <a:latin typeface="Poppins"/>
                <a:ea typeface="Poppins"/>
                <a:cs typeface="Poppins"/>
                <a:sym typeface="Poppins"/>
              </a:rPr>
              <a:t>W</a:t>
            </a:r>
            <a:r>
              <a:rPr lang="en-US" sz="2000" spc="-84" strike="noStrike" u="none">
                <a:solidFill>
                  <a:srgbClr val="000000"/>
                </a:solidFill>
                <a:latin typeface="Poppins"/>
                <a:ea typeface="Poppins"/>
                <a:cs typeface="Poppins"/>
                <a:sym typeface="Poppins"/>
              </a:rPr>
              <a:t>ireless connectivity allows security staff to remain connected while moving between halls and different airport areas.</a:t>
            </a:r>
          </a:p>
        </p:txBody>
      </p:sp>
      <p:grpSp>
        <p:nvGrpSpPr>
          <p:cNvPr name="Group 27" id="27"/>
          <p:cNvGrpSpPr/>
          <p:nvPr/>
        </p:nvGrpSpPr>
        <p:grpSpPr>
          <a:xfrm rot="0">
            <a:off x="10684081" y="5239708"/>
            <a:ext cx="6265452" cy="4370155"/>
            <a:chOff x="0" y="0"/>
            <a:chExt cx="1219503" cy="850604"/>
          </a:xfrm>
        </p:grpSpPr>
        <p:sp>
          <p:nvSpPr>
            <p:cNvPr name="Freeform 28" id="28"/>
            <p:cNvSpPr/>
            <p:nvPr/>
          </p:nvSpPr>
          <p:spPr>
            <a:xfrm flipH="false" flipV="false" rot="0">
              <a:off x="0" y="0"/>
              <a:ext cx="1219503" cy="850604"/>
            </a:xfrm>
            <a:custGeom>
              <a:avLst/>
              <a:gdLst/>
              <a:ahLst/>
              <a:cxnLst/>
              <a:rect r="r" b="b" t="t" l="l"/>
              <a:pathLst>
                <a:path h="850604" w="1219503">
                  <a:moveTo>
                    <a:pt x="0" y="0"/>
                  </a:moveTo>
                  <a:lnTo>
                    <a:pt x="1219503" y="0"/>
                  </a:lnTo>
                  <a:lnTo>
                    <a:pt x="1219503" y="850604"/>
                  </a:lnTo>
                  <a:lnTo>
                    <a:pt x="0" y="850604"/>
                  </a:lnTo>
                  <a:close/>
                </a:path>
              </a:pathLst>
            </a:custGeom>
            <a:solidFill>
              <a:srgbClr val="084DA3"/>
            </a:solidFill>
          </p:spPr>
        </p:sp>
        <p:sp>
          <p:nvSpPr>
            <p:cNvPr name="TextBox 29" id="29"/>
            <p:cNvSpPr txBox="true"/>
            <p:nvPr/>
          </p:nvSpPr>
          <p:spPr>
            <a:xfrm>
              <a:off x="0" y="-114300"/>
              <a:ext cx="1219503" cy="964904"/>
            </a:xfrm>
            <a:prstGeom prst="rect">
              <a:avLst/>
            </a:prstGeom>
          </p:spPr>
          <p:txBody>
            <a:bodyPr anchor="ctr" rtlCol="false" tIns="50800" lIns="50800" bIns="50800" rIns="50800"/>
            <a:lstStyle/>
            <a:p>
              <a:pPr algn="ctr">
                <a:lnSpc>
                  <a:spcPts val="3499"/>
                </a:lnSpc>
              </a:pPr>
            </a:p>
          </p:txBody>
        </p:sp>
      </p:grpSp>
      <p:sp>
        <p:nvSpPr>
          <p:cNvPr name="TextBox 30" id="30"/>
          <p:cNvSpPr txBox="true"/>
          <p:nvPr/>
        </p:nvSpPr>
        <p:spPr>
          <a:xfrm rot="0">
            <a:off x="10861228" y="5797034"/>
            <a:ext cx="5911159" cy="540821"/>
          </a:xfrm>
          <a:prstGeom prst="rect">
            <a:avLst/>
          </a:prstGeom>
        </p:spPr>
        <p:txBody>
          <a:bodyPr anchor="t" rtlCol="false" tIns="0" lIns="0" bIns="0" rIns="0">
            <a:spAutoFit/>
          </a:bodyPr>
          <a:lstStyle/>
          <a:p>
            <a:pPr algn="ctr" marL="0" indent="0" lvl="0">
              <a:lnSpc>
                <a:spcPts val="4315"/>
              </a:lnSpc>
              <a:spcBef>
                <a:spcPct val="0"/>
              </a:spcBef>
            </a:pPr>
            <a:r>
              <a:rPr lang="en-US" b="true" sz="3082" spc="-129">
                <a:solidFill>
                  <a:srgbClr val="FAFAFA"/>
                </a:solidFill>
                <a:latin typeface="Raleway Bold"/>
                <a:ea typeface="Raleway Bold"/>
                <a:cs typeface="Raleway Bold"/>
                <a:sym typeface="Raleway Bold"/>
              </a:rPr>
              <a:t>Security </a:t>
            </a:r>
            <a:r>
              <a:rPr lang="en-US" b="true" sz="3082" spc="-129" strike="noStrike" u="none">
                <a:solidFill>
                  <a:srgbClr val="FAFAFA"/>
                </a:solidFill>
                <a:latin typeface="Raleway Bold"/>
                <a:ea typeface="Raleway Bold"/>
                <a:cs typeface="Raleway Bold"/>
                <a:sym typeface="Raleway Bold"/>
              </a:rPr>
              <a:t>Team Communication</a:t>
            </a:r>
          </a:p>
        </p:txBody>
      </p:sp>
      <p:sp>
        <p:nvSpPr>
          <p:cNvPr name="TextBox 31" id="31"/>
          <p:cNvSpPr txBox="true"/>
          <p:nvPr/>
        </p:nvSpPr>
        <p:spPr>
          <a:xfrm rot="0">
            <a:off x="11339493" y="6496684"/>
            <a:ext cx="5082025" cy="2388710"/>
          </a:xfrm>
          <a:prstGeom prst="rect">
            <a:avLst/>
          </a:prstGeom>
        </p:spPr>
        <p:txBody>
          <a:bodyPr anchor="t" rtlCol="false" tIns="0" lIns="0" bIns="0" rIns="0">
            <a:spAutoFit/>
          </a:bodyPr>
          <a:lstStyle/>
          <a:p>
            <a:pPr algn="l" marL="0" indent="0" lvl="1">
              <a:lnSpc>
                <a:spcPts val="3788"/>
              </a:lnSpc>
              <a:spcBef>
                <a:spcPct val="0"/>
              </a:spcBef>
            </a:pPr>
            <a:r>
              <a:rPr lang="en-US" sz="2706" spc="-113">
                <a:solidFill>
                  <a:srgbClr val="FAFAFA"/>
                </a:solidFill>
                <a:latin typeface="Poppins"/>
                <a:ea typeface="Poppins"/>
                <a:cs typeface="Poppins"/>
                <a:sym typeface="Poppins"/>
              </a:rPr>
              <a:t>The wireless netwo</a:t>
            </a:r>
            <a:r>
              <a:rPr lang="en-US" sz="2706" spc="-113" strike="noStrike" u="none">
                <a:solidFill>
                  <a:srgbClr val="FAFAFA"/>
                </a:solidFill>
                <a:latin typeface="Poppins"/>
                <a:ea typeface="Poppins"/>
                <a:cs typeface="Poppins"/>
                <a:sym typeface="Poppins"/>
              </a:rPr>
              <a:t>rk enables securi</a:t>
            </a:r>
            <a:r>
              <a:rPr lang="en-US" sz="2706" spc="-113" strike="noStrike" u="none">
                <a:solidFill>
                  <a:srgbClr val="FAFAFA"/>
                </a:solidFill>
                <a:latin typeface="Poppins"/>
                <a:ea typeface="Poppins"/>
                <a:cs typeface="Poppins"/>
                <a:sym typeface="Poppins"/>
              </a:rPr>
              <a:t>ty p</a:t>
            </a:r>
            <a:r>
              <a:rPr lang="en-US" sz="2706" spc="-113" strike="noStrike" u="none">
                <a:solidFill>
                  <a:srgbClr val="FAFAFA"/>
                </a:solidFill>
                <a:latin typeface="Poppins"/>
                <a:ea typeface="Poppins"/>
                <a:cs typeface="Poppins"/>
                <a:sym typeface="Poppins"/>
              </a:rPr>
              <a:t>ersonnel t</a:t>
            </a:r>
            <a:r>
              <a:rPr lang="en-US" sz="2706" spc="-113" strike="noStrike" u="none">
                <a:solidFill>
                  <a:srgbClr val="FAFAFA"/>
                </a:solidFill>
                <a:latin typeface="Poppins"/>
                <a:ea typeface="Poppins"/>
                <a:cs typeface="Poppins"/>
                <a:sym typeface="Poppins"/>
              </a:rPr>
              <a:t>o commu</a:t>
            </a:r>
            <a:r>
              <a:rPr lang="en-US" sz="2706" spc="-113" strike="noStrike" u="none">
                <a:solidFill>
                  <a:srgbClr val="FAFAFA"/>
                </a:solidFill>
                <a:latin typeface="Poppins"/>
                <a:ea typeface="Poppins"/>
                <a:cs typeface="Poppins"/>
                <a:sym typeface="Poppins"/>
              </a:rPr>
              <a:t>nicate quickly and coordinate across different areas of the airport.</a:t>
            </a:r>
          </a:p>
        </p:txBody>
      </p:sp>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bg>
      <p:bgPr>
        <a:solidFill>
          <a:srgbClr val="FAFAFA"/>
        </a:solidFill>
      </p:bgPr>
    </p:bg>
    <p:spTree>
      <p:nvGrpSpPr>
        <p:cNvPr id="1" name=""/>
        <p:cNvGrpSpPr/>
        <p:nvPr/>
      </p:nvGrpSpPr>
      <p:grpSpPr>
        <a:xfrm>
          <a:off x="0" y="0"/>
          <a:ext cx="0" cy="0"/>
          <a:chOff x="0" y="0"/>
          <a:chExt cx="0" cy="0"/>
        </a:xfrm>
      </p:grpSpPr>
      <p:sp>
        <p:nvSpPr>
          <p:cNvPr name="Freeform 2" id="2" descr="Magnifier Outline Icon"/>
          <p:cNvSpPr/>
          <p:nvPr/>
        </p:nvSpPr>
        <p:spPr>
          <a:xfrm flipH="false" flipV="false" rot="0">
            <a:off x="16654546" y="1056159"/>
            <a:ext cx="294987" cy="294987"/>
          </a:xfrm>
          <a:custGeom>
            <a:avLst/>
            <a:gdLst/>
            <a:ahLst/>
            <a:cxnLst/>
            <a:rect r="r" b="b" t="t" l="l"/>
            <a:pathLst>
              <a:path h="294987" w="294987">
                <a:moveTo>
                  <a:pt x="0" y="0"/>
                </a:moveTo>
                <a:lnTo>
                  <a:pt x="294987" y="0"/>
                </a:lnTo>
                <a:lnTo>
                  <a:pt x="294987" y="294987"/>
                </a:lnTo>
                <a:lnTo>
                  <a:pt x="0" y="294987"/>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3" id="3"/>
          <p:cNvGrpSpPr/>
          <p:nvPr/>
        </p:nvGrpSpPr>
        <p:grpSpPr>
          <a:xfrm rot="0">
            <a:off x="1016848" y="810138"/>
            <a:ext cx="16242452" cy="787029"/>
            <a:chOff x="0" y="0"/>
            <a:chExt cx="4277847" cy="207283"/>
          </a:xfrm>
        </p:grpSpPr>
        <p:sp>
          <p:nvSpPr>
            <p:cNvPr name="Freeform 4" id="4"/>
            <p:cNvSpPr/>
            <p:nvPr/>
          </p:nvSpPr>
          <p:spPr>
            <a:xfrm flipH="false" flipV="false" rot="0">
              <a:off x="0" y="0"/>
              <a:ext cx="4277847" cy="207283"/>
            </a:xfrm>
            <a:custGeom>
              <a:avLst/>
              <a:gdLst/>
              <a:ahLst/>
              <a:cxnLst/>
              <a:rect r="r" b="b" t="t" l="l"/>
              <a:pathLst>
                <a:path h="207283" w="4277847">
                  <a:moveTo>
                    <a:pt x="24309" y="0"/>
                  </a:moveTo>
                  <a:lnTo>
                    <a:pt x="4253538" y="0"/>
                  </a:lnTo>
                  <a:cubicBezTo>
                    <a:pt x="4259986" y="0"/>
                    <a:pt x="4266169" y="2561"/>
                    <a:pt x="4270727" y="7120"/>
                  </a:cubicBezTo>
                  <a:cubicBezTo>
                    <a:pt x="4275286" y="11679"/>
                    <a:pt x="4277847" y="17862"/>
                    <a:pt x="4277847" y="24309"/>
                  </a:cubicBezTo>
                  <a:lnTo>
                    <a:pt x="4277847" y="182974"/>
                  </a:lnTo>
                  <a:cubicBezTo>
                    <a:pt x="4277847" y="196400"/>
                    <a:pt x="4266964" y="207283"/>
                    <a:pt x="4253538" y="207283"/>
                  </a:cubicBezTo>
                  <a:lnTo>
                    <a:pt x="24309" y="207283"/>
                  </a:lnTo>
                  <a:cubicBezTo>
                    <a:pt x="17862" y="207283"/>
                    <a:pt x="11679" y="204722"/>
                    <a:pt x="7120" y="200163"/>
                  </a:cubicBezTo>
                  <a:cubicBezTo>
                    <a:pt x="2561" y="195605"/>
                    <a:pt x="0" y="189422"/>
                    <a:pt x="0" y="182974"/>
                  </a:cubicBezTo>
                  <a:lnTo>
                    <a:pt x="0" y="24309"/>
                  </a:lnTo>
                  <a:cubicBezTo>
                    <a:pt x="0" y="10884"/>
                    <a:pt x="10884" y="0"/>
                    <a:pt x="24309" y="0"/>
                  </a:cubicBezTo>
                  <a:close/>
                </a:path>
              </a:pathLst>
            </a:custGeom>
            <a:solidFill>
              <a:srgbClr val="084DA3"/>
            </a:solidFill>
          </p:spPr>
        </p:sp>
        <p:sp>
          <p:nvSpPr>
            <p:cNvPr name="TextBox 5" id="5"/>
            <p:cNvSpPr txBox="true"/>
            <p:nvPr/>
          </p:nvSpPr>
          <p:spPr>
            <a:xfrm>
              <a:off x="0" y="-47625"/>
              <a:ext cx="4277847" cy="254908"/>
            </a:xfrm>
            <a:prstGeom prst="rect">
              <a:avLst/>
            </a:prstGeom>
          </p:spPr>
          <p:txBody>
            <a:bodyPr anchor="ctr" rtlCol="false" tIns="50800" lIns="50800" bIns="50800" rIns="50800"/>
            <a:lstStyle/>
            <a:p>
              <a:pPr algn="ctr">
                <a:lnSpc>
                  <a:spcPts val="3079"/>
                </a:lnSpc>
              </a:pPr>
            </a:p>
          </p:txBody>
        </p:sp>
      </p:grpSp>
      <p:grpSp>
        <p:nvGrpSpPr>
          <p:cNvPr name="Group 6" id="6"/>
          <p:cNvGrpSpPr/>
          <p:nvPr/>
        </p:nvGrpSpPr>
        <p:grpSpPr>
          <a:xfrm rot="0">
            <a:off x="14453926" y="925677"/>
            <a:ext cx="2673290" cy="555951"/>
            <a:chOff x="0" y="0"/>
            <a:chExt cx="704076" cy="146423"/>
          </a:xfrm>
        </p:grpSpPr>
        <p:sp>
          <p:nvSpPr>
            <p:cNvPr name="Freeform 7" id="7"/>
            <p:cNvSpPr/>
            <p:nvPr/>
          </p:nvSpPr>
          <p:spPr>
            <a:xfrm flipH="false" flipV="false" rot="0">
              <a:off x="0" y="0"/>
              <a:ext cx="704076" cy="146423"/>
            </a:xfrm>
            <a:custGeom>
              <a:avLst/>
              <a:gdLst/>
              <a:ahLst/>
              <a:cxnLst/>
              <a:rect r="r" b="b" t="t" l="l"/>
              <a:pathLst>
                <a:path h="146423" w="704076">
                  <a:moveTo>
                    <a:pt x="73212" y="0"/>
                  </a:moveTo>
                  <a:lnTo>
                    <a:pt x="630865" y="0"/>
                  </a:lnTo>
                  <a:cubicBezTo>
                    <a:pt x="650282" y="0"/>
                    <a:pt x="668903" y="7713"/>
                    <a:pt x="682633" y="21443"/>
                  </a:cubicBezTo>
                  <a:cubicBezTo>
                    <a:pt x="696363" y="35173"/>
                    <a:pt x="704076" y="53795"/>
                    <a:pt x="704076" y="73212"/>
                  </a:cubicBezTo>
                  <a:lnTo>
                    <a:pt x="704076" y="73212"/>
                  </a:lnTo>
                  <a:cubicBezTo>
                    <a:pt x="704076" y="113645"/>
                    <a:pt x="671298" y="146423"/>
                    <a:pt x="630865" y="146423"/>
                  </a:cubicBezTo>
                  <a:lnTo>
                    <a:pt x="73212" y="146423"/>
                  </a:lnTo>
                  <a:cubicBezTo>
                    <a:pt x="32778" y="146423"/>
                    <a:pt x="0" y="113645"/>
                    <a:pt x="0" y="73212"/>
                  </a:cubicBezTo>
                  <a:lnTo>
                    <a:pt x="0" y="73212"/>
                  </a:lnTo>
                  <a:cubicBezTo>
                    <a:pt x="0" y="32778"/>
                    <a:pt x="32778" y="0"/>
                    <a:pt x="73212" y="0"/>
                  </a:cubicBezTo>
                  <a:close/>
                </a:path>
              </a:pathLst>
            </a:custGeom>
            <a:solidFill>
              <a:srgbClr val="FAFAFA"/>
            </a:solidFill>
          </p:spPr>
        </p:sp>
        <p:sp>
          <p:nvSpPr>
            <p:cNvPr name="TextBox 8" id="8"/>
            <p:cNvSpPr txBox="true"/>
            <p:nvPr/>
          </p:nvSpPr>
          <p:spPr>
            <a:xfrm>
              <a:off x="0" y="-47625"/>
              <a:ext cx="704076" cy="194048"/>
            </a:xfrm>
            <a:prstGeom prst="rect">
              <a:avLst/>
            </a:prstGeom>
          </p:spPr>
          <p:txBody>
            <a:bodyPr anchor="ctr" rtlCol="false" tIns="50800" lIns="50800" bIns="50800" rIns="50800"/>
            <a:lstStyle/>
            <a:p>
              <a:pPr algn="ctr">
                <a:lnSpc>
                  <a:spcPts val="3079"/>
                </a:lnSpc>
              </a:pPr>
            </a:p>
          </p:txBody>
        </p:sp>
      </p:grpSp>
      <p:sp>
        <p:nvSpPr>
          <p:cNvPr name="Freeform 9" id="9"/>
          <p:cNvSpPr/>
          <p:nvPr/>
        </p:nvSpPr>
        <p:spPr>
          <a:xfrm flipH="false" flipV="false" rot="0">
            <a:off x="12037184" y="5276916"/>
            <a:ext cx="4764856" cy="4231921"/>
          </a:xfrm>
          <a:custGeom>
            <a:avLst/>
            <a:gdLst/>
            <a:ahLst/>
            <a:cxnLst/>
            <a:rect r="r" b="b" t="t" l="l"/>
            <a:pathLst>
              <a:path h="4231921" w="4764856">
                <a:moveTo>
                  <a:pt x="0" y="0"/>
                </a:moveTo>
                <a:lnTo>
                  <a:pt x="4764856" y="0"/>
                </a:lnTo>
                <a:lnTo>
                  <a:pt x="4764856" y="4231921"/>
                </a:lnTo>
                <a:lnTo>
                  <a:pt x="0" y="4231921"/>
                </a:lnTo>
                <a:lnTo>
                  <a:pt x="0" y="0"/>
                </a:lnTo>
                <a:close/>
              </a:path>
            </a:pathLst>
          </a:custGeom>
          <a:blipFill>
            <a:blip r:embed="rId4"/>
            <a:stretch>
              <a:fillRect l="0" t="-51499" r="0" b="-5973"/>
            </a:stretch>
          </a:blipFill>
        </p:spPr>
      </p:sp>
      <p:sp>
        <p:nvSpPr>
          <p:cNvPr name="TextBox 10" id="10"/>
          <p:cNvSpPr txBox="true"/>
          <p:nvPr/>
        </p:nvSpPr>
        <p:spPr>
          <a:xfrm rot="0">
            <a:off x="14789222" y="1012200"/>
            <a:ext cx="1674231" cy="358775"/>
          </a:xfrm>
          <a:prstGeom prst="rect">
            <a:avLst/>
          </a:prstGeom>
        </p:spPr>
        <p:txBody>
          <a:bodyPr anchor="t" rtlCol="false" tIns="0" lIns="0" bIns="0" rIns="0">
            <a:spAutoFit/>
          </a:bodyPr>
          <a:lstStyle/>
          <a:p>
            <a:pPr algn="l">
              <a:lnSpc>
                <a:spcPts val="2800"/>
              </a:lnSpc>
              <a:spcBef>
                <a:spcPct val="0"/>
              </a:spcBef>
            </a:pPr>
            <a:r>
              <a:rPr lang="en-US" sz="2000" i="true">
                <a:solidFill>
                  <a:srgbClr val="000000"/>
                </a:solidFill>
                <a:latin typeface="Raleway Italics"/>
                <a:ea typeface="Raleway Italics"/>
                <a:cs typeface="Raleway Italics"/>
                <a:sym typeface="Raleway Italics"/>
              </a:rPr>
              <a:t>Search. . .</a:t>
            </a:r>
          </a:p>
        </p:txBody>
      </p:sp>
      <p:sp>
        <p:nvSpPr>
          <p:cNvPr name="TextBox 11" id="11"/>
          <p:cNvSpPr txBox="true"/>
          <p:nvPr/>
        </p:nvSpPr>
        <p:spPr>
          <a:xfrm rot="0">
            <a:off x="5821584" y="988705"/>
            <a:ext cx="1472568" cy="382270"/>
          </a:xfrm>
          <a:prstGeom prst="rect">
            <a:avLst/>
          </a:prstGeom>
        </p:spPr>
        <p:txBody>
          <a:bodyPr anchor="t" rtlCol="false" tIns="0" lIns="0" bIns="0" rIns="0">
            <a:spAutoFit/>
          </a:bodyPr>
          <a:lstStyle/>
          <a:p>
            <a:pPr algn="ctr">
              <a:lnSpc>
                <a:spcPts val="3079"/>
              </a:lnSpc>
              <a:spcBef>
                <a:spcPct val="0"/>
              </a:spcBef>
            </a:pPr>
            <a:r>
              <a:rPr lang="en-US" sz="2199">
                <a:solidFill>
                  <a:srgbClr val="FAFAFA"/>
                </a:solidFill>
                <a:latin typeface="Raleway"/>
                <a:ea typeface="Raleway"/>
                <a:cs typeface="Raleway"/>
                <a:sym typeface="Raleway"/>
              </a:rPr>
              <a:t>Home</a:t>
            </a:r>
          </a:p>
        </p:txBody>
      </p:sp>
      <p:sp>
        <p:nvSpPr>
          <p:cNvPr name="TextBox 12" id="12"/>
          <p:cNvSpPr txBox="true"/>
          <p:nvPr/>
        </p:nvSpPr>
        <p:spPr>
          <a:xfrm rot="0">
            <a:off x="1370543" y="922665"/>
            <a:ext cx="3069916" cy="504826"/>
          </a:xfrm>
          <a:prstGeom prst="rect">
            <a:avLst/>
          </a:prstGeom>
        </p:spPr>
        <p:txBody>
          <a:bodyPr anchor="t" rtlCol="false" tIns="0" lIns="0" bIns="0" rIns="0">
            <a:spAutoFit/>
          </a:bodyPr>
          <a:lstStyle/>
          <a:p>
            <a:pPr algn="l">
              <a:lnSpc>
                <a:spcPts val="4199"/>
              </a:lnSpc>
              <a:spcBef>
                <a:spcPct val="0"/>
              </a:spcBef>
            </a:pPr>
            <a:r>
              <a:rPr lang="en-US" b="true" sz="2999">
                <a:solidFill>
                  <a:srgbClr val="FAFAFA"/>
                </a:solidFill>
                <a:latin typeface="Raleway Bold"/>
                <a:ea typeface="Raleway Bold"/>
                <a:cs typeface="Raleway Bold"/>
                <a:sym typeface="Raleway Bold"/>
              </a:rPr>
              <a:t>AeroNova</a:t>
            </a:r>
          </a:p>
        </p:txBody>
      </p:sp>
      <p:sp>
        <p:nvSpPr>
          <p:cNvPr name="TextBox 13" id="13"/>
          <p:cNvSpPr txBox="true"/>
          <p:nvPr/>
        </p:nvSpPr>
        <p:spPr>
          <a:xfrm rot="0">
            <a:off x="7602942" y="988705"/>
            <a:ext cx="1771891" cy="382270"/>
          </a:xfrm>
          <a:prstGeom prst="rect">
            <a:avLst/>
          </a:prstGeom>
        </p:spPr>
        <p:txBody>
          <a:bodyPr anchor="t" rtlCol="false" tIns="0" lIns="0" bIns="0" rIns="0">
            <a:spAutoFit/>
          </a:bodyPr>
          <a:lstStyle/>
          <a:p>
            <a:pPr algn="ctr">
              <a:lnSpc>
                <a:spcPts val="3079"/>
              </a:lnSpc>
              <a:spcBef>
                <a:spcPct val="0"/>
              </a:spcBef>
            </a:pPr>
            <a:r>
              <a:rPr lang="en-US" sz="2199">
                <a:solidFill>
                  <a:srgbClr val="FAFAFA"/>
                </a:solidFill>
                <a:latin typeface="Raleway"/>
                <a:ea typeface="Raleway"/>
                <a:cs typeface="Raleway"/>
                <a:sym typeface="Raleway"/>
              </a:rPr>
              <a:t>About Us</a:t>
            </a:r>
          </a:p>
        </p:txBody>
      </p:sp>
      <p:sp>
        <p:nvSpPr>
          <p:cNvPr name="TextBox 14" id="14"/>
          <p:cNvSpPr txBox="true"/>
          <p:nvPr/>
        </p:nvSpPr>
        <p:spPr>
          <a:xfrm rot="0">
            <a:off x="11400952" y="988705"/>
            <a:ext cx="1674231" cy="382270"/>
          </a:xfrm>
          <a:prstGeom prst="rect">
            <a:avLst/>
          </a:prstGeom>
        </p:spPr>
        <p:txBody>
          <a:bodyPr anchor="t" rtlCol="false" tIns="0" lIns="0" bIns="0" rIns="0">
            <a:spAutoFit/>
          </a:bodyPr>
          <a:lstStyle/>
          <a:p>
            <a:pPr algn="ctr">
              <a:lnSpc>
                <a:spcPts val="3079"/>
              </a:lnSpc>
              <a:spcBef>
                <a:spcPct val="0"/>
              </a:spcBef>
            </a:pPr>
            <a:r>
              <a:rPr lang="en-US" sz="2199">
                <a:solidFill>
                  <a:srgbClr val="FAFAFA"/>
                </a:solidFill>
                <a:latin typeface="Raleway"/>
                <a:ea typeface="Raleway"/>
                <a:cs typeface="Raleway"/>
                <a:sym typeface="Raleway"/>
              </a:rPr>
              <a:t>Contact</a:t>
            </a:r>
          </a:p>
        </p:txBody>
      </p:sp>
      <p:sp>
        <p:nvSpPr>
          <p:cNvPr name="TextBox 15" id="15"/>
          <p:cNvSpPr txBox="true"/>
          <p:nvPr/>
        </p:nvSpPr>
        <p:spPr>
          <a:xfrm rot="0">
            <a:off x="9683624" y="988705"/>
            <a:ext cx="1408538" cy="382270"/>
          </a:xfrm>
          <a:prstGeom prst="rect">
            <a:avLst/>
          </a:prstGeom>
        </p:spPr>
        <p:txBody>
          <a:bodyPr anchor="t" rtlCol="false" tIns="0" lIns="0" bIns="0" rIns="0">
            <a:spAutoFit/>
          </a:bodyPr>
          <a:lstStyle/>
          <a:p>
            <a:pPr algn="ctr">
              <a:lnSpc>
                <a:spcPts val="3079"/>
              </a:lnSpc>
              <a:spcBef>
                <a:spcPct val="0"/>
              </a:spcBef>
            </a:pPr>
            <a:r>
              <a:rPr lang="en-US" b="true" sz="2199">
                <a:solidFill>
                  <a:srgbClr val="FAFAFA"/>
                </a:solidFill>
                <a:latin typeface="Raleway Bold"/>
                <a:ea typeface="Raleway Bold"/>
                <a:cs typeface="Raleway Bold"/>
                <a:sym typeface="Raleway Bold"/>
              </a:rPr>
              <a:t>Service</a:t>
            </a:r>
          </a:p>
        </p:txBody>
      </p:sp>
      <p:sp>
        <p:nvSpPr>
          <p:cNvPr name="TextBox 16" id="16"/>
          <p:cNvSpPr txBox="true"/>
          <p:nvPr/>
        </p:nvSpPr>
        <p:spPr>
          <a:xfrm rot="0">
            <a:off x="1107647" y="2479295"/>
            <a:ext cx="13675523" cy="2546565"/>
          </a:xfrm>
          <a:prstGeom prst="rect">
            <a:avLst/>
          </a:prstGeom>
        </p:spPr>
        <p:txBody>
          <a:bodyPr anchor="t" rtlCol="false" tIns="0" lIns="0" bIns="0" rIns="0">
            <a:spAutoFit/>
          </a:bodyPr>
          <a:lstStyle/>
          <a:p>
            <a:pPr algn="l">
              <a:lnSpc>
                <a:spcPts val="9855"/>
              </a:lnSpc>
            </a:pPr>
            <a:r>
              <a:rPr lang="en-US" b="true" sz="9297">
                <a:solidFill>
                  <a:srgbClr val="000000"/>
                </a:solidFill>
                <a:latin typeface="Raleway Heavy"/>
                <a:ea typeface="Raleway Heavy"/>
                <a:cs typeface="Raleway Heavy"/>
                <a:sym typeface="Raleway Heavy"/>
              </a:rPr>
              <a:t>HALL </a:t>
            </a:r>
            <a:r>
              <a:rPr lang="en-US" b="true" sz="9297">
                <a:solidFill>
                  <a:srgbClr val="004CA6"/>
                </a:solidFill>
                <a:latin typeface="Raleway Heavy"/>
                <a:ea typeface="Raleway Heavy"/>
                <a:cs typeface="Raleway Heavy"/>
                <a:sym typeface="Raleway Heavy"/>
              </a:rPr>
              <a:t>WEB SERVERS</a:t>
            </a:r>
            <a:r>
              <a:rPr lang="en-US" b="true" sz="9297">
                <a:solidFill>
                  <a:srgbClr val="000000"/>
                </a:solidFill>
                <a:latin typeface="Raleway Heavy"/>
                <a:ea typeface="Raleway Heavy"/>
                <a:cs typeface="Raleway Heavy"/>
                <a:sym typeface="Raleway Heavy"/>
              </a:rPr>
              <a:t> &amp; </a:t>
            </a:r>
            <a:r>
              <a:rPr lang="en-US" b="true" sz="9297">
                <a:solidFill>
                  <a:srgbClr val="004CA6"/>
                </a:solidFill>
                <a:latin typeface="Raleway Heavy"/>
                <a:ea typeface="Raleway Heavy"/>
                <a:cs typeface="Raleway Heavy"/>
                <a:sym typeface="Raleway Heavy"/>
              </a:rPr>
              <a:t>INTER-VLAN</a:t>
            </a:r>
            <a:r>
              <a:rPr lang="en-US" b="true" sz="9297">
                <a:solidFill>
                  <a:srgbClr val="000000"/>
                </a:solidFill>
                <a:latin typeface="Raleway Heavy"/>
                <a:ea typeface="Raleway Heavy"/>
                <a:cs typeface="Raleway Heavy"/>
                <a:sym typeface="Raleway Heavy"/>
              </a:rPr>
              <a:t> ROUTING</a:t>
            </a:r>
          </a:p>
        </p:txBody>
      </p:sp>
      <p:sp>
        <p:nvSpPr>
          <p:cNvPr name="TextBox 17" id="17"/>
          <p:cNvSpPr txBox="true"/>
          <p:nvPr/>
        </p:nvSpPr>
        <p:spPr>
          <a:xfrm rot="0">
            <a:off x="1107647" y="5210241"/>
            <a:ext cx="10529925" cy="3658123"/>
          </a:xfrm>
          <a:prstGeom prst="rect">
            <a:avLst/>
          </a:prstGeom>
        </p:spPr>
        <p:txBody>
          <a:bodyPr anchor="t" rtlCol="false" tIns="0" lIns="0" bIns="0" rIns="0">
            <a:spAutoFit/>
          </a:bodyPr>
          <a:lstStyle/>
          <a:p>
            <a:pPr algn="l" marL="0" indent="0" lvl="1">
              <a:lnSpc>
                <a:spcPts val="3646"/>
              </a:lnSpc>
              <a:spcBef>
                <a:spcPct val="0"/>
              </a:spcBef>
            </a:pPr>
            <a:r>
              <a:rPr lang="en-US" sz="2604" spc="-109">
                <a:solidFill>
                  <a:srgbClr val="000000"/>
                </a:solidFill>
                <a:latin typeface="Poppins"/>
                <a:ea typeface="Poppins"/>
                <a:cs typeface="Poppins"/>
                <a:sym typeface="Poppins"/>
              </a:rPr>
              <a:t>Each airport hall is assigned to a </a:t>
            </a:r>
            <a:r>
              <a:rPr lang="en-US" b="true" sz="2604" spc="-109">
                <a:solidFill>
                  <a:srgbClr val="004CA6"/>
                </a:solidFill>
                <a:latin typeface="Poppins Bold"/>
                <a:ea typeface="Poppins Bold"/>
                <a:cs typeface="Poppins Bold"/>
                <a:sym typeface="Poppins Bold"/>
              </a:rPr>
              <a:t>separate VLAN</a:t>
            </a:r>
            <a:r>
              <a:rPr lang="en-US" sz="2604" spc="-109">
                <a:solidFill>
                  <a:srgbClr val="000000"/>
                </a:solidFill>
                <a:latin typeface="Poppins"/>
                <a:ea typeface="Poppins"/>
                <a:cs typeface="Poppins"/>
                <a:sym typeface="Poppins"/>
              </a:rPr>
              <a:t> and has</a:t>
            </a:r>
            <a:r>
              <a:rPr lang="en-US" sz="2604" spc="-109">
                <a:solidFill>
                  <a:srgbClr val="004CA6"/>
                </a:solidFill>
                <a:latin typeface="Poppins"/>
                <a:ea typeface="Poppins"/>
                <a:cs typeface="Poppins"/>
                <a:sym typeface="Poppins"/>
              </a:rPr>
              <a:t> </a:t>
            </a:r>
            <a:r>
              <a:rPr lang="en-US" b="true" sz="2604" spc="-109">
                <a:solidFill>
                  <a:srgbClr val="004CA6"/>
                </a:solidFill>
                <a:latin typeface="Poppins Bold"/>
                <a:ea typeface="Poppins Bold"/>
                <a:cs typeface="Poppins Bold"/>
                <a:sym typeface="Poppins Bold"/>
              </a:rPr>
              <a:t>its</a:t>
            </a:r>
            <a:r>
              <a:rPr lang="en-US" b="true" sz="2604" spc="-109" strike="noStrike" u="none">
                <a:solidFill>
                  <a:srgbClr val="004CA6"/>
                </a:solidFill>
                <a:latin typeface="Poppins Bold"/>
                <a:ea typeface="Poppins Bold"/>
                <a:cs typeface="Poppins Bold"/>
                <a:sym typeface="Poppins Bold"/>
              </a:rPr>
              <a:t> own dedicated Web Server</a:t>
            </a:r>
            <a:r>
              <a:rPr lang="en-US" sz="2604" spc="-109" strike="noStrike" u="none">
                <a:solidFill>
                  <a:srgbClr val="000000"/>
                </a:solidFill>
                <a:latin typeface="Poppins"/>
                <a:ea typeface="Poppins"/>
                <a:cs typeface="Poppins"/>
                <a:sym typeface="Poppins"/>
              </a:rPr>
              <a:t> that hosts the website and flight information specific to that hall. The Multilayer Switch provides </a:t>
            </a:r>
            <a:r>
              <a:rPr lang="en-US" b="true" sz="2604" spc="-109" strike="noStrike" u="none">
                <a:solidFill>
                  <a:srgbClr val="004CA6"/>
                </a:solidFill>
                <a:latin typeface="Poppins Bold"/>
                <a:ea typeface="Poppins Bold"/>
                <a:cs typeface="Poppins Bold"/>
                <a:sym typeface="Poppins Bold"/>
              </a:rPr>
              <a:t>Inter-VLAN Routing</a:t>
            </a:r>
            <a:r>
              <a:rPr lang="en-US" sz="2604" spc="-109" strike="noStrike" u="none">
                <a:solidFill>
                  <a:srgbClr val="000000"/>
                </a:solidFill>
                <a:latin typeface="Poppins"/>
                <a:ea typeface="Poppins"/>
                <a:cs typeface="Poppins"/>
                <a:sym typeface="Poppins"/>
              </a:rPr>
              <a:t>, allowing users from different Hall VLANs to communicate with and </a:t>
            </a:r>
            <a:r>
              <a:rPr lang="en-US" b="true" sz="2604" spc="-109" strike="noStrike" u="none">
                <a:solidFill>
                  <a:srgbClr val="004CA6"/>
                </a:solidFill>
                <a:latin typeface="Poppins Bold"/>
                <a:ea typeface="Poppins Bold"/>
                <a:cs typeface="Poppins Bold"/>
                <a:sym typeface="Poppins Bold"/>
              </a:rPr>
              <a:t>access the Web Servers</a:t>
            </a:r>
            <a:r>
              <a:rPr lang="en-US" sz="2604" spc="-109" strike="noStrike" u="none">
                <a:solidFill>
                  <a:srgbClr val="000000"/>
                </a:solidFill>
                <a:latin typeface="Poppins"/>
                <a:ea typeface="Poppins"/>
                <a:cs typeface="Poppins"/>
                <a:sym typeface="Poppins"/>
              </a:rPr>
              <a:t> of other halls when needed, while keeping each hall logically separated. This design provides both </a:t>
            </a:r>
            <a:r>
              <a:rPr lang="en-US" b="true" sz="2604" spc="-109" strike="noStrike" u="none">
                <a:solidFill>
                  <a:srgbClr val="004CA6"/>
                </a:solidFill>
                <a:latin typeface="Poppins Bold"/>
                <a:ea typeface="Poppins Bold"/>
                <a:cs typeface="Poppins Bold"/>
                <a:sym typeface="Poppins Bold"/>
              </a:rPr>
              <a:t>network segmentation and seamless communication</a:t>
            </a:r>
            <a:r>
              <a:rPr lang="en-US" sz="2604" spc="-109" strike="noStrike" u="none">
                <a:solidFill>
                  <a:srgbClr val="000000"/>
                </a:solidFill>
                <a:latin typeface="Poppins"/>
                <a:ea typeface="Poppins"/>
                <a:cs typeface="Poppins"/>
                <a:sym typeface="Poppins"/>
              </a:rPr>
              <a:t> between the different halls and their services.</a:t>
            </a:r>
          </a:p>
        </p:txBody>
      </p:sp>
    </p:spTree>
  </p:cSld>
  <p:clrMapOvr>
    <a:masterClrMapping/>
  </p:clrMapOvr>
</p:sld>
</file>

<file path=ppt/slides/slide10.xml><?xml version="1.0" encoding="utf-8"?>
<p:sld xmlns:p="http://schemas.openxmlformats.org/presentationml/2006/main" xmlns:a="http://schemas.openxmlformats.org/drawingml/2006/main" xmlns:r="http://schemas.openxmlformats.org/officeDocument/2006/relationships">
  <p:cSld>
    <p:bg>
      <p:bgPr>
        <a:solidFill>
          <a:srgbClr val="FAFAFA"/>
        </a:solidFill>
      </p:bgPr>
    </p:bg>
    <p:spTree>
      <p:nvGrpSpPr>
        <p:cNvPr id="1" name=""/>
        <p:cNvGrpSpPr/>
        <p:nvPr/>
      </p:nvGrpSpPr>
      <p:grpSpPr>
        <a:xfrm>
          <a:off x="0" y="0"/>
          <a:ext cx="0" cy="0"/>
          <a:chOff x="0" y="0"/>
          <a:chExt cx="0" cy="0"/>
        </a:xfrm>
      </p:grpSpPr>
      <p:grpSp>
        <p:nvGrpSpPr>
          <p:cNvPr name="Group 2" id="2"/>
          <p:cNvGrpSpPr/>
          <p:nvPr/>
        </p:nvGrpSpPr>
        <p:grpSpPr>
          <a:xfrm rot="0">
            <a:off x="1016848" y="810138"/>
            <a:ext cx="16242452" cy="787029"/>
            <a:chOff x="0" y="0"/>
            <a:chExt cx="4277847" cy="207283"/>
          </a:xfrm>
        </p:grpSpPr>
        <p:sp>
          <p:nvSpPr>
            <p:cNvPr name="Freeform 3" id="3"/>
            <p:cNvSpPr/>
            <p:nvPr/>
          </p:nvSpPr>
          <p:spPr>
            <a:xfrm flipH="false" flipV="false" rot="0">
              <a:off x="0" y="0"/>
              <a:ext cx="4277847" cy="207283"/>
            </a:xfrm>
            <a:custGeom>
              <a:avLst/>
              <a:gdLst/>
              <a:ahLst/>
              <a:cxnLst/>
              <a:rect r="r" b="b" t="t" l="l"/>
              <a:pathLst>
                <a:path h="207283" w="4277847">
                  <a:moveTo>
                    <a:pt x="24309" y="0"/>
                  </a:moveTo>
                  <a:lnTo>
                    <a:pt x="4253538" y="0"/>
                  </a:lnTo>
                  <a:cubicBezTo>
                    <a:pt x="4259986" y="0"/>
                    <a:pt x="4266169" y="2561"/>
                    <a:pt x="4270727" y="7120"/>
                  </a:cubicBezTo>
                  <a:cubicBezTo>
                    <a:pt x="4275286" y="11679"/>
                    <a:pt x="4277847" y="17862"/>
                    <a:pt x="4277847" y="24309"/>
                  </a:cubicBezTo>
                  <a:lnTo>
                    <a:pt x="4277847" y="182974"/>
                  </a:lnTo>
                  <a:cubicBezTo>
                    <a:pt x="4277847" y="196400"/>
                    <a:pt x="4266964" y="207283"/>
                    <a:pt x="4253538" y="207283"/>
                  </a:cubicBezTo>
                  <a:lnTo>
                    <a:pt x="24309" y="207283"/>
                  </a:lnTo>
                  <a:cubicBezTo>
                    <a:pt x="17862" y="207283"/>
                    <a:pt x="11679" y="204722"/>
                    <a:pt x="7120" y="200163"/>
                  </a:cubicBezTo>
                  <a:cubicBezTo>
                    <a:pt x="2561" y="195605"/>
                    <a:pt x="0" y="189422"/>
                    <a:pt x="0" y="182974"/>
                  </a:cubicBezTo>
                  <a:lnTo>
                    <a:pt x="0" y="24309"/>
                  </a:lnTo>
                  <a:cubicBezTo>
                    <a:pt x="0" y="10884"/>
                    <a:pt x="10884" y="0"/>
                    <a:pt x="24309" y="0"/>
                  </a:cubicBezTo>
                  <a:close/>
                </a:path>
              </a:pathLst>
            </a:custGeom>
            <a:solidFill>
              <a:srgbClr val="084DA3"/>
            </a:solidFill>
          </p:spPr>
        </p:sp>
        <p:sp>
          <p:nvSpPr>
            <p:cNvPr name="TextBox 4" id="4"/>
            <p:cNvSpPr txBox="true"/>
            <p:nvPr/>
          </p:nvSpPr>
          <p:spPr>
            <a:xfrm>
              <a:off x="0" y="-47625"/>
              <a:ext cx="4277847" cy="254908"/>
            </a:xfrm>
            <a:prstGeom prst="rect">
              <a:avLst/>
            </a:prstGeom>
          </p:spPr>
          <p:txBody>
            <a:bodyPr anchor="ctr" rtlCol="false" tIns="50800" lIns="50800" bIns="50800" rIns="50800"/>
            <a:lstStyle/>
            <a:p>
              <a:pPr algn="ctr">
                <a:lnSpc>
                  <a:spcPts val="3079"/>
                </a:lnSpc>
              </a:pPr>
            </a:p>
          </p:txBody>
        </p:sp>
      </p:grpSp>
      <p:grpSp>
        <p:nvGrpSpPr>
          <p:cNvPr name="Group 5" id="5"/>
          <p:cNvGrpSpPr/>
          <p:nvPr/>
        </p:nvGrpSpPr>
        <p:grpSpPr>
          <a:xfrm rot="0">
            <a:off x="14453926" y="925677"/>
            <a:ext cx="2673290" cy="555951"/>
            <a:chOff x="0" y="0"/>
            <a:chExt cx="704076" cy="146423"/>
          </a:xfrm>
        </p:grpSpPr>
        <p:sp>
          <p:nvSpPr>
            <p:cNvPr name="Freeform 6" id="6"/>
            <p:cNvSpPr/>
            <p:nvPr/>
          </p:nvSpPr>
          <p:spPr>
            <a:xfrm flipH="false" flipV="false" rot="0">
              <a:off x="0" y="0"/>
              <a:ext cx="704076" cy="146423"/>
            </a:xfrm>
            <a:custGeom>
              <a:avLst/>
              <a:gdLst/>
              <a:ahLst/>
              <a:cxnLst/>
              <a:rect r="r" b="b" t="t" l="l"/>
              <a:pathLst>
                <a:path h="146423" w="704076">
                  <a:moveTo>
                    <a:pt x="73212" y="0"/>
                  </a:moveTo>
                  <a:lnTo>
                    <a:pt x="630865" y="0"/>
                  </a:lnTo>
                  <a:cubicBezTo>
                    <a:pt x="650282" y="0"/>
                    <a:pt x="668903" y="7713"/>
                    <a:pt x="682633" y="21443"/>
                  </a:cubicBezTo>
                  <a:cubicBezTo>
                    <a:pt x="696363" y="35173"/>
                    <a:pt x="704076" y="53795"/>
                    <a:pt x="704076" y="73212"/>
                  </a:cubicBezTo>
                  <a:lnTo>
                    <a:pt x="704076" y="73212"/>
                  </a:lnTo>
                  <a:cubicBezTo>
                    <a:pt x="704076" y="113645"/>
                    <a:pt x="671298" y="146423"/>
                    <a:pt x="630865" y="146423"/>
                  </a:cubicBezTo>
                  <a:lnTo>
                    <a:pt x="73212" y="146423"/>
                  </a:lnTo>
                  <a:cubicBezTo>
                    <a:pt x="32778" y="146423"/>
                    <a:pt x="0" y="113645"/>
                    <a:pt x="0" y="73212"/>
                  </a:cubicBezTo>
                  <a:lnTo>
                    <a:pt x="0" y="73212"/>
                  </a:lnTo>
                  <a:cubicBezTo>
                    <a:pt x="0" y="32778"/>
                    <a:pt x="32778" y="0"/>
                    <a:pt x="73212" y="0"/>
                  </a:cubicBezTo>
                  <a:close/>
                </a:path>
              </a:pathLst>
            </a:custGeom>
            <a:solidFill>
              <a:srgbClr val="FAFAFA"/>
            </a:solidFill>
          </p:spPr>
        </p:sp>
        <p:sp>
          <p:nvSpPr>
            <p:cNvPr name="TextBox 7" id="7"/>
            <p:cNvSpPr txBox="true"/>
            <p:nvPr/>
          </p:nvSpPr>
          <p:spPr>
            <a:xfrm>
              <a:off x="0" y="-47625"/>
              <a:ext cx="704076" cy="194048"/>
            </a:xfrm>
            <a:prstGeom prst="rect">
              <a:avLst/>
            </a:prstGeom>
          </p:spPr>
          <p:txBody>
            <a:bodyPr anchor="ctr" rtlCol="false" tIns="50800" lIns="50800" bIns="50800" rIns="50800"/>
            <a:lstStyle/>
            <a:p>
              <a:pPr algn="ctr">
                <a:lnSpc>
                  <a:spcPts val="3079"/>
                </a:lnSpc>
              </a:pPr>
            </a:p>
          </p:txBody>
        </p:sp>
      </p:grpSp>
      <p:sp>
        <p:nvSpPr>
          <p:cNvPr name="Freeform 8" id="8"/>
          <p:cNvSpPr/>
          <p:nvPr/>
        </p:nvSpPr>
        <p:spPr>
          <a:xfrm flipH="false" flipV="false" rot="0">
            <a:off x="16654546" y="1056159"/>
            <a:ext cx="294987" cy="294987"/>
          </a:xfrm>
          <a:custGeom>
            <a:avLst/>
            <a:gdLst/>
            <a:ahLst/>
            <a:cxnLst/>
            <a:rect r="r" b="b" t="t" l="l"/>
            <a:pathLst>
              <a:path h="294987" w="294987">
                <a:moveTo>
                  <a:pt x="0" y="0"/>
                </a:moveTo>
                <a:lnTo>
                  <a:pt x="294987" y="0"/>
                </a:lnTo>
                <a:lnTo>
                  <a:pt x="294987" y="294987"/>
                </a:lnTo>
                <a:lnTo>
                  <a:pt x="0" y="294987"/>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9" id="9"/>
          <p:cNvSpPr txBox="true"/>
          <p:nvPr/>
        </p:nvSpPr>
        <p:spPr>
          <a:xfrm rot="0">
            <a:off x="14789222" y="1012200"/>
            <a:ext cx="1674231" cy="358775"/>
          </a:xfrm>
          <a:prstGeom prst="rect">
            <a:avLst/>
          </a:prstGeom>
        </p:spPr>
        <p:txBody>
          <a:bodyPr anchor="t" rtlCol="false" tIns="0" lIns="0" bIns="0" rIns="0">
            <a:spAutoFit/>
          </a:bodyPr>
          <a:lstStyle/>
          <a:p>
            <a:pPr algn="l">
              <a:lnSpc>
                <a:spcPts val="2800"/>
              </a:lnSpc>
              <a:spcBef>
                <a:spcPct val="0"/>
              </a:spcBef>
            </a:pPr>
            <a:r>
              <a:rPr lang="en-US" sz="2000" i="true">
                <a:solidFill>
                  <a:srgbClr val="000000"/>
                </a:solidFill>
                <a:latin typeface="Raleway Italics"/>
                <a:ea typeface="Raleway Italics"/>
                <a:cs typeface="Raleway Italics"/>
                <a:sym typeface="Raleway Italics"/>
              </a:rPr>
              <a:t>Search. . .</a:t>
            </a:r>
          </a:p>
        </p:txBody>
      </p:sp>
      <p:sp>
        <p:nvSpPr>
          <p:cNvPr name="TextBox 10" id="10"/>
          <p:cNvSpPr txBox="true"/>
          <p:nvPr/>
        </p:nvSpPr>
        <p:spPr>
          <a:xfrm rot="0">
            <a:off x="5821584" y="988705"/>
            <a:ext cx="1472568" cy="382270"/>
          </a:xfrm>
          <a:prstGeom prst="rect">
            <a:avLst/>
          </a:prstGeom>
        </p:spPr>
        <p:txBody>
          <a:bodyPr anchor="t" rtlCol="false" tIns="0" lIns="0" bIns="0" rIns="0">
            <a:spAutoFit/>
          </a:bodyPr>
          <a:lstStyle/>
          <a:p>
            <a:pPr algn="ctr">
              <a:lnSpc>
                <a:spcPts val="3079"/>
              </a:lnSpc>
              <a:spcBef>
                <a:spcPct val="0"/>
              </a:spcBef>
            </a:pPr>
            <a:r>
              <a:rPr lang="en-US" b="true" sz="2199">
                <a:solidFill>
                  <a:srgbClr val="FAFAFA"/>
                </a:solidFill>
                <a:latin typeface="Raleway Bold"/>
                <a:ea typeface="Raleway Bold"/>
                <a:cs typeface="Raleway Bold"/>
                <a:sym typeface="Raleway Bold"/>
              </a:rPr>
              <a:t>Home</a:t>
            </a:r>
          </a:p>
        </p:txBody>
      </p:sp>
      <p:sp>
        <p:nvSpPr>
          <p:cNvPr name="TextBox 11" id="11"/>
          <p:cNvSpPr txBox="true"/>
          <p:nvPr/>
        </p:nvSpPr>
        <p:spPr>
          <a:xfrm rot="0">
            <a:off x="1340270" y="859002"/>
            <a:ext cx="2098849" cy="516272"/>
          </a:xfrm>
          <a:prstGeom prst="rect">
            <a:avLst/>
          </a:prstGeom>
        </p:spPr>
        <p:txBody>
          <a:bodyPr anchor="t" rtlCol="false" tIns="0" lIns="0" bIns="0" rIns="0">
            <a:spAutoFit/>
          </a:bodyPr>
          <a:lstStyle/>
          <a:p>
            <a:pPr algn="l">
              <a:lnSpc>
                <a:spcPts val="4217"/>
              </a:lnSpc>
              <a:spcBef>
                <a:spcPct val="0"/>
              </a:spcBef>
            </a:pPr>
            <a:r>
              <a:rPr lang="en-US" b="true" sz="3012">
                <a:solidFill>
                  <a:srgbClr val="FAFAFA"/>
                </a:solidFill>
                <a:latin typeface="Raleway Bold"/>
                <a:ea typeface="Raleway Bold"/>
                <a:cs typeface="Raleway Bold"/>
                <a:sym typeface="Raleway Bold"/>
              </a:rPr>
              <a:t>AeroNova</a:t>
            </a:r>
          </a:p>
        </p:txBody>
      </p:sp>
      <p:sp>
        <p:nvSpPr>
          <p:cNvPr name="TextBox 12" id="12"/>
          <p:cNvSpPr txBox="true"/>
          <p:nvPr/>
        </p:nvSpPr>
        <p:spPr>
          <a:xfrm rot="0">
            <a:off x="7602942" y="988705"/>
            <a:ext cx="1771891" cy="382270"/>
          </a:xfrm>
          <a:prstGeom prst="rect">
            <a:avLst/>
          </a:prstGeom>
        </p:spPr>
        <p:txBody>
          <a:bodyPr anchor="t" rtlCol="false" tIns="0" lIns="0" bIns="0" rIns="0">
            <a:spAutoFit/>
          </a:bodyPr>
          <a:lstStyle/>
          <a:p>
            <a:pPr algn="ctr">
              <a:lnSpc>
                <a:spcPts val="3079"/>
              </a:lnSpc>
              <a:spcBef>
                <a:spcPct val="0"/>
              </a:spcBef>
            </a:pPr>
            <a:r>
              <a:rPr lang="en-US" sz="2199">
                <a:solidFill>
                  <a:srgbClr val="FAFAFA"/>
                </a:solidFill>
                <a:latin typeface="Raleway"/>
                <a:ea typeface="Raleway"/>
                <a:cs typeface="Raleway"/>
                <a:sym typeface="Raleway"/>
              </a:rPr>
              <a:t>About Us</a:t>
            </a:r>
          </a:p>
        </p:txBody>
      </p:sp>
      <p:sp>
        <p:nvSpPr>
          <p:cNvPr name="TextBox 13" id="13"/>
          <p:cNvSpPr txBox="true"/>
          <p:nvPr/>
        </p:nvSpPr>
        <p:spPr>
          <a:xfrm rot="0">
            <a:off x="11400952" y="988705"/>
            <a:ext cx="1674231" cy="382270"/>
          </a:xfrm>
          <a:prstGeom prst="rect">
            <a:avLst/>
          </a:prstGeom>
        </p:spPr>
        <p:txBody>
          <a:bodyPr anchor="t" rtlCol="false" tIns="0" lIns="0" bIns="0" rIns="0">
            <a:spAutoFit/>
          </a:bodyPr>
          <a:lstStyle/>
          <a:p>
            <a:pPr algn="ctr">
              <a:lnSpc>
                <a:spcPts val="3079"/>
              </a:lnSpc>
              <a:spcBef>
                <a:spcPct val="0"/>
              </a:spcBef>
            </a:pPr>
            <a:r>
              <a:rPr lang="en-US" sz="2199">
                <a:solidFill>
                  <a:srgbClr val="FAFAFA"/>
                </a:solidFill>
                <a:latin typeface="Raleway"/>
                <a:ea typeface="Raleway"/>
                <a:cs typeface="Raleway"/>
                <a:sym typeface="Raleway"/>
              </a:rPr>
              <a:t>Contact</a:t>
            </a:r>
          </a:p>
        </p:txBody>
      </p:sp>
      <p:sp>
        <p:nvSpPr>
          <p:cNvPr name="TextBox 14" id="14"/>
          <p:cNvSpPr txBox="true"/>
          <p:nvPr/>
        </p:nvSpPr>
        <p:spPr>
          <a:xfrm rot="0">
            <a:off x="9683624" y="988705"/>
            <a:ext cx="1408538" cy="382270"/>
          </a:xfrm>
          <a:prstGeom prst="rect">
            <a:avLst/>
          </a:prstGeom>
        </p:spPr>
        <p:txBody>
          <a:bodyPr anchor="t" rtlCol="false" tIns="0" lIns="0" bIns="0" rIns="0">
            <a:spAutoFit/>
          </a:bodyPr>
          <a:lstStyle/>
          <a:p>
            <a:pPr algn="ctr">
              <a:lnSpc>
                <a:spcPts val="3079"/>
              </a:lnSpc>
              <a:spcBef>
                <a:spcPct val="0"/>
              </a:spcBef>
            </a:pPr>
            <a:r>
              <a:rPr lang="en-US" sz="2199">
                <a:solidFill>
                  <a:srgbClr val="FAFAFA"/>
                </a:solidFill>
                <a:latin typeface="Raleway"/>
                <a:ea typeface="Raleway"/>
                <a:cs typeface="Raleway"/>
                <a:sym typeface="Raleway"/>
              </a:rPr>
              <a:t>Service</a:t>
            </a:r>
          </a:p>
        </p:txBody>
      </p:sp>
      <p:sp>
        <p:nvSpPr>
          <p:cNvPr name="TextBox 15" id="15"/>
          <p:cNvSpPr txBox="true"/>
          <p:nvPr/>
        </p:nvSpPr>
        <p:spPr>
          <a:xfrm rot="0">
            <a:off x="1028700" y="6803155"/>
            <a:ext cx="5157254" cy="606426"/>
          </a:xfrm>
          <a:prstGeom prst="rect">
            <a:avLst/>
          </a:prstGeom>
        </p:spPr>
        <p:txBody>
          <a:bodyPr anchor="t" rtlCol="false" tIns="0" lIns="0" bIns="0" rIns="0">
            <a:spAutoFit/>
          </a:bodyPr>
          <a:lstStyle/>
          <a:p>
            <a:pPr algn="l">
              <a:lnSpc>
                <a:spcPts val="4899"/>
              </a:lnSpc>
              <a:spcBef>
                <a:spcPct val="0"/>
              </a:spcBef>
            </a:pPr>
            <a:r>
              <a:rPr lang="en-US" b="true" sz="3499" spc="-146">
                <a:solidFill>
                  <a:srgbClr val="000000"/>
                </a:solidFill>
                <a:latin typeface="Raleway Bold"/>
                <a:ea typeface="Raleway Bold"/>
                <a:cs typeface="Raleway Bold"/>
                <a:sym typeface="Raleway Bold"/>
              </a:rPr>
              <a:t>Tr</a:t>
            </a:r>
            <a:r>
              <a:rPr lang="en-US" b="true" sz="3499" spc="-146">
                <a:solidFill>
                  <a:srgbClr val="000000"/>
                </a:solidFill>
                <a:latin typeface="Raleway Bold"/>
                <a:ea typeface="Raleway Bold"/>
                <a:cs typeface="Raleway Bold"/>
                <a:sym typeface="Raleway Bold"/>
              </a:rPr>
              <a:t>avel With Confidence</a:t>
            </a:r>
          </a:p>
        </p:txBody>
      </p:sp>
      <p:sp>
        <p:nvSpPr>
          <p:cNvPr name="TextBox 16" id="16"/>
          <p:cNvSpPr txBox="true"/>
          <p:nvPr/>
        </p:nvSpPr>
        <p:spPr>
          <a:xfrm rot="0">
            <a:off x="1028700" y="7797471"/>
            <a:ext cx="5766792" cy="1425575"/>
          </a:xfrm>
          <a:prstGeom prst="rect">
            <a:avLst/>
          </a:prstGeom>
        </p:spPr>
        <p:txBody>
          <a:bodyPr anchor="t" rtlCol="false" tIns="0" lIns="0" bIns="0" rIns="0">
            <a:spAutoFit/>
          </a:bodyPr>
          <a:lstStyle/>
          <a:p>
            <a:pPr algn="l">
              <a:lnSpc>
                <a:spcPts val="2800"/>
              </a:lnSpc>
            </a:pPr>
            <a:r>
              <a:rPr lang="en-US" sz="2000" spc="-84">
                <a:solidFill>
                  <a:srgbClr val="000000"/>
                </a:solidFill>
                <a:latin typeface="Poppins"/>
                <a:ea typeface="Poppins"/>
                <a:cs typeface="Poppins"/>
                <a:sym typeface="Poppins"/>
              </a:rPr>
              <a:t>An air</a:t>
            </a:r>
            <a:r>
              <a:rPr lang="en-US" sz="2000" spc="-84">
                <a:solidFill>
                  <a:srgbClr val="000000"/>
                </a:solidFill>
                <a:latin typeface="Poppins"/>
                <a:ea typeface="Poppins"/>
                <a:cs typeface="Poppins"/>
                <a:sym typeface="Poppins"/>
              </a:rPr>
              <a:t>port connects travelers with destinations through organized services, convenient facilities, clear information, and a smooth journey from arrival to departure.</a:t>
            </a:r>
          </a:p>
        </p:txBody>
      </p:sp>
      <p:sp>
        <p:nvSpPr>
          <p:cNvPr name="TextBox 17" id="17"/>
          <p:cNvSpPr txBox="true"/>
          <p:nvPr/>
        </p:nvSpPr>
        <p:spPr>
          <a:xfrm rot="0">
            <a:off x="1107647" y="2272020"/>
            <a:ext cx="15355806" cy="3716060"/>
          </a:xfrm>
          <a:prstGeom prst="rect">
            <a:avLst/>
          </a:prstGeom>
        </p:spPr>
        <p:txBody>
          <a:bodyPr anchor="t" rtlCol="false" tIns="0" lIns="0" bIns="0" rIns="0">
            <a:spAutoFit/>
          </a:bodyPr>
          <a:lstStyle/>
          <a:p>
            <a:pPr algn="l">
              <a:lnSpc>
                <a:spcPts val="14402"/>
              </a:lnSpc>
            </a:pPr>
            <a:r>
              <a:rPr lang="en-US" b="true" sz="13587">
                <a:solidFill>
                  <a:srgbClr val="000000"/>
                </a:solidFill>
                <a:latin typeface="Raleway Heavy"/>
                <a:ea typeface="Raleway Heavy"/>
                <a:cs typeface="Raleway Heavy"/>
                <a:sym typeface="Raleway Heavy"/>
              </a:rPr>
              <a:t>EVERY JOURNEY STARTS</a:t>
            </a:r>
          </a:p>
        </p:txBody>
      </p:sp>
      <p:sp>
        <p:nvSpPr>
          <p:cNvPr name="TextBox 18" id="18"/>
          <p:cNvSpPr txBox="true"/>
          <p:nvPr/>
        </p:nvSpPr>
        <p:spPr>
          <a:xfrm rot="0">
            <a:off x="7950582" y="4090218"/>
            <a:ext cx="7443984" cy="1897862"/>
          </a:xfrm>
          <a:prstGeom prst="rect">
            <a:avLst/>
          </a:prstGeom>
        </p:spPr>
        <p:txBody>
          <a:bodyPr anchor="t" rtlCol="false" tIns="0" lIns="0" bIns="0" rIns="0">
            <a:spAutoFit/>
          </a:bodyPr>
          <a:lstStyle/>
          <a:p>
            <a:pPr algn="l">
              <a:lnSpc>
                <a:spcPts val="14402"/>
              </a:lnSpc>
            </a:pPr>
            <a:r>
              <a:rPr lang="en-US" b="true" sz="13587">
                <a:solidFill>
                  <a:srgbClr val="084DA3"/>
                </a:solidFill>
                <a:latin typeface="Raleway Heavy"/>
                <a:ea typeface="Raleway Heavy"/>
                <a:cs typeface="Raleway Heavy"/>
                <a:sym typeface="Raleway Heavy"/>
              </a:rPr>
              <a:t>HERE</a:t>
            </a:r>
          </a:p>
        </p:txBody>
      </p:sp>
      <p:sp>
        <p:nvSpPr>
          <p:cNvPr name="Freeform 19" id="19"/>
          <p:cNvSpPr/>
          <p:nvPr/>
        </p:nvSpPr>
        <p:spPr>
          <a:xfrm flipH="false" flipV="false" rot="0">
            <a:off x="6338626" y="4648024"/>
            <a:ext cx="16230600" cy="7060311"/>
          </a:xfrm>
          <a:custGeom>
            <a:avLst/>
            <a:gdLst/>
            <a:ahLst/>
            <a:cxnLst/>
            <a:rect r="r" b="b" t="t" l="l"/>
            <a:pathLst>
              <a:path h="7060311" w="16230600">
                <a:moveTo>
                  <a:pt x="0" y="0"/>
                </a:moveTo>
                <a:lnTo>
                  <a:pt x="16230600" y="0"/>
                </a:lnTo>
                <a:lnTo>
                  <a:pt x="16230600" y="7060311"/>
                </a:lnTo>
                <a:lnTo>
                  <a:pt x="0" y="7060311"/>
                </a:lnTo>
                <a:lnTo>
                  <a:pt x="0" y="0"/>
                </a:lnTo>
                <a:close/>
              </a:path>
            </a:pathLst>
          </a:custGeom>
          <a:blipFill>
            <a:blip r:embed="rId4"/>
            <a:stretch>
              <a:fillRect l="0" t="0" r="0" b="0"/>
            </a:stretch>
          </a:blipFill>
        </p:spPr>
      </p:sp>
      <p:grpSp>
        <p:nvGrpSpPr>
          <p:cNvPr name="Group 20" id="20"/>
          <p:cNvGrpSpPr/>
          <p:nvPr/>
        </p:nvGrpSpPr>
        <p:grpSpPr>
          <a:xfrm rot="0">
            <a:off x="12972676" y="8381281"/>
            <a:ext cx="4286624" cy="841765"/>
            <a:chOff x="0" y="0"/>
            <a:chExt cx="1128987" cy="221699"/>
          </a:xfrm>
        </p:grpSpPr>
        <p:sp>
          <p:nvSpPr>
            <p:cNvPr name="Freeform 21" id="21"/>
            <p:cNvSpPr/>
            <p:nvPr/>
          </p:nvSpPr>
          <p:spPr>
            <a:xfrm flipH="false" flipV="false" rot="0">
              <a:off x="0" y="0"/>
              <a:ext cx="1128987" cy="221699"/>
            </a:xfrm>
            <a:custGeom>
              <a:avLst/>
              <a:gdLst/>
              <a:ahLst/>
              <a:cxnLst/>
              <a:rect r="r" b="b" t="t" l="l"/>
              <a:pathLst>
                <a:path h="221699" w="1128987">
                  <a:moveTo>
                    <a:pt x="92109" y="0"/>
                  </a:moveTo>
                  <a:lnTo>
                    <a:pt x="1036878" y="0"/>
                  </a:lnTo>
                  <a:cubicBezTo>
                    <a:pt x="1087749" y="0"/>
                    <a:pt x="1128987" y="41239"/>
                    <a:pt x="1128987" y="92109"/>
                  </a:cubicBezTo>
                  <a:lnTo>
                    <a:pt x="1128987" y="129590"/>
                  </a:lnTo>
                  <a:cubicBezTo>
                    <a:pt x="1128987" y="180461"/>
                    <a:pt x="1087749" y="221699"/>
                    <a:pt x="1036878" y="221699"/>
                  </a:cubicBezTo>
                  <a:lnTo>
                    <a:pt x="92109" y="221699"/>
                  </a:lnTo>
                  <a:cubicBezTo>
                    <a:pt x="41239" y="221699"/>
                    <a:pt x="0" y="180461"/>
                    <a:pt x="0" y="129590"/>
                  </a:cubicBezTo>
                  <a:lnTo>
                    <a:pt x="0" y="92109"/>
                  </a:lnTo>
                  <a:cubicBezTo>
                    <a:pt x="0" y="41239"/>
                    <a:pt x="41239" y="0"/>
                    <a:pt x="92109" y="0"/>
                  </a:cubicBezTo>
                  <a:close/>
                </a:path>
              </a:pathLst>
            </a:custGeom>
            <a:solidFill>
              <a:srgbClr val="084DA3"/>
            </a:solidFill>
          </p:spPr>
        </p:sp>
        <p:sp>
          <p:nvSpPr>
            <p:cNvPr name="TextBox 22" id="22"/>
            <p:cNvSpPr txBox="true"/>
            <p:nvPr/>
          </p:nvSpPr>
          <p:spPr>
            <a:xfrm>
              <a:off x="0" y="-38100"/>
              <a:ext cx="1128987" cy="259799"/>
            </a:xfrm>
            <a:prstGeom prst="rect">
              <a:avLst/>
            </a:prstGeom>
          </p:spPr>
          <p:txBody>
            <a:bodyPr anchor="ctr" rtlCol="false" tIns="50800" lIns="50800" bIns="50800" rIns="50800"/>
            <a:lstStyle/>
            <a:p>
              <a:pPr algn="ctr">
                <a:lnSpc>
                  <a:spcPts val="3499"/>
                </a:lnSpc>
              </a:pPr>
            </a:p>
          </p:txBody>
        </p:sp>
      </p:grpSp>
      <p:sp>
        <p:nvSpPr>
          <p:cNvPr name="TextBox 23" id="23"/>
          <p:cNvSpPr txBox="true"/>
          <p:nvPr/>
        </p:nvSpPr>
        <p:spPr>
          <a:xfrm rot="0">
            <a:off x="13166051" y="8557688"/>
            <a:ext cx="3899873" cy="431800"/>
          </a:xfrm>
          <a:prstGeom prst="rect">
            <a:avLst/>
          </a:prstGeom>
        </p:spPr>
        <p:txBody>
          <a:bodyPr anchor="t" rtlCol="false" tIns="0" lIns="0" bIns="0" rIns="0">
            <a:spAutoFit/>
          </a:bodyPr>
          <a:lstStyle/>
          <a:p>
            <a:pPr algn="ctr">
              <a:lnSpc>
                <a:spcPts val="3499"/>
              </a:lnSpc>
              <a:spcBef>
                <a:spcPct val="0"/>
              </a:spcBef>
            </a:pPr>
            <a:r>
              <a:rPr lang="en-US" b="true" sz="2499" spc="-104">
                <a:solidFill>
                  <a:srgbClr val="FAFAFA"/>
                </a:solidFill>
                <a:latin typeface="Raleway Bold"/>
                <a:ea typeface="Raleway Bold"/>
                <a:cs typeface="Raleway Bold"/>
                <a:sym typeface="Raleway Bold"/>
              </a:rPr>
              <a:t>END OF PRESENTATION</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DAHWDgv1kCI</dc:identifier>
  <dcterms:modified xsi:type="dcterms:W3CDTF">2011-08-01T06:04:30Z</dcterms:modified>
  <cp:revision>1</cp:revision>
  <dc:title>Blue White Modern Airport Presentation</dc:title>
</cp:coreProperties>
</file>